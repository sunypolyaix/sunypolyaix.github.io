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Three-way partnership title slide. SUNY Poly is represented by the Wildcat; Buea and Yaoundé show their official crests. Frame the dual purpose of research and the two anchor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workshop is a project of the AIX Center, co-directed by Steven Schneider and William Thistleton. The center runs three programs — a Lab (foundation models), an Accelerator (applications), and a Studio (user experience) — and this capacity-building work with Buea and Yaoundé sits within its 'AI for All' international thread. Co-director photos are placeholders pending headshots; the Lab/Accelerator/Studio panel can be swapped for the center's own graphic.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reasons we do research; the second — building the researcher's judgment — is what AI can quietly undermine.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rule for the whole segment, with the litmus test to repeat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Steps 1-3 are about thinking; 4-5 about setting up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turning an area into a question. Demo live; show the project instructions that make Claude ask rather than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of the Step 1 prompt using a real Buea student's interest (Manga — web scalability &amp; real-time systems). Run it live: paste the prompt, then let Claude ask one question at a time. Payoff: Manga reaches a specific, answerable question herself — Claude only asked. Buea is English-only. Swap in any participant's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Bilingual worked example for the Yaoundé track (Brice, Université de Yaoundé I / NASEY — RIS–RIN interconnection). Same Socratic prompt; Claude only asks, Brice forms the question. Yaoundé materials are English + French — deliver in either language. Swap in any Yaoundé participant's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Orienting is done in Claude Projects, not NotebookLM: build a real source set inside one Project and interrogate it. Five moves applied to Manga's question. Stress that discovery happens in real databases — Claude is the workspace and reading partner, not a search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1: one Project per thesis; the instructions ground every chat and set Claude's behaviour (no fabricated citations). Move 2: Claude turns the question into a search vocabulary — concepts, synonyms, query strings, venues — which the student then uses in real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3 is the student's job and the friction that teaches — real discovery and relevance judgments happen in real databases. Move 4: once the real PDFs are uploaded as Project knowledge, Claude's summaries are grounded in actual sources, so it can summarize and rank them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5: Claude builds a comparison and surfaces contradictions and gaps; the student keeps a living log in the Project. Guardrails are the heart of the segment: Claude can fabricate citations, so trust only verified/uploaded sources; relevance and gap judgments stay with the student; verify every claim. Tie back to the litmus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française du parcours pour la filière de Yaoundé, sur la question de Brice (interconnexion RIS–RIN). Cinq étapes dans un seul Projet Claude. La découverte des sources se fait dans de vraies bases ; Claude est l'espace de travail et le partenaire de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française — Étapes 1 et 2. Un Projet par thèse ; les consignes ancrent chaque échange. Claude transforme la question en vocabulaire de recherche, que l'étudiant utilise ensuite dans de vraies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française — Étapes 3 et 4. L'étape 3 reste le travail de l'étudiant (découverte et pertinence dans de vraies bases). À l'étape 4, les vrais PDF téléversés ancrent les résumés de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française — Étape 5 et garde-fous. Claude compare et fait ressortir les manques ; l'étudiant tient un journal. Garde-fous : Claude peut fabriquer des références — ne se fier qu'aux sources vérifiées ; la pertinence et la lacune relèvent de l'étudiant ; tout vérifier.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AI surfaces tensions; the student decides which gap matters. The reasoning is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match ambition to reality — data, software, time, compute. Make it ask about constraints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research hygiene. The Project holds context across the whole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one step live on Gisèle's or Brice's real project. For the Buea cohort, swap in a CS/data-science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take-aways and the litmus test — the through-line of the whole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C7C"/>
        </a:solidFill>
      </p:bgPr>
    </p:bg>
    <p:spTree>
      <p:nvGrpSpPr>
        <p:cNvPr id="1" name=""/>
        <p:cNvGrpSpPr/>
        <p:nvPr/>
      </p:nvGrpSpPr>
      <p:grpSpPr>
        <a:xfrm>
          <a:off x="0" y="0"/>
          <a:ext cx="0" cy="0"/>
          <a:chOff x="0" y="0"/>
          <a:chExt cx="0" cy="0"/>
        </a:xfrm>
      </p:grpSpPr>
      <p:pic>
        <p:nvPicPr>
          <p:cNvPr id="2" name="Image 0" descr="/home/claude/assets/sunypoly_white.png">    </p:cNvPr>
          <p:cNvPicPr>
            <a:picLocks noChangeAspect="1"/>
          </p:cNvPicPr>
          <p:nvPr/>
        </p:nvPicPr>
        <p:blipFill>
          <a:blip r:embed="rId1"/>
          <a:stretch>
            <a:fillRect/>
          </a:stretch>
        </p:blipFill>
        <p:spPr>
          <a:xfrm>
            <a:off x="457200" y="329184"/>
            <a:ext cx="914400" cy="566014"/>
          </a:xfrm>
          <a:prstGeom prst="rect">
            <a:avLst/>
          </a:prstGeom>
        </p:spPr>
      </p:pic>
      <p:sp>
        <p:nvSpPr>
          <p:cNvPr id="3" name="Text 0"/>
          <p:cNvSpPr/>
          <p:nvPr/>
        </p:nvSpPr>
        <p:spPr>
          <a:xfrm>
            <a:off x="457200" y="914400"/>
            <a:ext cx="8229600" cy="320040"/>
          </a:xfrm>
          <a:prstGeom prst="rect">
            <a:avLst/>
          </a:prstGeom>
          <a:noFill/>
          <a:ln/>
        </p:spPr>
        <p:txBody>
          <a:bodyPr wrap="square" lIns="0" tIns="0" rIns="0" bIns="0" rtlCol="0" anchor="ctr"/>
          <a:lstStyle/>
          <a:p>
            <a:pPr indent="0" marL="0">
              <a:buNone/>
            </a:pPr>
            <a:r>
              <a:rPr lang="en-US" sz="1200" b="1" spc="200" kern="0" dirty="0">
                <a:solidFill>
                  <a:srgbClr val="EEA901"/>
                </a:solidFill>
                <a:latin typeface="Arial" pitchFamily="34" charset="0"/>
                <a:ea typeface="Arial" pitchFamily="34" charset="-122"/>
                <a:cs typeface="Arial" pitchFamily="34" charset="-120"/>
              </a:rPr>
              <a:t>AI FOR RESEARCH  ·  L'IA AU SERVICE DE LA RECHERCHE</a:t>
            </a:r>
            <a:endParaRPr lang="en-US" sz="1200" dirty="0"/>
          </a:p>
        </p:txBody>
      </p:sp>
      <p:sp>
        <p:nvSpPr>
          <p:cNvPr id="4" name="Text 1"/>
          <p:cNvSpPr/>
          <p:nvPr/>
        </p:nvSpPr>
        <p:spPr>
          <a:xfrm>
            <a:off x="457200" y="1298448"/>
            <a:ext cx="8229600" cy="65836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First Steps in a Research Project</a:t>
            </a:r>
            <a:endParaRPr lang="en-US" sz="3400" dirty="0"/>
          </a:p>
        </p:txBody>
      </p:sp>
      <p:sp>
        <p:nvSpPr>
          <p:cNvPr id="5" name="Text 2"/>
          <p:cNvSpPr/>
          <p:nvPr/>
        </p:nvSpPr>
        <p:spPr>
          <a:xfrm>
            <a:off x="457200" y="1975104"/>
            <a:ext cx="8229600" cy="384048"/>
          </a:xfrm>
          <a:prstGeom prst="rect">
            <a:avLst/>
          </a:prstGeom>
          <a:noFill/>
          <a:ln/>
        </p:spPr>
        <p:txBody>
          <a:bodyPr wrap="square" lIns="0" tIns="0" rIns="0" bIns="0" rtlCol="0" anchor="ctr"/>
          <a:lstStyle/>
          <a:p>
            <a:pPr indent="0" marL="0">
              <a:buNone/>
            </a:pPr>
            <a:r>
              <a:rPr lang="en-US" sz="1800" i="1" dirty="0">
                <a:solidFill>
                  <a:srgbClr val="EEA901"/>
                </a:solidFill>
                <a:latin typeface="Arial" pitchFamily="34" charset="0"/>
                <a:ea typeface="Arial" pitchFamily="34" charset="-122"/>
                <a:cs typeface="Arial" pitchFamily="34" charset="-120"/>
              </a:rPr>
              <a:t>Premiers pas dans un projet de recherche</a:t>
            </a:r>
            <a:endParaRPr lang="en-US" sz="1800" dirty="0"/>
          </a:p>
        </p:txBody>
      </p:sp>
      <p:sp>
        <p:nvSpPr>
          <p:cNvPr id="6" name="Text 3"/>
          <p:cNvSpPr/>
          <p:nvPr/>
        </p:nvSpPr>
        <p:spPr>
          <a:xfrm>
            <a:off x="457200" y="2432304"/>
            <a:ext cx="8229600" cy="292608"/>
          </a:xfrm>
          <a:prstGeom prst="rect">
            <a:avLst/>
          </a:prstGeom>
          <a:noFill/>
          <a:ln/>
        </p:spPr>
        <p:txBody>
          <a:bodyPr wrap="square" lIns="0" tIns="0" rIns="0" bIns="0" rtlCol="0" anchor="ctr"/>
          <a:lstStyle/>
          <a:p>
            <a:pPr indent="0" marL="0">
              <a:buNone/>
            </a:pPr>
            <a:r>
              <a:rPr lang="en-US" sz="1250" dirty="0">
                <a:solidFill>
                  <a:srgbClr val="C7D3EA"/>
                </a:solidFill>
                <a:latin typeface="Arial" pitchFamily="34" charset="0"/>
                <a:ea typeface="Arial" pitchFamily="34" charset="-122"/>
                <a:cs typeface="Arial" pitchFamily="34" charset="-120"/>
              </a:rPr>
              <a:t>How AI supports the student researcher  ·  Comment l'IA accompagne l'étudiant-chercheur</a:t>
            </a:r>
            <a:endParaRPr lang="en-US" sz="1250" dirty="0"/>
          </a:p>
        </p:txBody>
      </p:sp>
      <p:sp>
        <p:nvSpPr>
          <p:cNvPr id="7" name="Shape 4"/>
          <p:cNvSpPr/>
          <p:nvPr/>
        </p:nvSpPr>
        <p:spPr>
          <a:xfrm>
            <a:off x="457200" y="3035808"/>
            <a:ext cx="2560320" cy="1554480"/>
          </a:xfrm>
          <a:prstGeom prst="roundRect">
            <a:avLst>
              <a:gd name="adj" fmla="val 5294"/>
            </a:avLst>
          </a:prstGeom>
          <a:solidFill>
            <a:srgbClr val="FFFFFF"/>
          </a:solidFill>
          <a:ln/>
          <a:effectLst>
            <a:outerShdw sx="100000" sy="100000" kx="0" ky="0" algn="bl" rotWithShape="0" blurRad="88900" dist="38100" dir="5400000">
              <a:srgbClr val="10213F">
                <a:alpha val="15000"/>
              </a:srgbClr>
            </a:outerShdw>
          </a:effectLst>
        </p:spPr>
      </p:sp>
      <p:pic>
        <p:nvPicPr>
          <p:cNvPr id="8" name="Image 1" descr="/home/claude/assets/wildcats_logo.png">    </p:cNvPr>
          <p:cNvPicPr>
            <a:picLocks noChangeAspect="1"/>
          </p:cNvPicPr>
          <p:nvPr/>
        </p:nvPicPr>
        <p:blipFill>
          <a:blip r:embed="rId2"/>
          <a:stretch>
            <a:fillRect/>
          </a:stretch>
        </p:blipFill>
        <p:spPr>
          <a:xfrm>
            <a:off x="1283010" y="3291840"/>
            <a:ext cx="908700" cy="566928"/>
          </a:xfrm>
          <a:prstGeom prst="rect">
            <a:avLst/>
          </a:prstGeom>
        </p:spPr>
      </p:pic>
      <p:sp>
        <p:nvSpPr>
          <p:cNvPr id="9" name="Text 5"/>
          <p:cNvSpPr/>
          <p:nvPr/>
        </p:nvSpPr>
        <p:spPr>
          <a:xfrm>
            <a:off x="530352" y="4059936"/>
            <a:ext cx="2414016" cy="274320"/>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SUNY Polytechnic Institute</a:t>
            </a:r>
            <a:endParaRPr lang="en-US" sz="1200" dirty="0"/>
          </a:p>
        </p:txBody>
      </p:sp>
      <p:sp>
        <p:nvSpPr>
          <p:cNvPr id="10" name="Text 6"/>
          <p:cNvSpPr/>
          <p:nvPr/>
        </p:nvSpPr>
        <p:spPr>
          <a:xfrm>
            <a:off x="530352" y="4334256"/>
            <a:ext cx="2414016" cy="201168"/>
          </a:xfrm>
          <a:prstGeom prst="rect">
            <a:avLst/>
          </a:prstGeom>
          <a:noFill/>
          <a:ln/>
        </p:spPr>
        <p:txBody>
          <a:bodyPr wrap="square" lIns="0" tIns="0" rIns="0" bIns="0" rtlCol="0" anchor="ctr"/>
          <a:lstStyle/>
          <a:p>
            <a:pPr algn="ctr" indent="0" marL="0">
              <a:buNone/>
            </a:pPr>
            <a:r>
              <a:rPr lang="en-US" sz="950" dirty="0">
                <a:solidFill>
                  <a:srgbClr val="5B6675"/>
                </a:solidFill>
                <a:latin typeface="Arial" pitchFamily="34" charset="0"/>
                <a:ea typeface="Arial" pitchFamily="34" charset="-122"/>
                <a:cs typeface="Arial" pitchFamily="34" charset="-120"/>
              </a:rPr>
              <a:t>Utica, New York · USA</a:t>
            </a:r>
            <a:endParaRPr lang="en-US" sz="950" dirty="0"/>
          </a:p>
        </p:txBody>
      </p:sp>
      <p:sp>
        <p:nvSpPr>
          <p:cNvPr id="11" name="Shape 7"/>
          <p:cNvSpPr/>
          <p:nvPr/>
        </p:nvSpPr>
        <p:spPr>
          <a:xfrm>
            <a:off x="3291840" y="3035808"/>
            <a:ext cx="2560320" cy="1554480"/>
          </a:xfrm>
          <a:prstGeom prst="roundRect">
            <a:avLst>
              <a:gd name="adj" fmla="val 5294"/>
            </a:avLst>
          </a:prstGeom>
          <a:solidFill>
            <a:srgbClr val="FFFFFF"/>
          </a:solidFill>
          <a:ln/>
          <a:effectLst>
            <a:outerShdw sx="100000" sy="100000" kx="0" ky="0" algn="bl" rotWithShape="0" blurRad="88900" dist="38100" dir="5400000">
              <a:srgbClr val="10213F">
                <a:alpha val="15000"/>
              </a:srgbClr>
            </a:outerShdw>
          </a:effectLst>
        </p:spPr>
      </p:sp>
      <p:pic>
        <p:nvPicPr>
          <p:cNvPr id="12" name="Image 2" descr="/home/claude/assets/buea_logo.png">    </p:cNvPr>
          <p:cNvPicPr>
            <a:picLocks noChangeAspect="1"/>
          </p:cNvPicPr>
          <p:nvPr/>
        </p:nvPicPr>
        <p:blipFill>
          <a:blip r:embed="rId3"/>
          <a:stretch>
            <a:fillRect/>
          </a:stretch>
        </p:blipFill>
        <p:spPr>
          <a:xfrm>
            <a:off x="4154350" y="3172968"/>
            <a:ext cx="835300" cy="804672"/>
          </a:xfrm>
          <a:prstGeom prst="rect">
            <a:avLst/>
          </a:prstGeom>
        </p:spPr>
      </p:pic>
      <p:sp>
        <p:nvSpPr>
          <p:cNvPr id="13" name="Text 8"/>
          <p:cNvSpPr/>
          <p:nvPr/>
        </p:nvSpPr>
        <p:spPr>
          <a:xfrm>
            <a:off x="3364992" y="4059936"/>
            <a:ext cx="2414016" cy="274320"/>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University of Buea</a:t>
            </a:r>
            <a:endParaRPr lang="en-US" sz="1200" dirty="0"/>
          </a:p>
        </p:txBody>
      </p:sp>
      <p:sp>
        <p:nvSpPr>
          <p:cNvPr id="14" name="Text 9"/>
          <p:cNvSpPr/>
          <p:nvPr/>
        </p:nvSpPr>
        <p:spPr>
          <a:xfrm>
            <a:off x="3364992" y="4334256"/>
            <a:ext cx="2414016" cy="201168"/>
          </a:xfrm>
          <a:prstGeom prst="rect">
            <a:avLst/>
          </a:prstGeom>
          <a:noFill/>
          <a:ln/>
        </p:spPr>
        <p:txBody>
          <a:bodyPr wrap="square" lIns="0" tIns="0" rIns="0" bIns="0" rtlCol="0" anchor="ctr"/>
          <a:lstStyle/>
          <a:p>
            <a:pPr algn="ctr" indent="0" marL="0">
              <a:buNone/>
            </a:pPr>
            <a:r>
              <a:rPr lang="en-US" sz="950" dirty="0">
                <a:solidFill>
                  <a:srgbClr val="5B6675"/>
                </a:solidFill>
                <a:latin typeface="Arial" pitchFamily="34" charset="0"/>
                <a:ea typeface="Arial" pitchFamily="34" charset="-122"/>
                <a:cs typeface="Arial" pitchFamily="34" charset="-120"/>
              </a:rPr>
              <a:t>Buea · Cameroon</a:t>
            </a:r>
            <a:endParaRPr lang="en-US" sz="950" dirty="0"/>
          </a:p>
        </p:txBody>
      </p:sp>
      <p:sp>
        <p:nvSpPr>
          <p:cNvPr id="15" name="Shape 10"/>
          <p:cNvSpPr/>
          <p:nvPr/>
        </p:nvSpPr>
        <p:spPr>
          <a:xfrm>
            <a:off x="6126480" y="3035808"/>
            <a:ext cx="2560320" cy="1554480"/>
          </a:xfrm>
          <a:prstGeom prst="roundRect">
            <a:avLst>
              <a:gd name="adj" fmla="val 5294"/>
            </a:avLst>
          </a:prstGeom>
          <a:solidFill>
            <a:srgbClr val="FFFFFF"/>
          </a:solidFill>
          <a:ln/>
          <a:effectLst>
            <a:outerShdw sx="100000" sy="100000" kx="0" ky="0" algn="bl" rotWithShape="0" blurRad="88900" dist="38100" dir="5400000">
              <a:srgbClr val="10213F">
                <a:alpha val="15000"/>
              </a:srgbClr>
            </a:outerShdw>
          </a:effectLst>
        </p:spPr>
      </p:sp>
      <p:pic>
        <p:nvPicPr>
          <p:cNvPr id="16" name="Image 3" descr="/home/claude/assets/yaounde_crest.png">    </p:cNvPr>
          <p:cNvPicPr>
            <a:picLocks noChangeAspect="1"/>
          </p:cNvPicPr>
          <p:nvPr/>
        </p:nvPicPr>
        <p:blipFill>
          <a:blip r:embed="rId4"/>
          <a:stretch>
            <a:fillRect/>
          </a:stretch>
        </p:blipFill>
        <p:spPr>
          <a:xfrm>
            <a:off x="7033743" y="3172968"/>
            <a:ext cx="745794" cy="804672"/>
          </a:xfrm>
          <a:prstGeom prst="rect">
            <a:avLst/>
          </a:prstGeom>
        </p:spPr>
      </p:pic>
      <p:sp>
        <p:nvSpPr>
          <p:cNvPr id="17" name="Text 11"/>
          <p:cNvSpPr/>
          <p:nvPr/>
        </p:nvSpPr>
        <p:spPr>
          <a:xfrm>
            <a:off x="6199632" y="4059936"/>
            <a:ext cx="2414016" cy="274320"/>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Université de Yaoundé I</a:t>
            </a:r>
            <a:endParaRPr lang="en-US" sz="1200" dirty="0"/>
          </a:p>
        </p:txBody>
      </p:sp>
      <p:sp>
        <p:nvSpPr>
          <p:cNvPr id="18" name="Text 12"/>
          <p:cNvSpPr/>
          <p:nvPr/>
        </p:nvSpPr>
        <p:spPr>
          <a:xfrm>
            <a:off x="6199632" y="4334256"/>
            <a:ext cx="2414016" cy="201168"/>
          </a:xfrm>
          <a:prstGeom prst="rect">
            <a:avLst/>
          </a:prstGeom>
          <a:noFill/>
          <a:ln/>
        </p:spPr>
        <p:txBody>
          <a:bodyPr wrap="square" lIns="0" tIns="0" rIns="0" bIns="0" rtlCol="0" anchor="ctr"/>
          <a:lstStyle/>
          <a:p>
            <a:pPr algn="ctr" indent="0" marL="0">
              <a:buNone/>
            </a:pPr>
            <a:r>
              <a:rPr lang="en-US" sz="950" dirty="0">
                <a:solidFill>
                  <a:srgbClr val="5B6675"/>
                </a:solidFill>
                <a:latin typeface="Arial" pitchFamily="34" charset="0"/>
                <a:ea typeface="Arial" pitchFamily="34" charset="-122"/>
                <a:cs typeface="Arial" pitchFamily="34" charset="-120"/>
              </a:rPr>
              <a:t>Yaoundé · Cameroun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pic>
        <p:nvPicPr>
          <p:cNvPr id="5" name="Image 1" descr="preencoded.png">    </p:cNvPr>
          <p:cNvPicPr>
            <a:picLocks noChangeAspect="1"/>
          </p:cNvPicPr>
          <p:nvPr/>
        </p:nvPicPr>
        <p:blipFill>
          <a:blip r:embed="rId3"/>
          <a:stretch>
            <a:fillRect/>
          </a:stretch>
        </p:blipFill>
        <p:spPr>
          <a:xfrm>
            <a:off x="610819" y="519379"/>
            <a:ext cx="241402" cy="241402"/>
          </a:xfrm>
          <a:prstGeom prst="rect">
            <a:avLst/>
          </a:prstGeom>
        </p:spPr>
      </p:pic>
      <p:sp>
        <p:nvSpPr>
          <p:cNvPr id="6" name="Text 2"/>
          <p:cNvSpPr/>
          <p:nvPr/>
        </p:nvSpPr>
        <p:spPr>
          <a:xfrm>
            <a:off x="1188720" y="292608"/>
            <a:ext cx="731520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Developed at the AIX Center</a:t>
            </a:r>
            <a:endParaRPr lang="en-US" sz="2400" dirty="0"/>
          </a:p>
        </p:txBody>
      </p:sp>
      <p:sp>
        <p:nvSpPr>
          <p:cNvPr id="7" name="Shape 3"/>
          <p:cNvSpPr/>
          <p:nvPr/>
        </p:nvSpPr>
        <p:spPr>
          <a:xfrm>
            <a:off x="1216152" y="841248"/>
            <a:ext cx="1280160" cy="45720"/>
          </a:xfrm>
          <a:prstGeom prst="rect">
            <a:avLst/>
          </a:prstGeom>
          <a:solidFill>
            <a:srgbClr val="EEA901"/>
          </a:solidFill>
          <a:ln/>
        </p:spPr>
      </p:sp>
      <p:sp>
        <p:nvSpPr>
          <p:cNvPr id="8" name="Text 4"/>
          <p:cNvSpPr/>
          <p:nvPr/>
        </p:nvSpPr>
        <p:spPr>
          <a:xfrm>
            <a:off x="1188720" y="914400"/>
            <a:ext cx="5486400" cy="274320"/>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Développé au Centre AIX</a:t>
            </a:r>
            <a:endParaRPr lang="en-US" sz="1250" dirty="0"/>
          </a:p>
        </p:txBody>
      </p:sp>
      <p:sp>
        <p:nvSpPr>
          <p:cNvPr id="9" name="Text 5"/>
          <p:cNvSpPr/>
          <p:nvPr/>
        </p:nvSpPr>
        <p:spPr>
          <a:xfrm>
            <a:off x="1188720" y="1188720"/>
            <a:ext cx="7406640" cy="237744"/>
          </a:xfrm>
          <a:prstGeom prst="rect">
            <a:avLst/>
          </a:prstGeom>
          <a:noFill/>
          <a:ln/>
        </p:spPr>
        <p:txBody>
          <a:bodyPr wrap="square" lIns="0" tIns="0" rIns="0" bIns="0" rtlCol="0" anchor="ctr"/>
          <a:lstStyle/>
          <a:p>
            <a:pPr indent="0" marL="0">
              <a:buNone/>
            </a:pPr>
            <a:r>
              <a:rPr lang="en-US" sz="1050" dirty="0">
                <a:solidFill>
                  <a:srgbClr val="5B6675"/>
                </a:solidFill>
                <a:latin typeface="Arial" pitchFamily="34" charset="0"/>
                <a:ea typeface="Arial" pitchFamily="34" charset="-122"/>
                <a:cs typeface="Arial" pitchFamily="34" charset="-120"/>
              </a:rPr>
              <a:t>Artificial Intelligence Exploration Center  ·  SUNY Polytechnic Institute  ·  “AI for All”</a:t>
            </a:r>
            <a:endParaRPr lang="en-US" sz="1050" dirty="0"/>
          </a:p>
        </p:txBody>
      </p:sp>
      <p:sp>
        <p:nvSpPr>
          <p:cNvPr id="10" name="Shape 6"/>
          <p:cNvSpPr/>
          <p:nvPr/>
        </p:nvSpPr>
        <p:spPr>
          <a:xfrm>
            <a:off x="457200" y="1517904"/>
            <a:ext cx="3886200" cy="1060704"/>
          </a:xfrm>
          <a:prstGeom prst="roundRect">
            <a:avLst>
              <a:gd name="adj" fmla="val 7759"/>
            </a:avLst>
          </a:prstGeom>
          <a:solidFill>
            <a:srgbClr val="FFFFFF"/>
          </a:solidFill>
          <a:ln/>
          <a:effectLst>
            <a:outerShdw sx="100000" sy="100000" kx="0" ky="0" algn="bl" rotWithShape="0" blurRad="88900" dist="38100" dir="5400000">
              <a:srgbClr val="10213F">
                <a:alpha val="15000"/>
              </a:srgbClr>
            </a:outerShdw>
          </a:effectLst>
        </p:spPr>
      </p:sp>
      <p:sp>
        <p:nvSpPr>
          <p:cNvPr id="11" name="Shape 7"/>
          <p:cNvSpPr/>
          <p:nvPr/>
        </p:nvSpPr>
        <p:spPr>
          <a:xfrm>
            <a:off x="630936" y="1636776"/>
            <a:ext cx="822960" cy="822960"/>
          </a:xfrm>
          <a:prstGeom prst="ellipse">
            <a:avLst/>
          </a:prstGeom>
          <a:solidFill>
            <a:srgbClr val="EEA901"/>
          </a:solidFill>
          <a:ln/>
        </p:spPr>
      </p:sp>
      <p:pic>
        <p:nvPicPr>
          <p:cNvPr id="12" name="Image 2" descr="/home/claude/assets/steve_sq.png">    </p:cNvPr>
          <p:cNvPicPr>
            <a:picLocks noChangeAspect="1"/>
          </p:cNvPicPr>
          <p:nvPr/>
        </p:nvPicPr>
        <p:blipFill>
          <a:blip r:embed="rId4"/>
          <a:stretch>
            <a:fillRect/>
          </a:stretch>
        </p:blipFill>
        <p:spPr>
          <a:xfrm>
            <a:off x="658368" y="1664208"/>
            <a:ext cx="768096" cy="768096"/>
          </a:xfrm>
          <a:prstGeom prst="ellipse">
            <a:avLst/>
          </a:prstGeom>
        </p:spPr>
      </p:pic>
      <p:sp>
        <p:nvSpPr>
          <p:cNvPr id="13" name="Text 8"/>
          <p:cNvSpPr/>
          <p:nvPr/>
        </p:nvSpPr>
        <p:spPr>
          <a:xfrm>
            <a:off x="1627632" y="1737360"/>
            <a:ext cx="2578608" cy="292608"/>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Dr. Steven Schneider</a:t>
            </a:r>
            <a:endParaRPr lang="en-US" sz="1350" dirty="0"/>
          </a:p>
        </p:txBody>
      </p:sp>
      <p:sp>
        <p:nvSpPr>
          <p:cNvPr id="14" name="Text 9"/>
          <p:cNvSpPr/>
          <p:nvPr/>
        </p:nvSpPr>
        <p:spPr>
          <a:xfrm>
            <a:off x="1627632" y="2039112"/>
            <a:ext cx="2578608" cy="237744"/>
          </a:xfrm>
          <a:prstGeom prst="rect">
            <a:avLst/>
          </a:prstGeom>
          <a:noFill/>
          <a:ln/>
        </p:spPr>
        <p:txBody>
          <a:bodyPr wrap="square" lIns="0" tIns="0" rIns="0" bIns="0" rtlCol="0" anchor="ctr"/>
          <a:lstStyle/>
          <a:p>
            <a:pPr indent="0" marL="0">
              <a:buNone/>
            </a:pPr>
            <a:r>
              <a:rPr lang="en-US" sz="1050" dirty="0">
                <a:solidFill>
                  <a:srgbClr val="B07D08"/>
                </a:solidFill>
                <a:latin typeface="Arial" pitchFamily="34" charset="0"/>
                <a:ea typeface="Arial" pitchFamily="34" charset="-122"/>
                <a:cs typeface="Arial" pitchFamily="34" charset="-120"/>
              </a:rPr>
              <a:t>Co-Director · AIX Center</a:t>
            </a:r>
            <a:endParaRPr lang="en-US" sz="1050" dirty="0"/>
          </a:p>
        </p:txBody>
      </p:sp>
      <p:sp>
        <p:nvSpPr>
          <p:cNvPr id="15" name="Text 10"/>
          <p:cNvSpPr/>
          <p:nvPr/>
        </p:nvSpPr>
        <p:spPr>
          <a:xfrm>
            <a:off x="1627632" y="2240280"/>
            <a:ext cx="2578608" cy="237744"/>
          </a:xfrm>
          <a:prstGeom prst="rect">
            <a:avLst/>
          </a:prstGeom>
          <a:noFill/>
          <a:ln/>
        </p:spPr>
        <p:txBody>
          <a:bodyPr wrap="square" lIns="0" tIns="0" rIns="0" bIns="0" rtlCol="0" anchor="ctr"/>
          <a:lstStyle/>
          <a:p>
            <a:pPr indent="0" marL="0">
              <a:buNone/>
            </a:pPr>
            <a:r>
              <a:rPr lang="en-US" sz="1050" i="1" dirty="0">
                <a:solidFill>
                  <a:srgbClr val="5B6675"/>
                </a:solidFill>
                <a:latin typeface="Arial" pitchFamily="34" charset="0"/>
                <a:ea typeface="Arial" pitchFamily="34" charset="-122"/>
                <a:cs typeface="Arial" pitchFamily="34" charset="-120"/>
              </a:rPr>
              <a:t>College of Arts &amp; Sciences</a:t>
            </a:r>
            <a:endParaRPr lang="en-US" sz="1050" dirty="0"/>
          </a:p>
        </p:txBody>
      </p:sp>
      <p:sp>
        <p:nvSpPr>
          <p:cNvPr id="16" name="Shape 11"/>
          <p:cNvSpPr/>
          <p:nvPr/>
        </p:nvSpPr>
        <p:spPr>
          <a:xfrm>
            <a:off x="4526280" y="1517904"/>
            <a:ext cx="3886200" cy="1060704"/>
          </a:xfrm>
          <a:prstGeom prst="roundRect">
            <a:avLst>
              <a:gd name="adj" fmla="val 7759"/>
            </a:avLst>
          </a:prstGeom>
          <a:solidFill>
            <a:srgbClr val="FFFFFF"/>
          </a:solidFill>
          <a:ln/>
          <a:effectLst>
            <a:outerShdw sx="100000" sy="100000" kx="0" ky="0" algn="bl" rotWithShape="0" blurRad="88900" dist="38100" dir="5400000">
              <a:srgbClr val="10213F">
                <a:alpha val="15000"/>
              </a:srgbClr>
            </a:outerShdw>
          </a:effectLst>
        </p:spPr>
      </p:sp>
      <p:sp>
        <p:nvSpPr>
          <p:cNvPr id="17" name="Shape 12"/>
          <p:cNvSpPr/>
          <p:nvPr/>
        </p:nvSpPr>
        <p:spPr>
          <a:xfrm>
            <a:off x="4700016" y="1636776"/>
            <a:ext cx="822960" cy="822960"/>
          </a:xfrm>
          <a:prstGeom prst="ellipse">
            <a:avLst/>
          </a:prstGeom>
          <a:solidFill>
            <a:srgbClr val="EEA901"/>
          </a:solidFill>
          <a:ln/>
        </p:spPr>
      </p:sp>
      <p:pic>
        <p:nvPicPr>
          <p:cNvPr id="18" name="Image 3" descr="/home/claude/assets/bill_sq.png">    </p:cNvPr>
          <p:cNvPicPr>
            <a:picLocks noChangeAspect="1"/>
          </p:cNvPicPr>
          <p:nvPr/>
        </p:nvPicPr>
        <p:blipFill>
          <a:blip r:embed="rId5"/>
          <a:stretch>
            <a:fillRect/>
          </a:stretch>
        </p:blipFill>
        <p:spPr>
          <a:xfrm>
            <a:off x="4727448" y="1664208"/>
            <a:ext cx="768096" cy="768096"/>
          </a:xfrm>
          <a:prstGeom prst="ellipse">
            <a:avLst/>
          </a:prstGeom>
        </p:spPr>
      </p:pic>
      <p:sp>
        <p:nvSpPr>
          <p:cNvPr id="19" name="Text 13"/>
          <p:cNvSpPr/>
          <p:nvPr/>
        </p:nvSpPr>
        <p:spPr>
          <a:xfrm>
            <a:off x="5696712" y="1737360"/>
            <a:ext cx="2578608" cy="292608"/>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Dr. William Thistleton</a:t>
            </a:r>
            <a:endParaRPr lang="en-US" sz="1350" dirty="0"/>
          </a:p>
        </p:txBody>
      </p:sp>
      <p:sp>
        <p:nvSpPr>
          <p:cNvPr id="20" name="Text 14"/>
          <p:cNvSpPr/>
          <p:nvPr/>
        </p:nvSpPr>
        <p:spPr>
          <a:xfrm>
            <a:off x="5696712" y="2039112"/>
            <a:ext cx="2578608" cy="237744"/>
          </a:xfrm>
          <a:prstGeom prst="rect">
            <a:avLst/>
          </a:prstGeom>
          <a:noFill/>
          <a:ln/>
        </p:spPr>
        <p:txBody>
          <a:bodyPr wrap="square" lIns="0" tIns="0" rIns="0" bIns="0" rtlCol="0" anchor="ctr"/>
          <a:lstStyle/>
          <a:p>
            <a:pPr indent="0" marL="0">
              <a:buNone/>
            </a:pPr>
            <a:r>
              <a:rPr lang="en-US" sz="1050" dirty="0">
                <a:solidFill>
                  <a:srgbClr val="B07D08"/>
                </a:solidFill>
                <a:latin typeface="Arial" pitchFamily="34" charset="0"/>
                <a:ea typeface="Arial" pitchFamily="34" charset="-122"/>
                <a:cs typeface="Arial" pitchFamily="34" charset="-120"/>
              </a:rPr>
              <a:t>Co-Director · AIX Center</a:t>
            </a:r>
            <a:endParaRPr lang="en-US" sz="1050" dirty="0"/>
          </a:p>
        </p:txBody>
      </p:sp>
      <p:sp>
        <p:nvSpPr>
          <p:cNvPr id="21" name="Text 15"/>
          <p:cNvSpPr/>
          <p:nvPr/>
        </p:nvSpPr>
        <p:spPr>
          <a:xfrm>
            <a:off x="5696712" y="2240280"/>
            <a:ext cx="2578608" cy="237744"/>
          </a:xfrm>
          <a:prstGeom prst="rect">
            <a:avLst/>
          </a:prstGeom>
          <a:noFill/>
          <a:ln/>
        </p:spPr>
        <p:txBody>
          <a:bodyPr wrap="square" lIns="0" tIns="0" rIns="0" bIns="0" rtlCol="0" anchor="ctr"/>
          <a:lstStyle/>
          <a:p>
            <a:pPr indent="0" marL="0">
              <a:buNone/>
            </a:pPr>
            <a:r>
              <a:rPr lang="en-US" sz="1050" i="1" dirty="0">
                <a:solidFill>
                  <a:srgbClr val="5B6675"/>
                </a:solidFill>
                <a:latin typeface="Arial" pitchFamily="34" charset="0"/>
                <a:ea typeface="Arial" pitchFamily="34" charset="-122"/>
                <a:cs typeface="Arial" pitchFamily="34" charset="-120"/>
              </a:rPr>
              <a:t>Department of Mathematics</a:t>
            </a:r>
            <a:endParaRPr lang="en-US" sz="1050" dirty="0"/>
          </a:p>
        </p:txBody>
      </p:sp>
      <p:sp>
        <p:nvSpPr>
          <p:cNvPr id="22" name="Shape 16"/>
          <p:cNvSpPr/>
          <p:nvPr/>
        </p:nvSpPr>
        <p:spPr>
          <a:xfrm>
            <a:off x="457200" y="2743200"/>
            <a:ext cx="2560320" cy="1755648"/>
          </a:xfrm>
          <a:prstGeom prst="roundRect">
            <a:avLst>
              <a:gd name="adj" fmla="val 4688"/>
            </a:avLst>
          </a:prstGeom>
          <a:solidFill>
            <a:srgbClr val="FFFFFF"/>
          </a:solidFill>
          <a:ln/>
          <a:effectLst>
            <a:outerShdw sx="100000" sy="100000" kx="0" ky="0" algn="bl" rotWithShape="0" blurRad="88900" dist="38100" dir="5400000">
              <a:srgbClr val="10213F">
                <a:alpha val="15000"/>
              </a:srgbClr>
            </a:outerShdw>
          </a:effectLst>
        </p:spPr>
      </p:sp>
      <p:sp>
        <p:nvSpPr>
          <p:cNvPr id="23" name="Shape 17"/>
          <p:cNvSpPr/>
          <p:nvPr/>
        </p:nvSpPr>
        <p:spPr>
          <a:xfrm>
            <a:off x="1435608" y="2962656"/>
            <a:ext cx="603504" cy="603504"/>
          </a:xfrm>
          <a:prstGeom prst="ellipse">
            <a:avLst/>
          </a:prstGeom>
          <a:solidFill>
            <a:srgbClr val="002C7C"/>
          </a:solidFill>
          <a:ln/>
        </p:spPr>
      </p:sp>
      <p:pic>
        <p:nvPicPr>
          <p:cNvPr id="24" name="Image 4" descr="preencoded.png">    </p:cNvPr>
          <p:cNvPicPr>
            <a:picLocks noChangeAspect="1"/>
          </p:cNvPicPr>
          <p:nvPr/>
        </p:nvPicPr>
        <p:blipFill>
          <a:blip r:embed="rId6"/>
          <a:stretch>
            <a:fillRect/>
          </a:stretch>
        </p:blipFill>
        <p:spPr>
          <a:xfrm>
            <a:off x="1598554" y="3125602"/>
            <a:ext cx="277612" cy="277612"/>
          </a:xfrm>
          <a:prstGeom prst="rect">
            <a:avLst/>
          </a:prstGeom>
        </p:spPr>
      </p:pic>
      <p:sp>
        <p:nvSpPr>
          <p:cNvPr id="25" name="Text 18"/>
          <p:cNvSpPr/>
          <p:nvPr/>
        </p:nvSpPr>
        <p:spPr>
          <a:xfrm>
            <a:off x="548640" y="3675888"/>
            <a:ext cx="2377440" cy="310896"/>
          </a:xfrm>
          <a:prstGeom prst="rect">
            <a:avLst/>
          </a:prstGeom>
          <a:noFill/>
          <a:ln/>
        </p:spPr>
        <p:txBody>
          <a:bodyPr wrap="square" lIns="0" tIns="0" rIns="0" bIns="0" rtlCol="0" anchor="ctr"/>
          <a:lstStyle/>
          <a:p>
            <a:pPr algn="ctr" indent="0" marL="0">
              <a:buNone/>
            </a:pPr>
            <a:r>
              <a:rPr lang="en-US" sz="1600" b="1" dirty="0">
                <a:solidFill>
                  <a:srgbClr val="002C7C"/>
                </a:solidFill>
                <a:latin typeface="Arial" pitchFamily="34" charset="0"/>
                <a:ea typeface="Arial" pitchFamily="34" charset="-122"/>
                <a:cs typeface="Arial" pitchFamily="34" charset="-120"/>
              </a:rPr>
              <a:t>Lab</a:t>
            </a:r>
            <a:endParaRPr lang="en-US" sz="1600" dirty="0"/>
          </a:p>
        </p:txBody>
      </p:sp>
      <p:sp>
        <p:nvSpPr>
          <p:cNvPr id="26" name="Text 19"/>
          <p:cNvSpPr/>
          <p:nvPr/>
        </p:nvSpPr>
        <p:spPr>
          <a:xfrm>
            <a:off x="566928" y="4005072"/>
            <a:ext cx="2340864" cy="256032"/>
          </a:xfrm>
          <a:prstGeom prst="rect">
            <a:avLst/>
          </a:prstGeom>
          <a:noFill/>
          <a:ln/>
        </p:spPr>
        <p:txBody>
          <a:bodyPr wrap="square" lIns="0" tIns="0" rIns="0" bIns="0" rtlCol="0" anchor="ctr"/>
          <a:lstStyle/>
          <a:p>
            <a:pPr algn="ctr" indent="0" marL="0">
              <a:buNone/>
            </a:pPr>
            <a:r>
              <a:rPr lang="en-US" sz="1050" dirty="0">
                <a:solidFill>
                  <a:srgbClr val="1F2733"/>
                </a:solidFill>
                <a:latin typeface="Arial" pitchFamily="34" charset="0"/>
                <a:ea typeface="Arial" pitchFamily="34" charset="-122"/>
                <a:cs typeface="Arial" pitchFamily="34" charset="-120"/>
              </a:rPr>
              <a:t>Study of foundation models</a:t>
            </a:r>
            <a:endParaRPr lang="en-US" sz="1050" dirty="0"/>
          </a:p>
        </p:txBody>
      </p:sp>
      <p:sp>
        <p:nvSpPr>
          <p:cNvPr id="27" name="Text 20"/>
          <p:cNvSpPr/>
          <p:nvPr/>
        </p:nvSpPr>
        <p:spPr>
          <a:xfrm>
            <a:off x="566928" y="4224528"/>
            <a:ext cx="2340864" cy="237744"/>
          </a:xfrm>
          <a:prstGeom prst="rect">
            <a:avLst/>
          </a:prstGeom>
          <a:noFill/>
          <a:ln/>
        </p:spPr>
        <p:txBody>
          <a:bodyPr wrap="square" lIns="0" tIns="0" rIns="0" bIns="0" rtlCol="0" anchor="ctr"/>
          <a:lstStyle/>
          <a:p>
            <a:pPr algn="ctr" indent="0" marL="0">
              <a:buNone/>
            </a:pPr>
            <a:r>
              <a:rPr lang="en-US" sz="1000" i="1" dirty="0">
                <a:solidFill>
                  <a:srgbClr val="5B6675"/>
                </a:solidFill>
                <a:latin typeface="Arial" pitchFamily="34" charset="0"/>
                <a:ea typeface="Arial" pitchFamily="34" charset="-122"/>
                <a:cs typeface="Arial" pitchFamily="34" charset="-120"/>
              </a:rPr>
              <a:t>Modèles de fondation</a:t>
            </a:r>
            <a:endParaRPr lang="en-US" sz="1000" dirty="0"/>
          </a:p>
        </p:txBody>
      </p:sp>
      <p:sp>
        <p:nvSpPr>
          <p:cNvPr id="28" name="Shape 21"/>
          <p:cNvSpPr/>
          <p:nvPr/>
        </p:nvSpPr>
        <p:spPr>
          <a:xfrm>
            <a:off x="3291840" y="2743200"/>
            <a:ext cx="2560320" cy="1755648"/>
          </a:xfrm>
          <a:prstGeom prst="roundRect">
            <a:avLst>
              <a:gd name="adj" fmla="val 4688"/>
            </a:avLst>
          </a:prstGeom>
          <a:solidFill>
            <a:srgbClr val="EAF0FA"/>
          </a:solidFill>
          <a:ln/>
          <a:effectLst>
            <a:outerShdw sx="100000" sy="100000" kx="0" ky="0" algn="bl" rotWithShape="0" blurRad="88900" dist="38100" dir="5400000">
              <a:srgbClr val="10213F">
                <a:alpha val="15000"/>
              </a:srgbClr>
            </a:outerShdw>
          </a:effectLst>
        </p:spPr>
      </p:sp>
      <p:sp>
        <p:nvSpPr>
          <p:cNvPr id="29" name="Shape 22"/>
          <p:cNvSpPr/>
          <p:nvPr/>
        </p:nvSpPr>
        <p:spPr>
          <a:xfrm>
            <a:off x="4270248" y="2962656"/>
            <a:ext cx="603504" cy="603504"/>
          </a:xfrm>
          <a:prstGeom prst="ellipse">
            <a:avLst/>
          </a:prstGeom>
          <a:solidFill>
            <a:srgbClr val="002C7C"/>
          </a:solidFill>
          <a:ln/>
        </p:spPr>
      </p:sp>
      <p:pic>
        <p:nvPicPr>
          <p:cNvPr id="30" name="Image 5" descr="preencoded.png">    </p:cNvPr>
          <p:cNvPicPr>
            <a:picLocks noChangeAspect="1"/>
          </p:cNvPicPr>
          <p:nvPr/>
        </p:nvPicPr>
        <p:blipFill>
          <a:blip r:embed="rId7"/>
          <a:stretch>
            <a:fillRect/>
          </a:stretch>
        </p:blipFill>
        <p:spPr>
          <a:xfrm>
            <a:off x="4433194" y="3125602"/>
            <a:ext cx="277612" cy="277612"/>
          </a:xfrm>
          <a:prstGeom prst="rect">
            <a:avLst/>
          </a:prstGeom>
        </p:spPr>
      </p:pic>
      <p:sp>
        <p:nvSpPr>
          <p:cNvPr id="31" name="Text 23"/>
          <p:cNvSpPr/>
          <p:nvPr/>
        </p:nvSpPr>
        <p:spPr>
          <a:xfrm>
            <a:off x="3383280" y="3675888"/>
            <a:ext cx="2377440" cy="310896"/>
          </a:xfrm>
          <a:prstGeom prst="rect">
            <a:avLst/>
          </a:prstGeom>
          <a:noFill/>
          <a:ln/>
        </p:spPr>
        <p:txBody>
          <a:bodyPr wrap="square" lIns="0" tIns="0" rIns="0" bIns="0" rtlCol="0" anchor="ctr"/>
          <a:lstStyle/>
          <a:p>
            <a:pPr algn="ctr" indent="0" marL="0">
              <a:buNone/>
            </a:pPr>
            <a:r>
              <a:rPr lang="en-US" sz="1600" b="1" dirty="0">
                <a:solidFill>
                  <a:srgbClr val="002C7C"/>
                </a:solidFill>
                <a:latin typeface="Arial" pitchFamily="34" charset="0"/>
                <a:ea typeface="Arial" pitchFamily="34" charset="-122"/>
                <a:cs typeface="Arial" pitchFamily="34" charset="-120"/>
              </a:rPr>
              <a:t>Accelerator</a:t>
            </a:r>
            <a:endParaRPr lang="en-US" sz="1600" dirty="0"/>
          </a:p>
        </p:txBody>
      </p:sp>
      <p:sp>
        <p:nvSpPr>
          <p:cNvPr id="32" name="Text 24"/>
          <p:cNvSpPr/>
          <p:nvPr/>
        </p:nvSpPr>
        <p:spPr>
          <a:xfrm>
            <a:off x="3401568" y="4005072"/>
            <a:ext cx="2340864" cy="256032"/>
          </a:xfrm>
          <a:prstGeom prst="rect">
            <a:avLst/>
          </a:prstGeom>
          <a:noFill/>
          <a:ln/>
        </p:spPr>
        <p:txBody>
          <a:bodyPr wrap="square" lIns="0" tIns="0" rIns="0" bIns="0" rtlCol="0" anchor="ctr"/>
          <a:lstStyle/>
          <a:p>
            <a:pPr algn="ctr" indent="0" marL="0">
              <a:buNone/>
            </a:pPr>
            <a:r>
              <a:rPr lang="en-US" sz="1050" dirty="0">
                <a:solidFill>
                  <a:srgbClr val="1F2733"/>
                </a:solidFill>
                <a:latin typeface="Arial" pitchFamily="34" charset="0"/>
                <a:ea typeface="Arial" pitchFamily="34" charset="-122"/>
                <a:cs typeface="Arial" pitchFamily="34" charset="-120"/>
              </a:rPr>
              <a:t>Applications development</a:t>
            </a:r>
            <a:endParaRPr lang="en-US" sz="1050" dirty="0"/>
          </a:p>
        </p:txBody>
      </p:sp>
      <p:sp>
        <p:nvSpPr>
          <p:cNvPr id="33" name="Text 25"/>
          <p:cNvSpPr/>
          <p:nvPr/>
        </p:nvSpPr>
        <p:spPr>
          <a:xfrm>
            <a:off x="3401568" y="4224528"/>
            <a:ext cx="2340864" cy="237744"/>
          </a:xfrm>
          <a:prstGeom prst="rect">
            <a:avLst/>
          </a:prstGeom>
          <a:noFill/>
          <a:ln/>
        </p:spPr>
        <p:txBody>
          <a:bodyPr wrap="square" lIns="0" tIns="0" rIns="0" bIns="0" rtlCol="0" anchor="ctr"/>
          <a:lstStyle/>
          <a:p>
            <a:pPr algn="ctr" indent="0" marL="0">
              <a:buNone/>
            </a:pPr>
            <a:r>
              <a:rPr lang="en-US" sz="1000" i="1" dirty="0">
                <a:solidFill>
                  <a:srgbClr val="5B6675"/>
                </a:solidFill>
                <a:latin typeface="Arial" pitchFamily="34" charset="0"/>
                <a:ea typeface="Arial" pitchFamily="34" charset="-122"/>
                <a:cs typeface="Arial" pitchFamily="34" charset="-120"/>
              </a:rPr>
              <a:t>Développement d'applications</a:t>
            </a:r>
            <a:endParaRPr lang="en-US" sz="1000" dirty="0"/>
          </a:p>
        </p:txBody>
      </p:sp>
      <p:sp>
        <p:nvSpPr>
          <p:cNvPr id="34" name="Shape 26"/>
          <p:cNvSpPr/>
          <p:nvPr/>
        </p:nvSpPr>
        <p:spPr>
          <a:xfrm>
            <a:off x="6126480" y="2743200"/>
            <a:ext cx="2560320" cy="1755648"/>
          </a:xfrm>
          <a:prstGeom prst="roundRect">
            <a:avLst>
              <a:gd name="adj" fmla="val 4688"/>
            </a:avLst>
          </a:prstGeom>
          <a:solidFill>
            <a:srgbClr val="FFFFFF"/>
          </a:solidFill>
          <a:ln/>
          <a:effectLst>
            <a:outerShdw sx="100000" sy="100000" kx="0" ky="0" algn="bl" rotWithShape="0" blurRad="88900" dist="38100" dir="5400000">
              <a:srgbClr val="10213F">
                <a:alpha val="15000"/>
              </a:srgbClr>
            </a:outerShdw>
          </a:effectLst>
        </p:spPr>
      </p:sp>
      <p:sp>
        <p:nvSpPr>
          <p:cNvPr id="35" name="Shape 27"/>
          <p:cNvSpPr/>
          <p:nvPr/>
        </p:nvSpPr>
        <p:spPr>
          <a:xfrm>
            <a:off x="7104888" y="2962656"/>
            <a:ext cx="603504" cy="603504"/>
          </a:xfrm>
          <a:prstGeom prst="ellipse">
            <a:avLst/>
          </a:prstGeom>
          <a:solidFill>
            <a:srgbClr val="002C7C"/>
          </a:solidFill>
          <a:ln/>
        </p:spPr>
      </p:sp>
      <p:pic>
        <p:nvPicPr>
          <p:cNvPr id="36" name="Image 6" descr="preencoded.png">    </p:cNvPr>
          <p:cNvPicPr>
            <a:picLocks noChangeAspect="1"/>
          </p:cNvPicPr>
          <p:nvPr/>
        </p:nvPicPr>
        <p:blipFill>
          <a:blip r:embed="rId8"/>
          <a:stretch>
            <a:fillRect/>
          </a:stretch>
        </p:blipFill>
        <p:spPr>
          <a:xfrm>
            <a:off x="7267834" y="3125602"/>
            <a:ext cx="277612" cy="277612"/>
          </a:xfrm>
          <a:prstGeom prst="rect">
            <a:avLst/>
          </a:prstGeom>
        </p:spPr>
      </p:pic>
      <p:sp>
        <p:nvSpPr>
          <p:cNvPr id="37" name="Text 28"/>
          <p:cNvSpPr/>
          <p:nvPr/>
        </p:nvSpPr>
        <p:spPr>
          <a:xfrm>
            <a:off x="6217920" y="3675888"/>
            <a:ext cx="2377440" cy="310896"/>
          </a:xfrm>
          <a:prstGeom prst="rect">
            <a:avLst/>
          </a:prstGeom>
          <a:noFill/>
          <a:ln/>
        </p:spPr>
        <p:txBody>
          <a:bodyPr wrap="square" lIns="0" tIns="0" rIns="0" bIns="0" rtlCol="0" anchor="ctr"/>
          <a:lstStyle/>
          <a:p>
            <a:pPr algn="ctr" indent="0" marL="0">
              <a:buNone/>
            </a:pPr>
            <a:r>
              <a:rPr lang="en-US" sz="1600" b="1" dirty="0">
                <a:solidFill>
                  <a:srgbClr val="002C7C"/>
                </a:solidFill>
                <a:latin typeface="Arial" pitchFamily="34" charset="0"/>
                <a:ea typeface="Arial" pitchFamily="34" charset="-122"/>
                <a:cs typeface="Arial" pitchFamily="34" charset="-120"/>
              </a:rPr>
              <a:t>Studio</a:t>
            </a:r>
            <a:endParaRPr lang="en-US" sz="1600" dirty="0"/>
          </a:p>
        </p:txBody>
      </p:sp>
      <p:sp>
        <p:nvSpPr>
          <p:cNvPr id="38" name="Text 29"/>
          <p:cNvSpPr/>
          <p:nvPr/>
        </p:nvSpPr>
        <p:spPr>
          <a:xfrm>
            <a:off x="6236208" y="4005072"/>
            <a:ext cx="2340864" cy="256032"/>
          </a:xfrm>
          <a:prstGeom prst="rect">
            <a:avLst/>
          </a:prstGeom>
          <a:noFill/>
          <a:ln/>
        </p:spPr>
        <p:txBody>
          <a:bodyPr wrap="square" lIns="0" tIns="0" rIns="0" bIns="0" rtlCol="0" anchor="ctr"/>
          <a:lstStyle/>
          <a:p>
            <a:pPr algn="ctr" indent="0" marL="0">
              <a:buNone/>
            </a:pPr>
            <a:r>
              <a:rPr lang="en-US" sz="1050" dirty="0">
                <a:solidFill>
                  <a:srgbClr val="1F2733"/>
                </a:solidFill>
                <a:latin typeface="Arial" pitchFamily="34" charset="0"/>
                <a:ea typeface="Arial" pitchFamily="34" charset="-122"/>
                <a:cs typeface="Arial" pitchFamily="34" charset="-120"/>
              </a:rPr>
              <a:t>User-experience research</a:t>
            </a:r>
            <a:endParaRPr lang="en-US" sz="1050" dirty="0"/>
          </a:p>
        </p:txBody>
      </p:sp>
      <p:sp>
        <p:nvSpPr>
          <p:cNvPr id="39" name="Text 30"/>
          <p:cNvSpPr/>
          <p:nvPr/>
        </p:nvSpPr>
        <p:spPr>
          <a:xfrm>
            <a:off x="6236208" y="4224528"/>
            <a:ext cx="2340864" cy="237744"/>
          </a:xfrm>
          <a:prstGeom prst="rect">
            <a:avLst/>
          </a:prstGeom>
          <a:noFill/>
          <a:ln/>
        </p:spPr>
        <p:txBody>
          <a:bodyPr wrap="square" lIns="0" tIns="0" rIns="0" bIns="0" rtlCol="0" anchor="ctr"/>
          <a:lstStyle/>
          <a:p>
            <a:pPr algn="ctr" indent="0" marL="0">
              <a:buNone/>
            </a:pPr>
            <a:r>
              <a:rPr lang="en-US" sz="1000" i="1" dirty="0">
                <a:solidFill>
                  <a:srgbClr val="5B6675"/>
                </a:solidFill>
                <a:latin typeface="Arial" pitchFamily="34" charset="0"/>
                <a:ea typeface="Arial" pitchFamily="34" charset="-122"/>
                <a:cs typeface="Arial" pitchFamily="34" charset="-120"/>
              </a:rPr>
              <a:t>Expérience utilisateur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5" name="Text 2"/>
          <p:cNvSpPr/>
          <p:nvPr/>
        </p:nvSpPr>
        <p:spPr>
          <a:xfrm>
            <a:off x="457200" y="365760"/>
            <a:ext cx="548640" cy="548640"/>
          </a:xfrm>
          <a:prstGeom prst="rect">
            <a:avLst/>
          </a:prstGeom>
          <a:noFill/>
          <a:ln/>
        </p:spPr>
        <p:txBody>
          <a:bodyPr wrap="square" lIns="0" tIns="0" rIns="0" bIns="0" rtlCol="0" anchor="ctr"/>
          <a:lstStyle/>
          <a:p>
            <a:pPr algn="ctr" indent="0" marL="0">
              <a:buNone/>
            </a:pPr>
            <a:r>
              <a:rPr lang="en-US" sz="2400" b="1" dirty="0">
                <a:solidFill>
                  <a:srgbClr val="002C7C"/>
                </a:solidFill>
                <a:latin typeface="Arial" pitchFamily="34" charset="0"/>
                <a:ea typeface="Arial" pitchFamily="34" charset="-122"/>
                <a:cs typeface="Arial" pitchFamily="34" charset="-120"/>
              </a:rPr>
              <a:t>?</a:t>
            </a:r>
            <a:endParaRPr lang="en-US" sz="2400" dirty="0"/>
          </a:p>
        </p:txBody>
      </p:sp>
      <p:sp>
        <p:nvSpPr>
          <p:cNvPr id="6" name="Text 3"/>
          <p:cNvSpPr/>
          <p:nvPr/>
        </p:nvSpPr>
        <p:spPr>
          <a:xfrm>
            <a:off x="1188720" y="310896"/>
            <a:ext cx="722376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Why we do research</a:t>
            </a:r>
            <a:endParaRPr lang="en-US" sz="2400" dirty="0"/>
          </a:p>
        </p:txBody>
      </p:sp>
      <p:sp>
        <p:nvSpPr>
          <p:cNvPr id="7" name="Shape 4"/>
          <p:cNvSpPr/>
          <p:nvPr/>
        </p:nvSpPr>
        <p:spPr>
          <a:xfrm>
            <a:off x="1216152" y="850392"/>
            <a:ext cx="1280160" cy="45720"/>
          </a:xfrm>
          <a:prstGeom prst="rect">
            <a:avLst/>
          </a:prstGeom>
          <a:solidFill>
            <a:srgbClr val="EEA901"/>
          </a:solidFill>
          <a:ln/>
        </p:spPr>
      </p:sp>
      <p:sp>
        <p:nvSpPr>
          <p:cNvPr id="8" name="Text 5"/>
          <p:cNvSpPr/>
          <p:nvPr/>
        </p:nvSpPr>
        <p:spPr>
          <a:xfrm>
            <a:off x="1188720" y="950976"/>
            <a:ext cx="7223760" cy="292608"/>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Pourquoi faire de la recherche</a:t>
            </a:r>
            <a:endParaRPr lang="en-US" sz="1250" dirty="0"/>
          </a:p>
        </p:txBody>
      </p:sp>
      <p:sp>
        <p:nvSpPr>
          <p:cNvPr id="9" name="Shape 6"/>
          <p:cNvSpPr/>
          <p:nvPr/>
        </p:nvSpPr>
        <p:spPr>
          <a:xfrm>
            <a:off x="457200" y="1417320"/>
            <a:ext cx="3886200" cy="2697480"/>
          </a:xfrm>
          <a:prstGeom prst="roundRect">
            <a:avLst>
              <a:gd name="adj" fmla="val 3051"/>
            </a:avLst>
          </a:prstGeom>
          <a:solidFill>
            <a:srgbClr val="EAF0FA"/>
          </a:solidFill>
          <a:ln/>
          <a:effectLst>
            <a:outerShdw sx="100000" sy="100000" kx="0" ky="0" algn="bl" rotWithShape="0" blurRad="88900" dist="38100" dir="5400000">
              <a:srgbClr val="10213F">
                <a:alpha val="15000"/>
              </a:srgbClr>
            </a:outerShdw>
          </a:effectLst>
        </p:spPr>
      </p:sp>
      <p:sp>
        <p:nvSpPr>
          <p:cNvPr id="10" name="Shape 7"/>
          <p:cNvSpPr/>
          <p:nvPr/>
        </p:nvSpPr>
        <p:spPr>
          <a:xfrm>
            <a:off x="777240" y="1691640"/>
            <a:ext cx="676656" cy="676656"/>
          </a:xfrm>
          <a:prstGeom prst="ellipse">
            <a:avLst/>
          </a:prstGeom>
          <a:solidFill>
            <a:srgbClr val="002C7C"/>
          </a:solidFill>
          <a:ln/>
        </p:spPr>
      </p:sp>
      <p:pic>
        <p:nvPicPr>
          <p:cNvPr id="11" name="Image 1" descr="preencoded.png">    </p:cNvPr>
          <p:cNvPicPr>
            <a:picLocks noChangeAspect="1"/>
          </p:cNvPicPr>
          <p:nvPr/>
        </p:nvPicPr>
        <p:blipFill>
          <a:blip r:embed="rId3"/>
          <a:stretch>
            <a:fillRect/>
          </a:stretch>
        </p:blipFill>
        <p:spPr>
          <a:xfrm>
            <a:off x="959937" y="1874337"/>
            <a:ext cx="311262" cy="311262"/>
          </a:xfrm>
          <a:prstGeom prst="rect">
            <a:avLst/>
          </a:prstGeom>
        </p:spPr>
      </p:pic>
      <p:sp>
        <p:nvSpPr>
          <p:cNvPr id="12" name="Text 8"/>
          <p:cNvSpPr/>
          <p:nvPr/>
        </p:nvSpPr>
        <p:spPr>
          <a:xfrm>
            <a:off x="777240" y="2496312"/>
            <a:ext cx="3246120" cy="365760"/>
          </a:xfrm>
          <a:prstGeom prst="rect">
            <a:avLst/>
          </a:prstGeom>
          <a:noFill/>
          <a:ln/>
        </p:spPr>
        <p:txBody>
          <a:bodyPr wrap="square" lIns="0" tIns="0" rIns="0" bIns="0" rtlCol="0" anchor="ctr"/>
          <a:lstStyle/>
          <a:p>
            <a:pPr indent="0" marL="0">
              <a:buNone/>
            </a:pPr>
            <a:r>
              <a:rPr lang="en-US" sz="1700" b="1" dirty="0">
                <a:solidFill>
                  <a:srgbClr val="002C7C"/>
                </a:solidFill>
                <a:latin typeface="Arial" pitchFamily="34" charset="0"/>
                <a:ea typeface="Arial" pitchFamily="34" charset="-122"/>
                <a:cs typeface="Arial" pitchFamily="34" charset="-120"/>
              </a:rPr>
              <a:t>Create new knowledge</a:t>
            </a:r>
            <a:endParaRPr lang="en-US" sz="1700" dirty="0"/>
          </a:p>
        </p:txBody>
      </p:sp>
      <p:sp>
        <p:nvSpPr>
          <p:cNvPr id="13" name="Text 9"/>
          <p:cNvSpPr/>
          <p:nvPr/>
        </p:nvSpPr>
        <p:spPr>
          <a:xfrm>
            <a:off x="777240" y="2825496"/>
            <a:ext cx="3246120" cy="292608"/>
          </a:xfrm>
          <a:prstGeom prst="rect">
            <a:avLst/>
          </a:prstGeom>
          <a:noFill/>
          <a:ln/>
        </p:spPr>
        <p:txBody>
          <a:bodyPr wrap="square" lIns="0" tIns="0" rIns="0" bIns="0" rtlCol="0" anchor="ctr"/>
          <a:lstStyle/>
          <a:p>
            <a:pPr indent="0" marL="0">
              <a:buNone/>
            </a:pPr>
            <a:r>
              <a:rPr lang="en-US" sz="1150" i="1" dirty="0">
                <a:solidFill>
                  <a:srgbClr val="5B6675"/>
                </a:solidFill>
                <a:latin typeface="Arial" pitchFamily="34" charset="0"/>
                <a:ea typeface="Arial" pitchFamily="34" charset="-122"/>
                <a:cs typeface="Arial" pitchFamily="34" charset="-120"/>
              </a:rPr>
              <a:t>Créer de nouvelles connaissances</a:t>
            </a:r>
            <a:endParaRPr lang="en-US" sz="1150" dirty="0"/>
          </a:p>
        </p:txBody>
      </p:sp>
      <p:sp>
        <p:nvSpPr>
          <p:cNvPr id="14" name="Text 10"/>
          <p:cNvSpPr/>
          <p:nvPr/>
        </p:nvSpPr>
        <p:spPr>
          <a:xfrm>
            <a:off x="777240" y="3200400"/>
            <a:ext cx="3246120" cy="777240"/>
          </a:xfrm>
          <a:prstGeom prst="rect">
            <a:avLst/>
          </a:prstGeom>
          <a:noFill/>
          <a:ln/>
        </p:spPr>
        <p:txBody>
          <a:bodyPr wrap="square" lIns="0" tIns="0" rIns="0" bIns="0" rtlCol="0" anchor="ctr"/>
          <a:lstStyle/>
          <a:p>
            <a:pPr indent="0" marL="0">
              <a:lnSpc>
                <a:spcPct val="105000"/>
              </a:lnSpc>
              <a:buNone/>
            </a:pPr>
            <a:r>
              <a:rPr lang="en-US" sz="1150" dirty="0">
                <a:solidFill>
                  <a:srgbClr val="1F2733"/>
                </a:solidFill>
                <a:latin typeface="Arial" pitchFamily="34" charset="0"/>
                <a:ea typeface="Arial" pitchFamily="34" charset="-122"/>
                <a:cs typeface="Arial" pitchFamily="34" charset="-120"/>
              </a:rPr>
              <a:t>The visible product — the thesis, the paper, the result.</a:t>
            </a:r>
            <a:endParaRPr lang="en-US" sz="1150" dirty="0"/>
          </a:p>
          <a:p>
            <a:pPr indent="0" marL="0">
              <a:lnSpc>
                <a:spcPct val="105000"/>
              </a:lnSpc>
              <a:buNone/>
            </a:pPr>
            <a:r>
              <a:rPr lang="en-US" sz="1150" i="1" dirty="0">
                <a:solidFill>
                  <a:srgbClr val="5B6675"/>
                </a:solidFill>
                <a:latin typeface="Arial" pitchFamily="34" charset="0"/>
                <a:ea typeface="Arial" pitchFamily="34" charset="-122"/>
                <a:cs typeface="Arial" pitchFamily="34" charset="-120"/>
              </a:rPr>
              <a:t>Le produit visible — la thèse, l'article, le résultat.</a:t>
            </a:r>
            <a:endParaRPr lang="en-US" sz="1150" dirty="0"/>
          </a:p>
        </p:txBody>
      </p:sp>
      <p:sp>
        <p:nvSpPr>
          <p:cNvPr id="15" name="Shape 11"/>
          <p:cNvSpPr/>
          <p:nvPr/>
        </p:nvSpPr>
        <p:spPr>
          <a:xfrm>
            <a:off x="4800600" y="1417320"/>
            <a:ext cx="3886200" cy="2697480"/>
          </a:xfrm>
          <a:prstGeom prst="roundRect">
            <a:avLst>
              <a:gd name="adj" fmla="val 3051"/>
            </a:avLst>
          </a:prstGeom>
          <a:solidFill>
            <a:srgbClr val="EAF0FA"/>
          </a:solidFill>
          <a:ln/>
          <a:effectLst>
            <a:outerShdw sx="100000" sy="100000" kx="0" ky="0" algn="bl" rotWithShape="0" blurRad="88900" dist="38100" dir="5400000">
              <a:srgbClr val="10213F">
                <a:alpha val="15000"/>
              </a:srgbClr>
            </a:outerShdw>
          </a:effectLst>
        </p:spPr>
      </p:sp>
      <p:sp>
        <p:nvSpPr>
          <p:cNvPr id="16" name="Shape 12"/>
          <p:cNvSpPr/>
          <p:nvPr/>
        </p:nvSpPr>
        <p:spPr>
          <a:xfrm>
            <a:off x="5120640" y="1691640"/>
            <a:ext cx="676656" cy="676656"/>
          </a:xfrm>
          <a:prstGeom prst="ellipse">
            <a:avLst/>
          </a:prstGeom>
          <a:solidFill>
            <a:srgbClr val="EEA901"/>
          </a:solidFill>
          <a:ln/>
        </p:spPr>
      </p:sp>
      <p:pic>
        <p:nvPicPr>
          <p:cNvPr id="17" name="Image 2" descr="preencoded.png">    </p:cNvPr>
          <p:cNvPicPr>
            <a:picLocks noChangeAspect="1"/>
          </p:cNvPicPr>
          <p:nvPr/>
        </p:nvPicPr>
        <p:blipFill>
          <a:blip r:embed="rId4"/>
          <a:stretch>
            <a:fillRect/>
          </a:stretch>
        </p:blipFill>
        <p:spPr>
          <a:xfrm>
            <a:off x="5303337" y="1874337"/>
            <a:ext cx="311262" cy="311262"/>
          </a:xfrm>
          <a:prstGeom prst="rect">
            <a:avLst/>
          </a:prstGeom>
        </p:spPr>
      </p:pic>
      <p:sp>
        <p:nvSpPr>
          <p:cNvPr id="18" name="Text 13"/>
          <p:cNvSpPr/>
          <p:nvPr/>
        </p:nvSpPr>
        <p:spPr>
          <a:xfrm>
            <a:off x="5120640" y="2496312"/>
            <a:ext cx="3246120" cy="365760"/>
          </a:xfrm>
          <a:prstGeom prst="rect">
            <a:avLst/>
          </a:prstGeom>
          <a:noFill/>
          <a:ln/>
        </p:spPr>
        <p:txBody>
          <a:bodyPr wrap="square" lIns="0" tIns="0" rIns="0" bIns="0" rtlCol="0" anchor="ctr"/>
          <a:lstStyle/>
          <a:p>
            <a:pPr indent="0" marL="0">
              <a:buNone/>
            </a:pPr>
            <a:r>
              <a:rPr lang="en-US" sz="1700" b="1" dirty="0">
                <a:solidFill>
                  <a:srgbClr val="002C7C"/>
                </a:solidFill>
                <a:latin typeface="Arial" pitchFamily="34" charset="0"/>
                <a:ea typeface="Arial" pitchFamily="34" charset="-122"/>
                <a:cs typeface="Arial" pitchFamily="34" charset="-120"/>
              </a:rPr>
              <a:t>Learn to think as a researcher</a:t>
            </a:r>
            <a:endParaRPr lang="en-US" sz="1700" dirty="0"/>
          </a:p>
        </p:txBody>
      </p:sp>
      <p:sp>
        <p:nvSpPr>
          <p:cNvPr id="19" name="Text 14"/>
          <p:cNvSpPr/>
          <p:nvPr/>
        </p:nvSpPr>
        <p:spPr>
          <a:xfrm>
            <a:off x="5120640" y="2825496"/>
            <a:ext cx="3246120" cy="292608"/>
          </a:xfrm>
          <a:prstGeom prst="rect">
            <a:avLst/>
          </a:prstGeom>
          <a:noFill/>
          <a:ln/>
        </p:spPr>
        <p:txBody>
          <a:bodyPr wrap="square" lIns="0" tIns="0" rIns="0" bIns="0" rtlCol="0" anchor="ctr"/>
          <a:lstStyle/>
          <a:p>
            <a:pPr indent="0" marL="0">
              <a:buNone/>
            </a:pPr>
            <a:r>
              <a:rPr lang="en-US" sz="1150" i="1" dirty="0">
                <a:solidFill>
                  <a:srgbClr val="5B6675"/>
                </a:solidFill>
                <a:latin typeface="Arial" pitchFamily="34" charset="0"/>
                <a:ea typeface="Arial" pitchFamily="34" charset="-122"/>
                <a:cs typeface="Arial" pitchFamily="34" charset="-120"/>
              </a:rPr>
              <a:t>Apprendre à penser en chercheur</a:t>
            </a:r>
            <a:endParaRPr lang="en-US" sz="1150" dirty="0"/>
          </a:p>
        </p:txBody>
      </p:sp>
      <p:sp>
        <p:nvSpPr>
          <p:cNvPr id="20" name="Text 15"/>
          <p:cNvSpPr/>
          <p:nvPr/>
        </p:nvSpPr>
        <p:spPr>
          <a:xfrm>
            <a:off x="5120640" y="3200400"/>
            <a:ext cx="3246120" cy="777240"/>
          </a:xfrm>
          <a:prstGeom prst="rect">
            <a:avLst/>
          </a:prstGeom>
          <a:noFill/>
          <a:ln/>
        </p:spPr>
        <p:txBody>
          <a:bodyPr wrap="square" lIns="0" tIns="0" rIns="0" bIns="0" rtlCol="0" anchor="ctr"/>
          <a:lstStyle/>
          <a:p>
            <a:pPr indent="0" marL="0">
              <a:lnSpc>
                <a:spcPct val="105000"/>
              </a:lnSpc>
              <a:buNone/>
            </a:pPr>
            <a:r>
              <a:rPr lang="en-US" sz="1150" dirty="0">
                <a:solidFill>
                  <a:srgbClr val="1F2733"/>
                </a:solidFill>
                <a:latin typeface="Arial" pitchFamily="34" charset="0"/>
                <a:ea typeface="Arial" pitchFamily="34" charset="-122"/>
                <a:cs typeface="Arial" pitchFamily="34" charset="-120"/>
              </a:rPr>
              <a:t>The skill the degree certifies — and what AI can quietly erode.</a:t>
            </a:r>
            <a:endParaRPr lang="en-US" sz="1150" dirty="0"/>
          </a:p>
          <a:p>
            <a:pPr indent="0" marL="0">
              <a:lnSpc>
                <a:spcPct val="105000"/>
              </a:lnSpc>
              <a:buNone/>
            </a:pPr>
            <a:r>
              <a:rPr lang="en-US" sz="1150" i="1" dirty="0">
                <a:solidFill>
                  <a:srgbClr val="5B6675"/>
                </a:solidFill>
                <a:latin typeface="Arial" pitchFamily="34" charset="0"/>
                <a:ea typeface="Arial" pitchFamily="34" charset="-122"/>
                <a:cs typeface="Arial" pitchFamily="34" charset="-120"/>
              </a:rPr>
              <a:t>La compétence que le diplôme atteste — et que l'IA peut éroder.</a:t>
            </a:r>
            <a:endParaRPr lang="en-US" sz="1150" dirty="0"/>
          </a:p>
        </p:txBody>
      </p:sp>
      <p:sp>
        <p:nvSpPr>
          <p:cNvPr id="21" name="Text 16"/>
          <p:cNvSpPr/>
          <p:nvPr/>
        </p:nvSpPr>
        <p:spPr>
          <a:xfrm>
            <a:off x="457200" y="4261104"/>
            <a:ext cx="8229600" cy="365760"/>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This second purpose is why HOW we use AI matters.  ·  C'est pourquoi la manière d'utiliser l'IA est essentielle.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5" name="Text 2"/>
          <p:cNvSpPr/>
          <p:nvPr/>
        </p:nvSpPr>
        <p:spPr>
          <a:xfrm>
            <a:off x="457200" y="365760"/>
            <a:ext cx="548640" cy="548640"/>
          </a:xfrm>
          <a:prstGeom prst="rect">
            <a:avLst/>
          </a:prstGeom>
          <a:noFill/>
          <a:ln/>
        </p:spPr>
        <p:txBody>
          <a:bodyPr wrap="square" lIns="0" tIns="0" rIns="0" bIns="0" rtlCol="0" anchor="ctr"/>
          <a:lstStyle/>
          <a:p>
            <a:pPr algn="ctr" indent="0" marL="0">
              <a:buNone/>
            </a:pPr>
            <a:r>
              <a:rPr lang="en-US" sz="2400" b="1" dirty="0">
                <a:solidFill>
                  <a:srgbClr val="002C7C"/>
                </a:solidFill>
                <a:latin typeface="Arial" pitchFamily="34" charset="0"/>
                <a:ea typeface="Arial" pitchFamily="34" charset="-122"/>
                <a:cs typeface="Arial" pitchFamily="34" charset="-120"/>
              </a:rPr>
              <a:t>✓</a:t>
            </a:r>
            <a:endParaRPr lang="en-US" sz="2400" dirty="0"/>
          </a:p>
        </p:txBody>
      </p:sp>
      <p:sp>
        <p:nvSpPr>
          <p:cNvPr id="6" name="Text 3"/>
          <p:cNvSpPr/>
          <p:nvPr/>
        </p:nvSpPr>
        <p:spPr>
          <a:xfrm>
            <a:off x="1188720" y="310896"/>
            <a:ext cx="722376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The guiding principle</a:t>
            </a:r>
            <a:endParaRPr lang="en-US" sz="2400" dirty="0"/>
          </a:p>
        </p:txBody>
      </p:sp>
      <p:sp>
        <p:nvSpPr>
          <p:cNvPr id="7" name="Shape 4"/>
          <p:cNvSpPr/>
          <p:nvPr/>
        </p:nvSpPr>
        <p:spPr>
          <a:xfrm>
            <a:off x="1216152" y="850392"/>
            <a:ext cx="1280160" cy="45720"/>
          </a:xfrm>
          <a:prstGeom prst="rect">
            <a:avLst/>
          </a:prstGeom>
          <a:solidFill>
            <a:srgbClr val="EEA901"/>
          </a:solidFill>
          <a:ln/>
        </p:spPr>
      </p:sp>
      <p:sp>
        <p:nvSpPr>
          <p:cNvPr id="8" name="Text 5"/>
          <p:cNvSpPr/>
          <p:nvPr/>
        </p:nvSpPr>
        <p:spPr>
          <a:xfrm>
            <a:off x="1188720" y="950976"/>
            <a:ext cx="7223760" cy="292608"/>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Le principe directeur</a:t>
            </a:r>
            <a:endParaRPr lang="en-US" sz="1250" dirty="0"/>
          </a:p>
        </p:txBody>
      </p:sp>
      <p:sp>
        <p:nvSpPr>
          <p:cNvPr id="9" name="Shape 6"/>
          <p:cNvSpPr/>
          <p:nvPr/>
        </p:nvSpPr>
        <p:spPr>
          <a:xfrm>
            <a:off x="457200" y="1417320"/>
            <a:ext cx="3886200" cy="1920240"/>
          </a:xfrm>
          <a:prstGeom prst="roundRect">
            <a:avLst>
              <a:gd name="adj" fmla="val 4286"/>
            </a:avLst>
          </a:prstGeom>
          <a:solidFill>
            <a:srgbClr val="FFFFFF"/>
          </a:solidFill>
          <a:ln/>
          <a:effectLst>
            <a:outerShdw sx="100000" sy="100000" kx="0" ky="0" algn="bl" rotWithShape="0" blurRad="88900" dist="38100" dir="5400000">
              <a:srgbClr val="10213F">
                <a:alpha val="15000"/>
              </a:srgbClr>
            </a:outerShdw>
          </a:effectLst>
        </p:spPr>
      </p:sp>
      <p:sp>
        <p:nvSpPr>
          <p:cNvPr id="10" name="Shape 7"/>
          <p:cNvSpPr/>
          <p:nvPr/>
        </p:nvSpPr>
        <p:spPr>
          <a:xfrm>
            <a:off x="713232" y="1673352"/>
            <a:ext cx="566928" cy="566928"/>
          </a:xfrm>
          <a:prstGeom prst="ellipse">
            <a:avLst/>
          </a:prstGeom>
          <a:solidFill>
            <a:srgbClr val="002C7C"/>
          </a:solidFill>
          <a:ln/>
        </p:spPr>
      </p:sp>
      <p:pic>
        <p:nvPicPr>
          <p:cNvPr id="11" name="Image 1" descr="preencoded.png">    </p:cNvPr>
          <p:cNvPicPr>
            <a:picLocks noChangeAspect="1"/>
          </p:cNvPicPr>
          <p:nvPr/>
        </p:nvPicPr>
        <p:blipFill>
          <a:blip r:embed="rId3"/>
          <a:stretch>
            <a:fillRect/>
          </a:stretch>
        </p:blipFill>
        <p:spPr>
          <a:xfrm>
            <a:off x="866303" y="1826423"/>
            <a:ext cx="260787" cy="260787"/>
          </a:xfrm>
          <a:prstGeom prst="rect">
            <a:avLst/>
          </a:prstGeom>
        </p:spPr>
      </p:pic>
      <p:sp>
        <p:nvSpPr>
          <p:cNvPr id="12" name="Text 8"/>
          <p:cNvSpPr/>
          <p:nvPr/>
        </p:nvSpPr>
        <p:spPr>
          <a:xfrm>
            <a:off x="1417320" y="1636776"/>
            <a:ext cx="2788920" cy="640080"/>
          </a:xfrm>
          <a:prstGeom prst="rect">
            <a:avLst/>
          </a:prstGeom>
          <a:noFill/>
          <a:ln/>
        </p:spPr>
        <p:txBody>
          <a:bodyPr wrap="square" lIns="0" tIns="0" rIns="0" bIns="0" rtlCol="0" anchor="ctr"/>
          <a:lstStyle/>
          <a:p>
            <a:pPr indent="0" marL="0">
              <a:buNone/>
            </a:pPr>
            <a:r>
              <a:rPr lang="en-US" sz="1400" b="1" dirty="0">
                <a:solidFill>
                  <a:srgbClr val="002C7C"/>
                </a:solidFill>
                <a:latin typeface="Arial" pitchFamily="34" charset="0"/>
                <a:ea typeface="Arial" pitchFamily="34" charset="-122"/>
                <a:cs typeface="Arial" pitchFamily="34" charset="-120"/>
              </a:rPr>
              <a:t>Let AI absorb friction that doesn't teach</a:t>
            </a:r>
            <a:endParaRPr lang="en-US" sz="1400" dirty="0"/>
          </a:p>
        </p:txBody>
      </p:sp>
      <p:sp>
        <p:nvSpPr>
          <p:cNvPr id="13" name="Text 9"/>
          <p:cNvSpPr/>
          <p:nvPr/>
        </p:nvSpPr>
        <p:spPr>
          <a:xfrm>
            <a:off x="713232" y="2423160"/>
            <a:ext cx="3383280" cy="822960"/>
          </a:xfrm>
          <a:prstGeom prst="rect">
            <a:avLst/>
          </a:prstGeom>
          <a:noFill/>
          <a:ln/>
        </p:spPr>
        <p:txBody>
          <a:bodyPr wrap="square" lIns="0" tIns="0" rIns="0" bIns="0" rtlCol="0" anchor="ctr"/>
          <a:lstStyle/>
          <a:p>
            <a:pPr indent="0" marL="0">
              <a:lnSpc>
                <a:spcPct val="112000"/>
              </a:lnSpc>
              <a:buNone/>
            </a:pPr>
            <a:r>
              <a:rPr lang="en-US" sz="1100" dirty="0">
                <a:solidFill>
                  <a:srgbClr val="1F2733"/>
                </a:solidFill>
                <a:latin typeface="Arial" pitchFamily="34" charset="0"/>
                <a:ea typeface="Arial" pitchFamily="34" charset="-122"/>
                <a:cs typeface="Arial" pitchFamily="34" charset="-120"/>
              </a:rPr>
              <a:t>finding papers · formatting · translating</a:t>
            </a:r>
            <a:endParaRPr lang="en-US" sz="1100" dirty="0"/>
          </a:p>
          <a:p>
            <a:pPr indent="0" marL="0">
              <a:lnSpc>
                <a:spcPct val="112000"/>
              </a:lnSpc>
              <a:buNone/>
            </a:pPr>
            <a:r>
              <a:rPr lang="en-US" sz="1100" dirty="0">
                <a:solidFill>
                  <a:srgbClr val="1F2733"/>
                </a:solidFill>
                <a:latin typeface="Arial" pitchFamily="34" charset="0"/>
                <a:ea typeface="Arial" pitchFamily="34" charset="-122"/>
                <a:cs typeface="Arial" pitchFamily="34" charset="-120"/>
              </a:rPr>
              <a:t>summarizing for orientation</a:t>
            </a:r>
            <a:endParaRPr lang="en-US" sz="1100" dirty="0"/>
          </a:p>
          <a:p>
            <a:pPr indent="0" marL="0">
              <a:lnSpc>
                <a:spcPct val="112000"/>
              </a:lnSpc>
              <a:buNone/>
            </a:pPr>
            <a:r>
              <a:rPr lang="en-US" sz="1100" i="1" dirty="0">
                <a:solidFill>
                  <a:srgbClr val="5B6675"/>
                </a:solidFill>
                <a:latin typeface="Arial" pitchFamily="34" charset="0"/>
                <a:ea typeface="Arial" pitchFamily="34" charset="-122"/>
                <a:cs typeface="Arial" pitchFamily="34" charset="-120"/>
              </a:rPr>
              <a:t>trouver des articles · mise en forme · traduction</a:t>
            </a:r>
            <a:endParaRPr lang="en-US" sz="1100" dirty="0"/>
          </a:p>
        </p:txBody>
      </p:sp>
      <p:sp>
        <p:nvSpPr>
          <p:cNvPr id="14" name="Shape 10"/>
          <p:cNvSpPr/>
          <p:nvPr/>
        </p:nvSpPr>
        <p:spPr>
          <a:xfrm>
            <a:off x="4800600" y="1417320"/>
            <a:ext cx="3886200" cy="1920240"/>
          </a:xfrm>
          <a:prstGeom prst="roundRect">
            <a:avLst>
              <a:gd name="adj" fmla="val 4286"/>
            </a:avLst>
          </a:prstGeom>
          <a:solidFill>
            <a:srgbClr val="EAF0FA"/>
          </a:solidFill>
          <a:ln/>
          <a:effectLst>
            <a:outerShdw sx="100000" sy="100000" kx="0" ky="0" algn="bl" rotWithShape="0" blurRad="88900" dist="38100" dir="5400000">
              <a:srgbClr val="10213F">
                <a:alpha val="15000"/>
              </a:srgbClr>
            </a:outerShdw>
          </a:effectLst>
        </p:spPr>
      </p:sp>
      <p:sp>
        <p:nvSpPr>
          <p:cNvPr id="15" name="Shape 11"/>
          <p:cNvSpPr/>
          <p:nvPr/>
        </p:nvSpPr>
        <p:spPr>
          <a:xfrm>
            <a:off x="5056632" y="1673352"/>
            <a:ext cx="566928" cy="566928"/>
          </a:xfrm>
          <a:prstGeom prst="ellipse">
            <a:avLst/>
          </a:prstGeom>
          <a:solidFill>
            <a:srgbClr val="EEA901"/>
          </a:solidFill>
          <a:ln/>
        </p:spPr>
      </p:sp>
      <p:pic>
        <p:nvPicPr>
          <p:cNvPr id="16" name="Image 2" descr="preencoded.png">    </p:cNvPr>
          <p:cNvPicPr>
            <a:picLocks noChangeAspect="1"/>
          </p:cNvPicPr>
          <p:nvPr/>
        </p:nvPicPr>
        <p:blipFill>
          <a:blip r:embed="rId4"/>
          <a:stretch>
            <a:fillRect/>
          </a:stretch>
        </p:blipFill>
        <p:spPr>
          <a:xfrm>
            <a:off x="5209703" y="1826423"/>
            <a:ext cx="260787" cy="260787"/>
          </a:xfrm>
          <a:prstGeom prst="rect">
            <a:avLst/>
          </a:prstGeom>
        </p:spPr>
      </p:pic>
      <p:sp>
        <p:nvSpPr>
          <p:cNvPr id="17" name="Text 12"/>
          <p:cNvSpPr/>
          <p:nvPr/>
        </p:nvSpPr>
        <p:spPr>
          <a:xfrm>
            <a:off x="5760720" y="1636776"/>
            <a:ext cx="2788920" cy="640080"/>
          </a:xfrm>
          <a:prstGeom prst="rect">
            <a:avLst/>
          </a:prstGeom>
          <a:noFill/>
          <a:ln/>
        </p:spPr>
        <p:txBody>
          <a:bodyPr wrap="square" lIns="0" tIns="0" rIns="0" bIns="0" rtlCol="0" anchor="ctr"/>
          <a:lstStyle/>
          <a:p>
            <a:pPr indent="0" marL="0">
              <a:buNone/>
            </a:pPr>
            <a:r>
              <a:rPr lang="en-US" sz="1400" b="1" dirty="0">
                <a:solidFill>
                  <a:srgbClr val="002C7C"/>
                </a:solidFill>
                <a:latin typeface="Arial" pitchFamily="34" charset="0"/>
                <a:ea typeface="Arial" pitchFamily="34" charset="-122"/>
                <a:cs typeface="Arial" pitchFamily="34" charset="-120"/>
              </a:rPr>
              <a:t>Preserve friction that does teach</a:t>
            </a:r>
            <a:endParaRPr lang="en-US" sz="1400" dirty="0"/>
          </a:p>
        </p:txBody>
      </p:sp>
      <p:sp>
        <p:nvSpPr>
          <p:cNvPr id="18" name="Text 13"/>
          <p:cNvSpPr/>
          <p:nvPr/>
        </p:nvSpPr>
        <p:spPr>
          <a:xfrm>
            <a:off x="5056632" y="2423160"/>
            <a:ext cx="3383280" cy="822960"/>
          </a:xfrm>
          <a:prstGeom prst="rect">
            <a:avLst/>
          </a:prstGeom>
          <a:noFill/>
          <a:ln/>
        </p:spPr>
        <p:txBody>
          <a:bodyPr wrap="square" lIns="0" tIns="0" rIns="0" bIns="0" rtlCol="0" anchor="ctr"/>
          <a:lstStyle/>
          <a:p>
            <a:pPr indent="0" marL="0">
              <a:lnSpc>
                <a:spcPct val="112000"/>
              </a:lnSpc>
              <a:buNone/>
            </a:pPr>
            <a:r>
              <a:rPr lang="en-US" sz="1100" dirty="0">
                <a:solidFill>
                  <a:srgbClr val="1F2733"/>
                </a:solidFill>
                <a:latin typeface="Arial" pitchFamily="34" charset="0"/>
                <a:ea typeface="Arial" pitchFamily="34" charset="-122"/>
                <a:cs typeface="Arial" pitchFamily="34" charset="-120"/>
              </a:rPr>
              <a:t>judgment · forming your own question</a:t>
            </a:r>
            <a:endParaRPr lang="en-US" sz="1100" dirty="0"/>
          </a:p>
          <a:p>
            <a:pPr indent="0" marL="0">
              <a:lnSpc>
                <a:spcPct val="112000"/>
              </a:lnSpc>
              <a:buNone/>
            </a:pPr>
            <a:r>
              <a:rPr lang="en-US" sz="1100" dirty="0">
                <a:solidFill>
                  <a:srgbClr val="1F2733"/>
                </a:solidFill>
                <a:latin typeface="Arial" pitchFamily="34" charset="0"/>
                <a:ea typeface="Arial" pitchFamily="34" charset="-122"/>
                <a:cs typeface="Arial" pitchFamily="34" charset="-120"/>
              </a:rPr>
              <a:t>critical evaluation of sources</a:t>
            </a:r>
            <a:endParaRPr lang="en-US" sz="1100" dirty="0"/>
          </a:p>
          <a:p>
            <a:pPr indent="0" marL="0">
              <a:lnSpc>
                <a:spcPct val="112000"/>
              </a:lnSpc>
              <a:buNone/>
            </a:pPr>
            <a:r>
              <a:rPr lang="en-US" sz="1100" i="1" dirty="0">
                <a:solidFill>
                  <a:srgbClr val="5B6675"/>
                </a:solidFill>
                <a:latin typeface="Arial" pitchFamily="34" charset="0"/>
                <a:ea typeface="Arial" pitchFamily="34" charset="-122"/>
                <a:cs typeface="Arial" pitchFamily="34" charset="-120"/>
              </a:rPr>
              <a:t>jugement · formuler sa question · évaluation critique</a:t>
            </a:r>
            <a:endParaRPr lang="en-US" sz="1100" dirty="0"/>
          </a:p>
        </p:txBody>
      </p:sp>
      <p:sp>
        <p:nvSpPr>
          <p:cNvPr id="19" name="Shape 14"/>
          <p:cNvSpPr/>
          <p:nvPr/>
        </p:nvSpPr>
        <p:spPr>
          <a:xfrm>
            <a:off x="457200" y="3520440"/>
            <a:ext cx="8229600" cy="1078992"/>
          </a:xfrm>
          <a:prstGeom prst="roundRect">
            <a:avLst>
              <a:gd name="adj" fmla="val 7627"/>
            </a:avLst>
          </a:prstGeom>
          <a:solidFill>
            <a:srgbClr val="002C7C"/>
          </a:solidFill>
          <a:ln/>
          <a:effectLst>
            <a:outerShdw sx="100000" sy="100000" kx="0" ky="0" algn="bl" rotWithShape="0" blurRad="88900" dist="38100" dir="5400000">
              <a:srgbClr val="10213F">
                <a:alpha val="15000"/>
              </a:srgbClr>
            </a:outerShdw>
          </a:effectLst>
        </p:spPr>
      </p:sp>
      <p:sp>
        <p:nvSpPr>
          <p:cNvPr id="20" name="Shape 15"/>
          <p:cNvSpPr/>
          <p:nvPr/>
        </p:nvSpPr>
        <p:spPr>
          <a:xfrm>
            <a:off x="713232" y="3739896"/>
            <a:ext cx="640080" cy="640080"/>
          </a:xfrm>
          <a:prstGeom prst="ellipse">
            <a:avLst/>
          </a:prstGeom>
          <a:solidFill>
            <a:srgbClr val="EEA901"/>
          </a:solidFill>
          <a:ln/>
        </p:spPr>
      </p:sp>
      <p:pic>
        <p:nvPicPr>
          <p:cNvPr id="21" name="Image 3" descr="preencoded.png">    </p:cNvPr>
          <p:cNvPicPr>
            <a:picLocks noChangeAspect="1"/>
          </p:cNvPicPr>
          <p:nvPr/>
        </p:nvPicPr>
        <p:blipFill>
          <a:blip r:embed="rId5"/>
          <a:stretch>
            <a:fillRect/>
          </a:stretch>
        </p:blipFill>
        <p:spPr>
          <a:xfrm>
            <a:off x="886054" y="3912718"/>
            <a:ext cx="294437" cy="294437"/>
          </a:xfrm>
          <a:prstGeom prst="rect">
            <a:avLst/>
          </a:prstGeom>
        </p:spPr>
      </p:pic>
      <p:sp>
        <p:nvSpPr>
          <p:cNvPr id="22" name="Text 16"/>
          <p:cNvSpPr/>
          <p:nvPr/>
        </p:nvSpPr>
        <p:spPr>
          <a:xfrm>
            <a:off x="1554480" y="3593592"/>
            <a:ext cx="6949440" cy="91440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Arial" pitchFamily="34" charset="0"/>
                <a:ea typeface="Arial" pitchFamily="34" charset="-122"/>
                <a:cs typeface="Arial" pitchFamily="34" charset="-120"/>
              </a:rPr>
              <a:t>The litmus test:  Can the student explain and defend the output as their own thinking?</a:t>
            </a:r>
            <a:endParaRPr lang="en-US" sz="1250" dirty="0"/>
          </a:p>
          <a:p>
            <a:pPr indent="0" marL="0">
              <a:lnSpc>
                <a:spcPct val="115000"/>
              </a:lnSpc>
              <a:buNone/>
            </a:pPr>
            <a:r>
              <a:rPr lang="en-US" sz="1250" i="1" dirty="0">
                <a:solidFill>
                  <a:srgbClr val="C7D3EA"/>
                </a:solidFill>
                <a:latin typeface="Arial" pitchFamily="34" charset="0"/>
                <a:ea typeface="Arial" pitchFamily="34" charset="-122"/>
                <a:cs typeface="Arial" pitchFamily="34" charset="-120"/>
              </a:rPr>
              <a:t>Le test décisif : l'étudiant peut-il expliquer et défendre le résultat comme sa propre réflexion ?</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5" name="Text 2"/>
          <p:cNvSpPr/>
          <p:nvPr/>
        </p:nvSpPr>
        <p:spPr>
          <a:xfrm>
            <a:off x="457200" y="365760"/>
            <a:ext cx="548640" cy="548640"/>
          </a:xfrm>
          <a:prstGeom prst="rect">
            <a:avLst/>
          </a:prstGeom>
          <a:noFill/>
          <a:ln/>
        </p:spPr>
        <p:txBody>
          <a:bodyPr wrap="square" lIns="0" tIns="0" rIns="0" bIns="0" rtlCol="0" anchor="ctr"/>
          <a:lstStyle/>
          <a:p>
            <a:pPr algn="ctr" indent="0" marL="0">
              <a:buNone/>
            </a:pPr>
            <a:r>
              <a:rPr lang="en-US" sz="2400" b="1" dirty="0">
                <a:solidFill>
                  <a:srgbClr val="002C7C"/>
                </a:solidFill>
                <a:latin typeface="Arial" pitchFamily="34" charset="0"/>
                <a:ea typeface="Arial" pitchFamily="34" charset="-122"/>
                <a:cs typeface="Arial" pitchFamily="34" charset="-120"/>
              </a:rPr>
              <a:t>5</a:t>
            </a:r>
            <a:endParaRPr lang="en-US" sz="2400" dirty="0"/>
          </a:p>
        </p:txBody>
      </p:sp>
      <p:sp>
        <p:nvSpPr>
          <p:cNvPr id="6" name="Text 3"/>
          <p:cNvSpPr/>
          <p:nvPr/>
        </p:nvSpPr>
        <p:spPr>
          <a:xfrm>
            <a:off x="1188720" y="310896"/>
            <a:ext cx="722376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Five first steps</a:t>
            </a:r>
            <a:endParaRPr lang="en-US" sz="2400" dirty="0"/>
          </a:p>
        </p:txBody>
      </p:sp>
      <p:sp>
        <p:nvSpPr>
          <p:cNvPr id="7" name="Shape 4"/>
          <p:cNvSpPr/>
          <p:nvPr/>
        </p:nvSpPr>
        <p:spPr>
          <a:xfrm>
            <a:off x="1216152" y="850392"/>
            <a:ext cx="1280160" cy="45720"/>
          </a:xfrm>
          <a:prstGeom prst="rect">
            <a:avLst/>
          </a:prstGeom>
          <a:solidFill>
            <a:srgbClr val="EEA901"/>
          </a:solidFill>
          <a:ln/>
        </p:spPr>
      </p:sp>
      <p:sp>
        <p:nvSpPr>
          <p:cNvPr id="8" name="Text 5"/>
          <p:cNvSpPr/>
          <p:nvPr/>
        </p:nvSpPr>
        <p:spPr>
          <a:xfrm>
            <a:off x="1188720" y="950976"/>
            <a:ext cx="7223760" cy="292608"/>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Cinq premiers pas</a:t>
            </a:r>
            <a:endParaRPr lang="en-US" sz="1250" dirty="0"/>
          </a:p>
        </p:txBody>
      </p:sp>
      <p:sp>
        <p:nvSpPr>
          <p:cNvPr id="9" name="Shape 6"/>
          <p:cNvSpPr/>
          <p:nvPr/>
        </p:nvSpPr>
        <p:spPr>
          <a:xfrm>
            <a:off x="457200" y="1463040"/>
            <a:ext cx="8229600" cy="585216"/>
          </a:xfrm>
          <a:prstGeom prst="roundRect">
            <a:avLst>
              <a:gd name="adj" fmla="val 14063"/>
            </a:avLst>
          </a:prstGeom>
          <a:solidFill>
            <a:srgbClr val="EAF0FA"/>
          </a:solidFill>
          <a:ln/>
          <a:effectLst>
            <a:outerShdw sx="100000" sy="100000" kx="0" ky="0" algn="bl" rotWithShape="0" blurRad="88900" dist="38100" dir="5400000">
              <a:srgbClr val="10213F">
                <a:alpha val="15000"/>
              </a:srgbClr>
            </a:outerShdw>
          </a:effectLst>
        </p:spPr>
      </p:sp>
      <p:sp>
        <p:nvSpPr>
          <p:cNvPr id="10" name="Shape 7"/>
          <p:cNvSpPr/>
          <p:nvPr/>
        </p:nvSpPr>
        <p:spPr>
          <a:xfrm>
            <a:off x="603504" y="1554480"/>
            <a:ext cx="402336" cy="402336"/>
          </a:xfrm>
          <a:prstGeom prst="ellipse">
            <a:avLst/>
          </a:prstGeom>
          <a:solidFill>
            <a:srgbClr val="002C7C"/>
          </a:solidFill>
          <a:ln/>
        </p:spPr>
      </p:sp>
      <p:pic>
        <p:nvPicPr>
          <p:cNvPr id="11" name="Image 1" descr="preencoded.png">    </p:cNvPr>
          <p:cNvPicPr>
            <a:picLocks noChangeAspect="1"/>
          </p:cNvPicPr>
          <p:nvPr/>
        </p:nvPicPr>
        <p:blipFill>
          <a:blip r:embed="rId3"/>
          <a:stretch>
            <a:fillRect/>
          </a:stretch>
        </p:blipFill>
        <p:spPr>
          <a:xfrm>
            <a:off x="712135" y="1663111"/>
            <a:ext cx="185075" cy="185075"/>
          </a:xfrm>
          <a:prstGeom prst="rect">
            <a:avLst/>
          </a:prstGeom>
        </p:spPr>
      </p:pic>
      <p:sp>
        <p:nvSpPr>
          <p:cNvPr id="12" name="Shape 8"/>
          <p:cNvSpPr/>
          <p:nvPr/>
        </p:nvSpPr>
        <p:spPr>
          <a:xfrm>
            <a:off x="1152144" y="1554480"/>
            <a:ext cx="402336" cy="402336"/>
          </a:xfrm>
          <a:prstGeom prst="ellipse">
            <a:avLst/>
          </a:prstGeom>
          <a:solidFill>
            <a:srgbClr val="EEA901"/>
          </a:solidFill>
          <a:ln/>
        </p:spPr>
      </p:sp>
      <p:sp>
        <p:nvSpPr>
          <p:cNvPr id="13" name="Text 9"/>
          <p:cNvSpPr/>
          <p:nvPr/>
        </p:nvSpPr>
        <p:spPr>
          <a:xfrm>
            <a:off x="1152144" y="1554480"/>
            <a:ext cx="402336" cy="402336"/>
          </a:xfrm>
          <a:prstGeom prst="rect">
            <a:avLst/>
          </a:prstGeom>
          <a:noFill/>
          <a:ln/>
        </p:spPr>
        <p:txBody>
          <a:bodyPr wrap="square" lIns="0" tIns="0" rIns="0" bIns="0" rtlCol="0" anchor="ctr"/>
          <a:lstStyle/>
          <a:p>
            <a:pPr algn="ctr" indent="0" marL="0">
              <a:buNone/>
            </a:pPr>
            <a:r>
              <a:rPr lang="en-US" sz="1800" b="1" dirty="0">
                <a:solidFill>
                  <a:srgbClr val="002C7C"/>
                </a:solidFill>
                <a:latin typeface="Arial" pitchFamily="34" charset="0"/>
                <a:ea typeface="Arial" pitchFamily="34" charset="-122"/>
                <a:cs typeface="Arial" pitchFamily="34" charset="-120"/>
              </a:rPr>
              <a:t>1</a:t>
            </a:r>
            <a:endParaRPr lang="en-US" sz="1800" dirty="0"/>
          </a:p>
        </p:txBody>
      </p:sp>
      <p:sp>
        <p:nvSpPr>
          <p:cNvPr id="14" name="Text 10"/>
          <p:cNvSpPr/>
          <p:nvPr/>
        </p:nvSpPr>
        <p:spPr>
          <a:xfrm>
            <a:off x="1783080" y="1463040"/>
            <a:ext cx="3931920" cy="585216"/>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From interest to a question</a:t>
            </a:r>
            <a:endParaRPr lang="en-US" sz="1500" dirty="0"/>
          </a:p>
        </p:txBody>
      </p:sp>
      <p:sp>
        <p:nvSpPr>
          <p:cNvPr id="15" name="Text 11"/>
          <p:cNvSpPr/>
          <p:nvPr/>
        </p:nvSpPr>
        <p:spPr>
          <a:xfrm>
            <a:off x="5760720" y="1463040"/>
            <a:ext cx="2788920" cy="585216"/>
          </a:xfrm>
          <a:prstGeom prst="rect">
            <a:avLst/>
          </a:prstGeom>
          <a:noFill/>
          <a:ln/>
        </p:spPr>
        <p:txBody>
          <a:bodyPr wrap="square" lIns="0" tIns="0" rIns="0" bIns="0" rtlCol="0" anchor="ctr"/>
          <a:lstStyle/>
          <a:p>
            <a:pPr indent="0" marL="0">
              <a:buNone/>
            </a:pPr>
            <a:r>
              <a:rPr lang="en-US" sz="1150" i="1" dirty="0">
                <a:solidFill>
                  <a:srgbClr val="5B6675"/>
                </a:solidFill>
                <a:latin typeface="Arial" pitchFamily="34" charset="0"/>
                <a:ea typeface="Arial" pitchFamily="34" charset="-122"/>
                <a:cs typeface="Arial" pitchFamily="34" charset="-120"/>
              </a:rPr>
              <a:t>De l'intérêt à la question</a:t>
            </a:r>
            <a:endParaRPr lang="en-US" sz="1150" dirty="0"/>
          </a:p>
        </p:txBody>
      </p:sp>
      <p:sp>
        <p:nvSpPr>
          <p:cNvPr id="16" name="Shape 12"/>
          <p:cNvSpPr/>
          <p:nvPr/>
        </p:nvSpPr>
        <p:spPr>
          <a:xfrm>
            <a:off x="457200" y="2116836"/>
            <a:ext cx="8229600" cy="585216"/>
          </a:xfrm>
          <a:prstGeom prst="roundRect">
            <a:avLst>
              <a:gd name="adj" fmla="val 14063"/>
            </a:avLst>
          </a:prstGeom>
          <a:solidFill>
            <a:srgbClr val="FFFFFF"/>
          </a:solidFill>
          <a:ln/>
          <a:effectLst>
            <a:outerShdw sx="100000" sy="100000" kx="0" ky="0" algn="bl" rotWithShape="0" blurRad="88900" dist="38100" dir="5400000">
              <a:srgbClr val="10213F">
                <a:alpha val="15000"/>
              </a:srgbClr>
            </a:outerShdw>
          </a:effectLst>
        </p:spPr>
      </p:sp>
      <p:sp>
        <p:nvSpPr>
          <p:cNvPr id="17" name="Shape 13"/>
          <p:cNvSpPr/>
          <p:nvPr/>
        </p:nvSpPr>
        <p:spPr>
          <a:xfrm>
            <a:off x="603504" y="2208276"/>
            <a:ext cx="402336" cy="402336"/>
          </a:xfrm>
          <a:prstGeom prst="ellipse">
            <a:avLst/>
          </a:prstGeom>
          <a:solidFill>
            <a:srgbClr val="002C7C"/>
          </a:solidFill>
          <a:ln/>
        </p:spPr>
      </p:sp>
      <p:pic>
        <p:nvPicPr>
          <p:cNvPr id="18" name="Image 2" descr="preencoded.png">    </p:cNvPr>
          <p:cNvPicPr>
            <a:picLocks noChangeAspect="1"/>
          </p:cNvPicPr>
          <p:nvPr/>
        </p:nvPicPr>
        <p:blipFill>
          <a:blip r:embed="rId4"/>
          <a:stretch>
            <a:fillRect/>
          </a:stretch>
        </p:blipFill>
        <p:spPr>
          <a:xfrm>
            <a:off x="712135" y="2316907"/>
            <a:ext cx="185075" cy="185075"/>
          </a:xfrm>
          <a:prstGeom prst="rect">
            <a:avLst/>
          </a:prstGeom>
        </p:spPr>
      </p:pic>
      <p:sp>
        <p:nvSpPr>
          <p:cNvPr id="19" name="Shape 14"/>
          <p:cNvSpPr/>
          <p:nvPr/>
        </p:nvSpPr>
        <p:spPr>
          <a:xfrm>
            <a:off x="1152144" y="2208276"/>
            <a:ext cx="402336" cy="402336"/>
          </a:xfrm>
          <a:prstGeom prst="ellipse">
            <a:avLst/>
          </a:prstGeom>
          <a:solidFill>
            <a:srgbClr val="EEA901"/>
          </a:solidFill>
          <a:ln/>
        </p:spPr>
      </p:sp>
      <p:sp>
        <p:nvSpPr>
          <p:cNvPr id="20" name="Text 15"/>
          <p:cNvSpPr/>
          <p:nvPr/>
        </p:nvSpPr>
        <p:spPr>
          <a:xfrm>
            <a:off x="1152144" y="2208276"/>
            <a:ext cx="402336" cy="402336"/>
          </a:xfrm>
          <a:prstGeom prst="rect">
            <a:avLst/>
          </a:prstGeom>
          <a:noFill/>
          <a:ln/>
        </p:spPr>
        <p:txBody>
          <a:bodyPr wrap="square" lIns="0" tIns="0" rIns="0" bIns="0" rtlCol="0" anchor="ctr"/>
          <a:lstStyle/>
          <a:p>
            <a:pPr algn="ctr" indent="0" marL="0">
              <a:buNone/>
            </a:pPr>
            <a:r>
              <a:rPr lang="en-US" sz="1800" b="1" dirty="0">
                <a:solidFill>
                  <a:srgbClr val="002C7C"/>
                </a:solidFill>
                <a:latin typeface="Arial" pitchFamily="34" charset="0"/>
                <a:ea typeface="Arial" pitchFamily="34" charset="-122"/>
                <a:cs typeface="Arial" pitchFamily="34" charset="-120"/>
              </a:rPr>
              <a:t>2</a:t>
            </a:r>
            <a:endParaRPr lang="en-US" sz="1800" dirty="0"/>
          </a:p>
        </p:txBody>
      </p:sp>
      <p:sp>
        <p:nvSpPr>
          <p:cNvPr id="21" name="Text 16"/>
          <p:cNvSpPr/>
          <p:nvPr/>
        </p:nvSpPr>
        <p:spPr>
          <a:xfrm>
            <a:off x="1783080" y="2116836"/>
            <a:ext cx="3931920" cy="585216"/>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Orienting to the field</a:t>
            </a:r>
            <a:endParaRPr lang="en-US" sz="1500" dirty="0"/>
          </a:p>
        </p:txBody>
      </p:sp>
      <p:sp>
        <p:nvSpPr>
          <p:cNvPr id="22" name="Text 17"/>
          <p:cNvSpPr/>
          <p:nvPr/>
        </p:nvSpPr>
        <p:spPr>
          <a:xfrm>
            <a:off x="5760720" y="2116836"/>
            <a:ext cx="2788920" cy="585216"/>
          </a:xfrm>
          <a:prstGeom prst="rect">
            <a:avLst/>
          </a:prstGeom>
          <a:noFill/>
          <a:ln/>
        </p:spPr>
        <p:txBody>
          <a:bodyPr wrap="square" lIns="0" tIns="0" rIns="0" bIns="0" rtlCol="0" anchor="ctr"/>
          <a:lstStyle/>
          <a:p>
            <a:pPr indent="0" marL="0">
              <a:buNone/>
            </a:pPr>
            <a:r>
              <a:rPr lang="en-US" sz="1150" i="1" dirty="0">
                <a:solidFill>
                  <a:srgbClr val="5B6675"/>
                </a:solidFill>
                <a:latin typeface="Arial" pitchFamily="34" charset="0"/>
                <a:ea typeface="Arial" pitchFamily="34" charset="-122"/>
                <a:cs typeface="Arial" pitchFamily="34" charset="-120"/>
              </a:rPr>
              <a:t>S'orienter dans le domaine</a:t>
            </a:r>
            <a:endParaRPr lang="en-US" sz="1150" dirty="0"/>
          </a:p>
        </p:txBody>
      </p:sp>
      <p:sp>
        <p:nvSpPr>
          <p:cNvPr id="23" name="Shape 18"/>
          <p:cNvSpPr/>
          <p:nvPr/>
        </p:nvSpPr>
        <p:spPr>
          <a:xfrm>
            <a:off x="457200" y="2770632"/>
            <a:ext cx="8229600" cy="585216"/>
          </a:xfrm>
          <a:prstGeom prst="roundRect">
            <a:avLst>
              <a:gd name="adj" fmla="val 14063"/>
            </a:avLst>
          </a:prstGeom>
          <a:solidFill>
            <a:srgbClr val="EAF0FA"/>
          </a:solidFill>
          <a:ln/>
          <a:effectLst>
            <a:outerShdw sx="100000" sy="100000" kx="0" ky="0" algn="bl" rotWithShape="0" blurRad="88900" dist="38100" dir="5400000">
              <a:srgbClr val="10213F">
                <a:alpha val="15000"/>
              </a:srgbClr>
            </a:outerShdw>
          </a:effectLst>
        </p:spPr>
      </p:sp>
      <p:sp>
        <p:nvSpPr>
          <p:cNvPr id="24" name="Shape 19"/>
          <p:cNvSpPr/>
          <p:nvPr/>
        </p:nvSpPr>
        <p:spPr>
          <a:xfrm>
            <a:off x="603504" y="2862072"/>
            <a:ext cx="402336" cy="402336"/>
          </a:xfrm>
          <a:prstGeom prst="ellipse">
            <a:avLst/>
          </a:prstGeom>
          <a:solidFill>
            <a:srgbClr val="002C7C"/>
          </a:solidFill>
          <a:ln/>
        </p:spPr>
      </p:sp>
      <p:pic>
        <p:nvPicPr>
          <p:cNvPr id="25" name="Image 3" descr="preencoded.png">    </p:cNvPr>
          <p:cNvPicPr>
            <a:picLocks noChangeAspect="1"/>
          </p:cNvPicPr>
          <p:nvPr/>
        </p:nvPicPr>
        <p:blipFill>
          <a:blip r:embed="rId5"/>
          <a:stretch>
            <a:fillRect/>
          </a:stretch>
        </p:blipFill>
        <p:spPr>
          <a:xfrm>
            <a:off x="712135" y="2970703"/>
            <a:ext cx="185075" cy="185075"/>
          </a:xfrm>
          <a:prstGeom prst="rect">
            <a:avLst/>
          </a:prstGeom>
        </p:spPr>
      </p:pic>
      <p:sp>
        <p:nvSpPr>
          <p:cNvPr id="26" name="Shape 20"/>
          <p:cNvSpPr/>
          <p:nvPr/>
        </p:nvSpPr>
        <p:spPr>
          <a:xfrm>
            <a:off x="1152144" y="2862072"/>
            <a:ext cx="402336" cy="402336"/>
          </a:xfrm>
          <a:prstGeom prst="ellipse">
            <a:avLst/>
          </a:prstGeom>
          <a:solidFill>
            <a:srgbClr val="EEA901"/>
          </a:solidFill>
          <a:ln/>
        </p:spPr>
      </p:sp>
      <p:sp>
        <p:nvSpPr>
          <p:cNvPr id="27" name="Text 21"/>
          <p:cNvSpPr/>
          <p:nvPr/>
        </p:nvSpPr>
        <p:spPr>
          <a:xfrm>
            <a:off x="1152144" y="2862072"/>
            <a:ext cx="402336" cy="402336"/>
          </a:xfrm>
          <a:prstGeom prst="rect">
            <a:avLst/>
          </a:prstGeom>
          <a:noFill/>
          <a:ln/>
        </p:spPr>
        <p:txBody>
          <a:bodyPr wrap="square" lIns="0" tIns="0" rIns="0" bIns="0" rtlCol="0" anchor="ctr"/>
          <a:lstStyle/>
          <a:p>
            <a:pPr algn="ctr" indent="0" marL="0">
              <a:buNone/>
            </a:pPr>
            <a:r>
              <a:rPr lang="en-US" sz="1800" b="1" dirty="0">
                <a:solidFill>
                  <a:srgbClr val="002C7C"/>
                </a:solidFill>
                <a:latin typeface="Arial" pitchFamily="34" charset="0"/>
                <a:ea typeface="Arial" pitchFamily="34" charset="-122"/>
                <a:cs typeface="Arial" pitchFamily="34" charset="-120"/>
              </a:rPr>
              <a:t>3</a:t>
            </a:r>
            <a:endParaRPr lang="en-US" sz="1800" dirty="0"/>
          </a:p>
        </p:txBody>
      </p:sp>
      <p:sp>
        <p:nvSpPr>
          <p:cNvPr id="28" name="Text 22"/>
          <p:cNvSpPr/>
          <p:nvPr/>
        </p:nvSpPr>
        <p:spPr>
          <a:xfrm>
            <a:off x="1783080" y="2770632"/>
            <a:ext cx="3931920" cy="585216"/>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Identifying the gap</a:t>
            </a:r>
            <a:endParaRPr lang="en-US" sz="1500" dirty="0"/>
          </a:p>
        </p:txBody>
      </p:sp>
      <p:sp>
        <p:nvSpPr>
          <p:cNvPr id="29" name="Text 23"/>
          <p:cNvSpPr/>
          <p:nvPr/>
        </p:nvSpPr>
        <p:spPr>
          <a:xfrm>
            <a:off x="5760720" y="2770632"/>
            <a:ext cx="2788920" cy="585216"/>
          </a:xfrm>
          <a:prstGeom prst="rect">
            <a:avLst/>
          </a:prstGeom>
          <a:noFill/>
          <a:ln/>
        </p:spPr>
        <p:txBody>
          <a:bodyPr wrap="square" lIns="0" tIns="0" rIns="0" bIns="0" rtlCol="0" anchor="ctr"/>
          <a:lstStyle/>
          <a:p>
            <a:pPr indent="0" marL="0">
              <a:buNone/>
            </a:pPr>
            <a:r>
              <a:rPr lang="en-US" sz="1150" i="1" dirty="0">
                <a:solidFill>
                  <a:srgbClr val="5B6675"/>
                </a:solidFill>
                <a:latin typeface="Arial" pitchFamily="34" charset="0"/>
                <a:ea typeface="Arial" pitchFamily="34" charset="-122"/>
                <a:cs typeface="Arial" pitchFamily="34" charset="-120"/>
              </a:rPr>
              <a:t>Identifier la lacune</a:t>
            </a:r>
            <a:endParaRPr lang="en-US" sz="1150" dirty="0"/>
          </a:p>
        </p:txBody>
      </p:sp>
      <p:sp>
        <p:nvSpPr>
          <p:cNvPr id="30" name="Shape 24"/>
          <p:cNvSpPr/>
          <p:nvPr/>
        </p:nvSpPr>
        <p:spPr>
          <a:xfrm>
            <a:off x="457200" y="3424428"/>
            <a:ext cx="8229600" cy="585216"/>
          </a:xfrm>
          <a:prstGeom prst="roundRect">
            <a:avLst>
              <a:gd name="adj" fmla="val 14063"/>
            </a:avLst>
          </a:prstGeom>
          <a:solidFill>
            <a:srgbClr val="FFFFFF"/>
          </a:solidFill>
          <a:ln/>
          <a:effectLst>
            <a:outerShdw sx="100000" sy="100000" kx="0" ky="0" algn="bl" rotWithShape="0" blurRad="88900" dist="38100" dir="5400000">
              <a:srgbClr val="10213F">
                <a:alpha val="15000"/>
              </a:srgbClr>
            </a:outerShdw>
          </a:effectLst>
        </p:spPr>
      </p:sp>
      <p:sp>
        <p:nvSpPr>
          <p:cNvPr id="31" name="Shape 25"/>
          <p:cNvSpPr/>
          <p:nvPr/>
        </p:nvSpPr>
        <p:spPr>
          <a:xfrm>
            <a:off x="603504" y="3515868"/>
            <a:ext cx="402336" cy="402336"/>
          </a:xfrm>
          <a:prstGeom prst="ellipse">
            <a:avLst/>
          </a:prstGeom>
          <a:solidFill>
            <a:srgbClr val="002C7C"/>
          </a:solidFill>
          <a:ln/>
        </p:spPr>
      </p:sp>
      <p:pic>
        <p:nvPicPr>
          <p:cNvPr id="32" name="Image 4" descr="preencoded.png">    </p:cNvPr>
          <p:cNvPicPr>
            <a:picLocks noChangeAspect="1"/>
          </p:cNvPicPr>
          <p:nvPr/>
        </p:nvPicPr>
        <p:blipFill>
          <a:blip r:embed="rId6"/>
          <a:stretch>
            <a:fillRect/>
          </a:stretch>
        </p:blipFill>
        <p:spPr>
          <a:xfrm>
            <a:off x="712135" y="3624499"/>
            <a:ext cx="185075" cy="185075"/>
          </a:xfrm>
          <a:prstGeom prst="rect">
            <a:avLst/>
          </a:prstGeom>
        </p:spPr>
      </p:pic>
      <p:sp>
        <p:nvSpPr>
          <p:cNvPr id="33" name="Shape 26"/>
          <p:cNvSpPr/>
          <p:nvPr/>
        </p:nvSpPr>
        <p:spPr>
          <a:xfrm>
            <a:off x="1152144" y="3515868"/>
            <a:ext cx="402336" cy="402336"/>
          </a:xfrm>
          <a:prstGeom prst="ellipse">
            <a:avLst/>
          </a:prstGeom>
          <a:solidFill>
            <a:srgbClr val="EEA901"/>
          </a:solidFill>
          <a:ln/>
        </p:spPr>
      </p:sp>
      <p:sp>
        <p:nvSpPr>
          <p:cNvPr id="34" name="Text 27"/>
          <p:cNvSpPr/>
          <p:nvPr/>
        </p:nvSpPr>
        <p:spPr>
          <a:xfrm>
            <a:off x="1152144" y="3515868"/>
            <a:ext cx="402336" cy="402336"/>
          </a:xfrm>
          <a:prstGeom prst="rect">
            <a:avLst/>
          </a:prstGeom>
          <a:noFill/>
          <a:ln/>
        </p:spPr>
        <p:txBody>
          <a:bodyPr wrap="square" lIns="0" tIns="0" rIns="0" bIns="0" rtlCol="0" anchor="ctr"/>
          <a:lstStyle/>
          <a:p>
            <a:pPr algn="ctr" indent="0" marL="0">
              <a:buNone/>
            </a:pPr>
            <a:r>
              <a:rPr lang="en-US" sz="1800" b="1" dirty="0">
                <a:solidFill>
                  <a:srgbClr val="002C7C"/>
                </a:solidFill>
                <a:latin typeface="Arial" pitchFamily="34" charset="0"/>
                <a:ea typeface="Arial" pitchFamily="34" charset="-122"/>
                <a:cs typeface="Arial" pitchFamily="34" charset="-120"/>
              </a:rPr>
              <a:t>4</a:t>
            </a:r>
            <a:endParaRPr lang="en-US" sz="1800" dirty="0"/>
          </a:p>
        </p:txBody>
      </p:sp>
      <p:sp>
        <p:nvSpPr>
          <p:cNvPr id="35" name="Text 28"/>
          <p:cNvSpPr/>
          <p:nvPr/>
        </p:nvSpPr>
        <p:spPr>
          <a:xfrm>
            <a:off x="1783080" y="3424428"/>
            <a:ext cx="3931920" cy="585216"/>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Scoping &amp; feasibility</a:t>
            </a:r>
            <a:endParaRPr lang="en-US" sz="1500" dirty="0"/>
          </a:p>
        </p:txBody>
      </p:sp>
      <p:sp>
        <p:nvSpPr>
          <p:cNvPr id="36" name="Text 29"/>
          <p:cNvSpPr/>
          <p:nvPr/>
        </p:nvSpPr>
        <p:spPr>
          <a:xfrm>
            <a:off x="5760720" y="3424428"/>
            <a:ext cx="2788920" cy="585216"/>
          </a:xfrm>
          <a:prstGeom prst="rect">
            <a:avLst/>
          </a:prstGeom>
          <a:noFill/>
          <a:ln/>
        </p:spPr>
        <p:txBody>
          <a:bodyPr wrap="square" lIns="0" tIns="0" rIns="0" bIns="0" rtlCol="0" anchor="ctr"/>
          <a:lstStyle/>
          <a:p>
            <a:pPr indent="0" marL="0">
              <a:buNone/>
            </a:pPr>
            <a:r>
              <a:rPr lang="en-US" sz="1150" i="1" dirty="0">
                <a:solidFill>
                  <a:srgbClr val="5B6675"/>
                </a:solidFill>
                <a:latin typeface="Arial" pitchFamily="34" charset="0"/>
                <a:ea typeface="Arial" pitchFamily="34" charset="-122"/>
                <a:cs typeface="Arial" pitchFamily="34" charset="-120"/>
              </a:rPr>
              <a:t>Cadrage et faisabilité</a:t>
            </a:r>
            <a:endParaRPr lang="en-US" sz="1150" dirty="0"/>
          </a:p>
        </p:txBody>
      </p:sp>
      <p:sp>
        <p:nvSpPr>
          <p:cNvPr id="37" name="Shape 30"/>
          <p:cNvSpPr/>
          <p:nvPr/>
        </p:nvSpPr>
        <p:spPr>
          <a:xfrm>
            <a:off x="457200" y="4078224"/>
            <a:ext cx="8229600" cy="585216"/>
          </a:xfrm>
          <a:prstGeom prst="roundRect">
            <a:avLst>
              <a:gd name="adj" fmla="val 14063"/>
            </a:avLst>
          </a:prstGeom>
          <a:solidFill>
            <a:srgbClr val="EAF0FA"/>
          </a:solidFill>
          <a:ln/>
          <a:effectLst>
            <a:outerShdw sx="100000" sy="100000" kx="0" ky="0" algn="bl" rotWithShape="0" blurRad="88900" dist="38100" dir="5400000">
              <a:srgbClr val="10213F">
                <a:alpha val="15000"/>
              </a:srgbClr>
            </a:outerShdw>
          </a:effectLst>
        </p:spPr>
      </p:sp>
      <p:sp>
        <p:nvSpPr>
          <p:cNvPr id="38" name="Shape 31"/>
          <p:cNvSpPr/>
          <p:nvPr/>
        </p:nvSpPr>
        <p:spPr>
          <a:xfrm>
            <a:off x="603504" y="4169664"/>
            <a:ext cx="402336" cy="402336"/>
          </a:xfrm>
          <a:prstGeom prst="ellipse">
            <a:avLst/>
          </a:prstGeom>
          <a:solidFill>
            <a:srgbClr val="002C7C"/>
          </a:solidFill>
          <a:ln/>
        </p:spPr>
      </p:sp>
      <p:pic>
        <p:nvPicPr>
          <p:cNvPr id="39" name="Image 5" descr="preencoded.png">    </p:cNvPr>
          <p:cNvPicPr>
            <a:picLocks noChangeAspect="1"/>
          </p:cNvPicPr>
          <p:nvPr/>
        </p:nvPicPr>
        <p:blipFill>
          <a:blip r:embed="rId7"/>
          <a:stretch>
            <a:fillRect/>
          </a:stretch>
        </p:blipFill>
        <p:spPr>
          <a:xfrm>
            <a:off x="712135" y="4278295"/>
            <a:ext cx="185075" cy="185075"/>
          </a:xfrm>
          <a:prstGeom prst="rect">
            <a:avLst/>
          </a:prstGeom>
        </p:spPr>
      </p:pic>
      <p:sp>
        <p:nvSpPr>
          <p:cNvPr id="40" name="Shape 32"/>
          <p:cNvSpPr/>
          <p:nvPr/>
        </p:nvSpPr>
        <p:spPr>
          <a:xfrm>
            <a:off x="1152144" y="4169664"/>
            <a:ext cx="402336" cy="402336"/>
          </a:xfrm>
          <a:prstGeom prst="ellipse">
            <a:avLst/>
          </a:prstGeom>
          <a:solidFill>
            <a:srgbClr val="EEA901"/>
          </a:solidFill>
          <a:ln/>
        </p:spPr>
      </p:sp>
      <p:sp>
        <p:nvSpPr>
          <p:cNvPr id="41" name="Text 33"/>
          <p:cNvSpPr/>
          <p:nvPr/>
        </p:nvSpPr>
        <p:spPr>
          <a:xfrm>
            <a:off x="1152144" y="4169664"/>
            <a:ext cx="402336" cy="402336"/>
          </a:xfrm>
          <a:prstGeom prst="rect">
            <a:avLst/>
          </a:prstGeom>
          <a:noFill/>
          <a:ln/>
        </p:spPr>
        <p:txBody>
          <a:bodyPr wrap="square" lIns="0" tIns="0" rIns="0" bIns="0" rtlCol="0" anchor="ctr"/>
          <a:lstStyle/>
          <a:p>
            <a:pPr algn="ctr" indent="0" marL="0">
              <a:buNone/>
            </a:pPr>
            <a:r>
              <a:rPr lang="en-US" sz="1800" b="1" dirty="0">
                <a:solidFill>
                  <a:srgbClr val="002C7C"/>
                </a:solidFill>
                <a:latin typeface="Arial" pitchFamily="34" charset="0"/>
                <a:ea typeface="Arial" pitchFamily="34" charset="-122"/>
                <a:cs typeface="Arial" pitchFamily="34" charset="-120"/>
              </a:rPr>
              <a:t>5</a:t>
            </a:r>
            <a:endParaRPr lang="en-US" sz="1800" dirty="0"/>
          </a:p>
        </p:txBody>
      </p:sp>
      <p:sp>
        <p:nvSpPr>
          <p:cNvPr id="42" name="Text 34"/>
          <p:cNvSpPr/>
          <p:nvPr/>
        </p:nvSpPr>
        <p:spPr>
          <a:xfrm>
            <a:off x="1783080" y="4078224"/>
            <a:ext cx="3931920" cy="585216"/>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Workspace &amp; habits</a:t>
            </a:r>
            <a:endParaRPr lang="en-US" sz="1500" dirty="0"/>
          </a:p>
        </p:txBody>
      </p:sp>
      <p:sp>
        <p:nvSpPr>
          <p:cNvPr id="43" name="Text 35"/>
          <p:cNvSpPr/>
          <p:nvPr/>
        </p:nvSpPr>
        <p:spPr>
          <a:xfrm>
            <a:off x="5760720" y="4078224"/>
            <a:ext cx="2788920" cy="585216"/>
          </a:xfrm>
          <a:prstGeom prst="rect">
            <a:avLst/>
          </a:prstGeom>
          <a:noFill/>
          <a:ln/>
        </p:spPr>
        <p:txBody>
          <a:bodyPr wrap="square" lIns="0" tIns="0" rIns="0" bIns="0" rtlCol="0" anchor="ctr"/>
          <a:lstStyle/>
          <a:p>
            <a:pPr indent="0" marL="0">
              <a:buNone/>
            </a:pPr>
            <a:r>
              <a:rPr lang="en-US" sz="1150" i="1" dirty="0">
                <a:solidFill>
                  <a:srgbClr val="5B6675"/>
                </a:solidFill>
                <a:latin typeface="Arial" pitchFamily="34" charset="0"/>
                <a:ea typeface="Arial" pitchFamily="34" charset="-122"/>
                <a:cs typeface="Arial" pitchFamily="34" charset="-120"/>
              </a:rPr>
              <a:t>Espace de travail et habitudes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5" name="Text 2"/>
          <p:cNvSpPr/>
          <p:nvPr/>
        </p:nvSpPr>
        <p:spPr>
          <a:xfrm>
            <a:off x="457200" y="365760"/>
            <a:ext cx="548640" cy="548640"/>
          </a:xfrm>
          <a:prstGeom prst="rect">
            <a:avLst/>
          </a:prstGeom>
          <a:noFill/>
          <a:ln/>
        </p:spPr>
        <p:txBody>
          <a:bodyPr wrap="square" lIns="0" tIns="0" rIns="0" bIns="0" rtlCol="0" anchor="ctr"/>
          <a:lstStyle/>
          <a:p>
            <a:pPr algn="ctr" indent="0" marL="0">
              <a:buNone/>
            </a:pPr>
            <a:r>
              <a:rPr lang="en-US" sz="2400" b="1" dirty="0">
                <a:solidFill>
                  <a:srgbClr val="002C7C"/>
                </a:solidFill>
                <a:latin typeface="Arial" pitchFamily="34" charset="0"/>
                <a:ea typeface="Arial" pitchFamily="34" charset="-122"/>
                <a:cs typeface="Arial" pitchFamily="34" charset="-120"/>
              </a:rPr>
              <a:t>1</a:t>
            </a:r>
            <a:endParaRPr lang="en-US" sz="2400" dirty="0"/>
          </a:p>
        </p:txBody>
      </p:sp>
      <p:sp>
        <p:nvSpPr>
          <p:cNvPr id="6" name="Text 3"/>
          <p:cNvSpPr/>
          <p:nvPr/>
        </p:nvSpPr>
        <p:spPr>
          <a:xfrm>
            <a:off x="1188720" y="310896"/>
            <a:ext cx="530352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From interest to a question</a:t>
            </a:r>
            <a:endParaRPr lang="en-US" sz="2400" dirty="0"/>
          </a:p>
        </p:txBody>
      </p:sp>
      <p:sp>
        <p:nvSpPr>
          <p:cNvPr id="7" name="Shape 4"/>
          <p:cNvSpPr/>
          <p:nvPr/>
        </p:nvSpPr>
        <p:spPr>
          <a:xfrm>
            <a:off x="1216152" y="850392"/>
            <a:ext cx="1280160" cy="45720"/>
          </a:xfrm>
          <a:prstGeom prst="rect">
            <a:avLst/>
          </a:prstGeom>
          <a:solidFill>
            <a:srgbClr val="EEA901"/>
          </a:solidFill>
          <a:ln/>
        </p:spPr>
      </p:sp>
      <p:sp>
        <p:nvSpPr>
          <p:cNvPr id="8" name="Text 5"/>
          <p:cNvSpPr/>
          <p:nvPr/>
        </p:nvSpPr>
        <p:spPr>
          <a:xfrm>
            <a:off x="1188720" y="950976"/>
            <a:ext cx="5303520" cy="292608"/>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De l'intérêt à la question</a:t>
            </a:r>
            <a:endParaRPr lang="en-US" sz="1250" dirty="0"/>
          </a:p>
        </p:txBody>
      </p:sp>
      <p:sp>
        <p:nvSpPr>
          <p:cNvPr id="9" name="Shape 6"/>
          <p:cNvSpPr/>
          <p:nvPr/>
        </p:nvSpPr>
        <p:spPr>
          <a:xfrm>
            <a:off x="6858000" y="420624"/>
            <a:ext cx="1828800" cy="420624"/>
          </a:xfrm>
          <a:prstGeom prst="roundRect">
            <a:avLst>
              <a:gd name="adj" fmla="val 17391"/>
            </a:avLst>
          </a:prstGeom>
          <a:solidFill>
            <a:srgbClr val="002C7C"/>
          </a:solidFill>
          <a:ln/>
        </p:spPr>
      </p:sp>
      <p:sp>
        <p:nvSpPr>
          <p:cNvPr id="10" name="Text 7"/>
          <p:cNvSpPr/>
          <p:nvPr/>
        </p:nvSpPr>
        <p:spPr>
          <a:xfrm>
            <a:off x="6858000" y="420624"/>
            <a:ext cx="182880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Claude Projects</a:t>
            </a:r>
            <a:endParaRPr lang="en-US" sz="1150" dirty="0"/>
          </a:p>
        </p:txBody>
      </p:sp>
      <p:sp>
        <p:nvSpPr>
          <p:cNvPr id="11" name="Shape 8"/>
          <p:cNvSpPr/>
          <p:nvPr/>
        </p:nvSpPr>
        <p:spPr>
          <a:xfrm>
            <a:off x="566928" y="1554480"/>
            <a:ext cx="1280160" cy="1280160"/>
          </a:xfrm>
          <a:prstGeom prst="ellipse">
            <a:avLst/>
          </a:prstGeom>
          <a:solidFill>
            <a:srgbClr val="002C7C"/>
          </a:solidFill>
          <a:ln/>
        </p:spPr>
      </p:sp>
      <p:pic>
        <p:nvPicPr>
          <p:cNvPr id="12" name="Image 1" descr="preencoded.png">    </p:cNvPr>
          <p:cNvPicPr>
            <a:picLocks noChangeAspect="1"/>
          </p:cNvPicPr>
          <p:nvPr/>
        </p:nvPicPr>
        <p:blipFill>
          <a:blip r:embed="rId3"/>
          <a:stretch>
            <a:fillRect/>
          </a:stretch>
        </p:blipFill>
        <p:spPr>
          <a:xfrm>
            <a:off x="912571" y="1900123"/>
            <a:ext cx="588874" cy="588874"/>
          </a:xfrm>
          <a:prstGeom prst="rect">
            <a:avLst/>
          </a:prstGeom>
        </p:spPr>
      </p:pic>
      <p:sp>
        <p:nvSpPr>
          <p:cNvPr id="13" name="Text 9"/>
          <p:cNvSpPr/>
          <p:nvPr/>
        </p:nvSpPr>
        <p:spPr>
          <a:xfrm>
            <a:off x="2286000" y="1463040"/>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A broad interest is not yet a research question.</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Un intérêt large n'est pas encore une question de recherche.</a:t>
            </a:r>
            <a:endParaRPr lang="en-US" sz="1300" dirty="0"/>
          </a:p>
        </p:txBody>
      </p:sp>
      <p:sp>
        <p:nvSpPr>
          <p:cNvPr id="14" name="Shape 10"/>
          <p:cNvSpPr/>
          <p:nvPr/>
        </p:nvSpPr>
        <p:spPr>
          <a:xfrm>
            <a:off x="2029968" y="1517904"/>
            <a:ext cx="118872" cy="118872"/>
          </a:xfrm>
          <a:prstGeom prst="ellipse">
            <a:avLst/>
          </a:prstGeom>
          <a:solidFill>
            <a:srgbClr val="EEA901"/>
          </a:solidFill>
          <a:ln/>
        </p:spPr>
      </p:sp>
      <p:sp>
        <p:nvSpPr>
          <p:cNvPr id="15" name="Text 11"/>
          <p:cNvSpPr/>
          <p:nvPr/>
        </p:nvSpPr>
        <p:spPr>
          <a:xfrm>
            <a:off x="2286000" y="2121408"/>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Use Claude as a Socratic sparring partner — it asks, you sharpen.</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Claude comme partenaire socratique — il questionne, vous affinez.</a:t>
            </a:r>
            <a:endParaRPr lang="en-US" sz="1300" dirty="0"/>
          </a:p>
        </p:txBody>
      </p:sp>
      <p:sp>
        <p:nvSpPr>
          <p:cNvPr id="16" name="Shape 12"/>
          <p:cNvSpPr/>
          <p:nvPr/>
        </p:nvSpPr>
        <p:spPr>
          <a:xfrm>
            <a:off x="2029968" y="2176272"/>
            <a:ext cx="118872" cy="118872"/>
          </a:xfrm>
          <a:prstGeom prst="ellipse">
            <a:avLst/>
          </a:prstGeom>
          <a:solidFill>
            <a:srgbClr val="EEA901"/>
          </a:solidFill>
          <a:ln/>
        </p:spPr>
      </p:sp>
      <p:sp>
        <p:nvSpPr>
          <p:cNvPr id="17" name="Text 13"/>
          <p:cNvSpPr/>
          <p:nvPr/>
        </p:nvSpPr>
        <p:spPr>
          <a:xfrm>
            <a:off x="2286000" y="2779776"/>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Configure it to ask, not to hand over an answer.</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Le configurer pour qu'il questionne, sans donner la réponse.</a:t>
            </a:r>
            <a:endParaRPr lang="en-US" sz="1300" dirty="0"/>
          </a:p>
        </p:txBody>
      </p:sp>
      <p:sp>
        <p:nvSpPr>
          <p:cNvPr id="18" name="Shape 14"/>
          <p:cNvSpPr/>
          <p:nvPr/>
        </p:nvSpPr>
        <p:spPr>
          <a:xfrm>
            <a:off x="2029968" y="2834640"/>
            <a:ext cx="118872" cy="118872"/>
          </a:xfrm>
          <a:prstGeom prst="ellipse">
            <a:avLst/>
          </a:prstGeom>
          <a:solidFill>
            <a:srgbClr val="EEA901"/>
          </a:solidFill>
          <a:ln/>
        </p:spPr>
      </p:sp>
      <p:sp>
        <p:nvSpPr>
          <p:cNvPr id="19" name="Shape 15"/>
          <p:cNvSpPr/>
          <p:nvPr/>
        </p:nvSpPr>
        <p:spPr>
          <a:xfrm>
            <a:off x="457200" y="3584448"/>
            <a:ext cx="8229600" cy="1024128"/>
          </a:xfrm>
          <a:prstGeom prst="roundRect">
            <a:avLst>
              <a:gd name="adj" fmla="val 8036"/>
            </a:avLst>
          </a:prstGeom>
          <a:solidFill>
            <a:srgbClr val="FCF3D8"/>
          </a:solidFill>
          <a:ln/>
          <a:effectLst>
            <a:outerShdw sx="100000" sy="100000" kx="0" ky="0" algn="bl" rotWithShape="0" blurRad="88900" dist="38100" dir="5400000">
              <a:srgbClr val="10213F">
                <a:alpha val="15000"/>
              </a:srgbClr>
            </a:outerShdw>
          </a:effectLst>
        </p:spPr>
      </p:sp>
      <p:sp>
        <p:nvSpPr>
          <p:cNvPr id="20" name="Shape 16"/>
          <p:cNvSpPr/>
          <p:nvPr/>
        </p:nvSpPr>
        <p:spPr>
          <a:xfrm>
            <a:off x="676656" y="3767328"/>
            <a:ext cx="457200" cy="457200"/>
          </a:xfrm>
          <a:prstGeom prst="ellipse">
            <a:avLst/>
          </a:prstGeom>
          <a:solidFill>
            <a:srgbClr val="002C7C"/>
          </a:solidFill>
          <a:ln/>
        </p:spPr>
      </p:sp>
      <p:pic>
        <p:nvPicPr>
          <p:cNvPr id="21" name="Image 2" descr="preencoded.png">    </p:cNvPr>
          <p:cNvPicPr>
            <a:picLocks noChangeAspect="1"/>
          </p:cNvPicPr>
          <p:nvPr/>
        </p:nvPicPr>
        <p:blipFill>
          <a:blip r:embed="rId4"/>
          <a:stretch>
            <a:fillRect/>
          </a:stretch>
        </p:blipFill>
        <p:spPr>
          <a:xfrm>
            <a:off x="800100" y="3890772"/>
            <a:ext cx="210312" cy="210312"/>
          </a:xfrm>
          <a:prstGeom prst="rect">
            <a:avLst/>
          </a:prstGeom>
        </p:spPr>
      </p:pic>
      <p:sp>
        <p:nvSpPr>
          <p:cNvPr id="22" name="Text 17"/>
          <p:cNvSpPr/>
          <p:nvPr/>
        </p:nvSpPr>
        <p:spPr>
          <a:xfrm>
            <a:off x="1325880" y="3703320"/>
            <a:ext cx="7132320" cy="274320"/>
          </a:xfrm>
          <a:prstGeom prst="rect">
            <a:avLst/>
          </a:prstGeom>
          <a:noFill/>
          <a:ln/>
        </p:spPr>
        <p:txBody>
          <a:bodyPr wrap="square" lIns="0" tIns="0" rIns="0" bIns="0" rtlCol="0" anchor="ctr"/>
          <a:lstStyle/>
          <a:p>
            <a:pPr indent="0" marL="0">
              <a:buNone/>
            </a:pPr>
            <a:r>
              <a:rPr lang="en-US" sz="1000" b="1" spc="150" kern="0" dirty="0">
                <a:solidFill>
                  <a:srgbClr val="002C7C"/>
                </a:solidFill>
                <a:latin typeface="Arial" pitchFamily="34" charset="0"/>
                <a:ea typeface="Arial" pitchFamily="34" charset="-122"/>
                <a:cs typeface="Arial" pitchFamily="34" charset="-120"/>
              </a:rPr>
              <a:t>TRY THIS PROMPT  ·  ESSAYEZ CETTE CONSIGNE</a:t>
            </a:r>
            <a:endParaRPr lang="en-US" sz="1000" dirty="0"/>
          </a:p>
        </p:txBody>
      </p:sp>
      <p:sp>
        <p:nvSpPr>
          <p:cNvPr id="23" name="Text 18"/>
          <p:cNvSpPr/>
          <p:nvPr/>
        </p:nvSpPr>
        <p:spPr>
          <a:xfrm>
            <a:off x="1325880" y="3968496"/>
            <a:ext cx="7178040" cy="566928"/>
          </a:xfrm>
          <a:prstGeom prst="rect">
            <a:avLst/>
          </a:prstGeom>
          <a:noFill/>
          <a:ln/>
        </p:spPr>
        <p:txBody>
          <a:bodyPr wrap="square" lIns="0" tIns="0" rIns="0" bIns="0" rtlCol="0" anchor="ctr"/>
          <a:lstStyle/>
          <a:p>
            <a:pPr indent="0" marL="0">
              <a:lnSpc>
                <a:spcPct val="105000"/>
              </a:lnSpc>
              <a:buNone/>
            </a:pPr>
            <a:r>
              <a:rPr lang="en-US" sz="1150" i="1" dirty="0">
                <a:solidFill>
                  <a:srgbClr val="1F2733"/>
                </a:solidFill>
                <a:latin typeface="Arial" pitchFamily="34" charset="0"/>
                <a:ea typeface="Arial" pitchFamily="34" charset="-122"/>
                <a:cs typeface="Arial" pitchFamily="34" charset="-120"/>
              </a:rPr>
              <a:t>"Don't propose a topic. Ask me one question at a time to sharpen my interest into a specific, answerable research question."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30352" cy="530352"/>
          </a:xfrm>
          <a:prstGeom prst="ellipse">
            <a:avLst/>
          </a:prstGeom>
          <a:solidFill>
            <a:srgbClr val="EEA901"/>
          </a:solidFill>
          <a:ln/>
          <a:effectLst>
            <a:outerShdw sx="100000" sy="100000" kx="0" ky="0" algn="bl" rotWithShape="0" blurRad="88900" dist="38100" dir="5400000">
              <a:srgbClr val="10213F">
                <a:alpha val="15000"/>
              </a:srgbClr>
            </a:outerShdw>
          </a:effectLst>
        </p:spPr>
      </p:sp>
      <p:pic>
        <p:nvPicPr>
          <p:cNvPr id="5" name="Image 1" descr="preencoded.png">    </p:cNvPr>
          <p:cNvPicPr>
            <a:picLocks noChangeAspect="1"/>
          </p:cNvPicPr>
          <p:nvPr/>
        </p:nvPicPr>
        <p:blipFill>
          <a:blip r:embed="rId3"/>
          <a:stretch>
            <a:fillRect/>
          </a:stretch>
        </p:blipFill>
        <p:spPr>
          <a:xfrm>
            <a:off x="600395" y="508955"/>
            <a:ext cx="243962" cy="243962"/>
          </a:xfrm>
          <a:prstGeom prst="rect">
            <a:avLst/>
          </a:prstGeom>
        </p:spPr>
      </p:pic>
      <p:sp>
        <p:nvSpPr>
          <p:cNvPr id="6" name="Text 2"/>
          <p:cNvSpPr/>
          <p:nvPr/>
        </p:nvSpPr>
        <p:spPr>
          <a:xfrm>
            <a:off x="1170432" y="292608"/>
            <a:ext cx="5486400" cy="457200"/>
          </a:xfrm>
          <a:prstGeom prst="rect">
            <a:avLst/>
          </a:prstGeom>
          <a:noFill/>
          <a:ln/>
        </p:spPr>
        <p:txBody>
          <a:bodyPr wrap="square" lIns="0" tIns="0" rIns="0" bIns="0" rtlCol="0" anchor="ctr"/>
          <a:lstStyle/>
          <a:p>
            <a:pPr indent="0" marL="0">
              <a:buNone/>
            </a:pPr>
            <a:r>
              <a:rPr lang="en-US" sz="2200" b="1" dirty="0">
                <a:solidFill>
                  <a:srgbClr val="002C7C"/>
                </a:solidFill>
                <a:latin typeface="Arial" pitchFamily="34" charset="0"/>
                <a:ea typeface="Arial" pitchFamily="34" charset="-122"/>
                <a:cs typeface="Arial" pitchFamily="34" charset="-120"/>
              </a:rPr>
              <a:t>From interest to a question, live</a:t>
            </a:r>
            <a:endParaRPr lang="en-US" sz="2200" dirty="0"/>
          </a:p>
        </p:txBody>
      </p:sp>
      <p:sp>
        <p:nvSpPr>
          <p:cNvPr id="7" name="Shape 3"/>
          <p:cNvSpPr/>
          <p:nvPr/>
        </p:nvSpPr>
        <p:spPr>
          <a:xfrm>
            <a:off x="1197864" y="822960"/>
            <a:ext cx="1280160" cy="45720"/>
          </a:xfrm>
          <a:prstGeom prst="rect">
            <a:avLst/>
          </a:prstGeom>
          <a:solidFill>
            <a:srgbClr val="EEA901"/>
          </a:solidFill>
          <a:ln/>
        </p:spPr>
      </p:sp>
      <p:sp>
        <p:nvSpPr>
          <p:cNvPr id="8" name="Text 4"/>
          <p:cNvSpPr/>
          <p:nvPr/>
        </p:nvSpPr>
        <p:spPr>
          <a:xfrm>
            <a:off x="1170432" y="905256"/>
            <a:ext cx="5486400" cy="274320"/>
          </a:xfrm>
          <a:prstGeom prst="rect">
            <a:avLst/>
          </a:prstGeom>
          <a:noFill/>
          <a:ln/>
        </p:spPr>
        <p:txBody>
          <a:bodyPr wrap="square" lIns="0" tIns="0" rIns="0" bIns="0" rtlCol="0" anchor="ctr"/>
          <a:lstStyle/>
          <a:p>
            <a:pPr indent="0" marL="0">
              <a:buNone/>
            </a:pPr>
            <a:r>
              <a:rPr lang="en-US" sz="1200" dirty="0">
                <a:solidFill>
                  <a:srgbClr val="5B6675"/>
                </a:solidFill>
                <a:latin typeface="Arial" pitchFamily="34" charset="0"/>
                <a:ea typeface="Arial" pitchFamily="34" charset="-122"/>
                <a:cs typeface="Arial" pitchFamily="34" charset="-120"/>
              </a:rPr>
              <a:t>A worked example — one question at a time</a:t>
            </a:r>
            <a:endParaRPr lang="en-US" sz="1200" dirty="0"/>
          </a:p>
        </p:txBody>
      </p:sp>
      <p:sp>
        <p:nvSpPr>
          <p:cNvPr id="9" name="Shape 5"/>
          <p:cNvSpPr/>
          <p:nvPr/>
        </p:nvSpPr>
        <p:spPr>
          <a:xfrm>
            <a:off x="6858000" y="384048"/>
            <a:ext cx="1828800" cy="384048"/>
          </a:xfrm>
          <a:prstGeom prst="roundRect">
            <a:avLst>
              <a:gd name="adj" fmla="val 19048"/>
            </a:avLst>
          </a:prstGeom>
          <a:solidFill>
            <a:srgbClr val="002C7C"/>
          </a:solidFill>
          <a:ln/>
        </p:spPr>
      </p:sp>
      <p:sp>
        <p:nvSpPr>
          <p:cNvPr id="10" name="Text 6"/>
          <p:cNvSpPr/>
          <p:nvPr/>
        </p:nvSpPr>
        <p:spPr>
          <a:xfrm>
            <a:off x="6858000" y="384048"/>
            <a:ext cx="1828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Claude Projects</a:t>
            </a:r>
            <a:endParaRPr lang="en-US" sz="1100" dirty="0"/>
          </a:p>
        </p:txBody>
      </p:sp>
      <p:sp>
        <p:nvSpPr>
          <p:cNvPr id="11" name="Text 7"/>
          <p:cNvSpPr/>
          <p:nvPr/>
        </p:nvSpPr>
        <p:spPr>
          <a:xfrm>
            <a:off x="4572000" y="877824"/>
            <a:ext cx="4114800" cy="256032"/>
          </a:xfrm>
          <a:prstGeom prst="rect">
            <a:avLst/>
          </a:prstGeom>
          <a:noFill/>
          <a:ln/>
        </p:spPr>
        <p:txBody>
          <a:bodyPr wrap="square" lIns="0" tIns="0" rIns="0" bIns="0" rtlCol="0" anchor="ctr"/>
          <a:lstStyle/>
          <a:p>
            <a:pPr algn="r" indent="0" marL="0">
              <a:buNone/>
            </a:pPr>
            <a:r>
              <a:rPr lang="en-US" sz="1050" i="1" dirty="0">
                <a:solidFill>
                  <a:srgbClr val="5B6675"/>
                </a:solidFill>
                <a:latin typeface="Arial" pitchFamily="34" charset="0"/>
                <a:ea typeface="Arial" pitchFamily="34" charset="-122"/>
                <a:cs typeface="Arial" pitchFamily="34" charset="-120"/>
              </a:rPr>
              <a:t>Manga · University of Buea</a:t>
            </a:r>
            <a:endParaRPr lang="en-US" sz="1050" dirty="0"/>
          </a:p>
        </p:txBody>
      </p:sp>
      <p:sp>
        <p:nvSpPr>
          <p:cNvPr id="12" name="Shape 8"/>
          <p:cNvSpPr/>
          <p:nvPr/>
        </p:nvSpPr>
        <p:spPr>
          <a:xfrm>
            <a:off x="8302752" y="1316736"/>
            <a:ext cx="384048" cy="384048"/>
          </a:xfrm>
          <a:prstGeom prst="ellipse">
            <a:avLst/>
          </a:prstGeom>
          <a:solidFill>
            <a:srgbClr val="EEA901"/>
          </a:solidFill>
          <a:ln/>
        </p:spPr>
      </p:sp>
      <p:pic>
        <p:nvPicPr>
          <p:cNvPr id="13" name="Image 2" descr="preencoded.png">    </p:cNvPr>
          <p:cNvPicPr>
            <a:picLocks noChangeAspect="1"/>
          </p:cNvPicPr>
          <p:nvPr/>
        </p:nvPicPr>
        <p:blipFill>
          <a:blip r:embed="rId4"/>
          <a:stretch>
            <a:fillRect/>
          </a:stretch>
        </p:blipFill>
        <p:spPr>
          <a:xfrm>
            <a:off x="8410285" y="1424269"/>
            <a:ext cx="168981" cy="168981"/>
          </a:xfrm>
          <a:prstGeom prst="rect">
            <a:avLst/>
          </a:prstGeom>
        </p:spPr>
      </p:pic>
      <p:sp>
        <p:nvSpPr>
          <p:cNvPr id="14" name="Shape 9"/>
          <p:cNvSpPr/>
          <p:nvPr/>
        </p:nvSpPr>
        <p:spPr>
          <a:xfrm>
            <a:off x="2907792" y="1307592"/>
            <a:ext cx="5303520" cy="402336"/>
          </a:xfrm>
          <a:prstGeom prst="roundRect">
            <a:avLst>
              <a:gd name="adj" fmla="val 18182"/>
            </a:avLst>
          </a:prstGeom>
          <a:solidFill>
            <a:srgbClr val="FCF3D8"/>
          </a:solidFill>
          <a:ln/>
          <a:effectLst>
            <a:outerShdw sx="100000" sy="100000" kx="0" ky="0" algn="bl" rotWithShape="0" blurRad="88900" dist="38100" dir="5400000">
              <a:srgbClr val="10213F">
                <a:alpha val="15000"/>
              </a:srgbClr>
            </a:outerShdw>
          </a:effectLst>
        </p:spPr>
      </p:sp>
      <p:sp>
        <p:nvSpPr>
          <p:cNvPr id="15" name="Text 10"/>
          <p:cNvSpPr/>
          <p:nvPr/>
        </p:nvSpPr>
        <p:spPr>
          <a:xfrm>
            <a:off x="3054096" y="1307592"/>
            <a:ext cx="5010912" cy="402336"/>
          </a:xfrm>
          <a:prstGeom prst="rect">
            <a:avLst/>
          </a:prstGeom>
          <a:noFill/>
          <a:ln/>
        </p:spPr>
        <p:txBody>
          <a:bodyPr wrap="square" lIns="0" tIns="0" rIns="0" bIns="0" rtlCol="0" anchor="ctr"/>
          <a:lstStyle/>
          <a:p>
            <a:pPr indent="0" marL="0">
              <a:buNone/>
            </a:pPr>
            <a:r>
              <a:rPr lang="en-US" sz="1150" dirty="0">
                <a:solidFill>
                  <a:srgbClr val="1F2733"/>
                </a:solidFill>
                <a:latin typeface="Arial" pitchFamily="34" charset="0"/>
                <a:ea typeface="Arial" pitchFamily="34" charset="-122"/>
                <a:cs typeface="Arial" pitchFamily="34" charset="-120"/>
              </a:rPr>
              <a:t>Web scalability, edge &amp; real-time systems — serverless + streams.</a:t>
            </a:r>
            <a:endParaRPr lang="en-US" sz="1150" dirty="0"/>
          </a:p>
        </p:txBody>
      </p:sp>
      <p:sp>
        <p:nvSpPr>
          <p:cNvPr id="16" name="Shape 11"/>
          <p:cNvSpPr/>
          <p:nvPr/>
        </p:nvSpPr>
        <p:spPr>
          <a:xfrm>
            <a:off x="457200" y="1810512"/>
            <a:ext cx="384048" cy="384048"/>
          </a:xfrm>
          <a:prstGeom prst="ellipse">
            <a:avLst/>
          </a:prstGeom>
          <a:solidFill>
            <a:srgbClr val="002C7C"/>
          </a:solidFill>
          <a:ln/>
        </p:spPr>
      </p:sp>
      <p:pic>
        <p:nvPicPr>
          <p:cNvPr id="17" name="Image 3" descr="preencoded.png">    </p:cNvPr>
          <p:cNvPicPr>
            <a:picLocks noChangeAspect="1"/>
          </p:cNvPicPr>
          <p:nvPr/>
        </p:nvPicPr>
        <p:blipFill>
          <a:blip r:embed="rId5"/>
          <a:stretch>
            <a:fillRect/>
          </a:stretch>
        </p:blipFill>
        <p:spPr>
          <a:xfrm>
            <a:off x="560893" y="1914205"/>
            <a:ext cx="176662" cy="176662"/>
          </a:xfrm>
          <a:prstGeom prst="rect">
            <a:avLst/>
          </a:prstGeom>
        </p:spPr>
      </p:pic>
      <p:sp>
        <p:nvSpPr>
          <p:cNvPr id="18" name="Shape 12"/>
          <p:cNvSpPr/>
          <p:nvPr/>
        </p:nvSpPr>
        <p:spPr>
          <a:xfrm>
            <a:off x="932688" y="1801368"/>
            <a:ext cx="5303520" cy="402336"/>
          </a:xfrm>
          <a:prstGeom prst="roundRect">
            <a:avLst>
              <a:gd name="adj" fmla="val 18182"/>
            </a:avLst>
          </a:prstGeom>
          <a:solidFill>
            <a:srgbClr val="EEF2F7"/>
          </a:solidFill>
          <a:ln/>
          <a:effectLst>
            <a:outerShdw sx="100000" sy="100000" kx="0" ky="0" algn="bl" rotWithShape="0" blurRad="88900" dist="38100" dir="5400000">
              <a:srgbClr val="10213F">
                <a:alpha val="15000"/>
              </a:srgbClr>
            </a:outerShdw>
          </a:effectLst>
        </p:spPr>
      </p:sp>
      <p:sp>
        <p:nvSpPr>
          <p:cNvPr id="19" name="Text 13"/>
          <p:cNvSpPr/>
          <p:nvPr/>
        </p:nvSpPr>
        <p:spPr>
          <a:xfrm>
            <a:off x="1078992" y="1801368"/>
            <a:ext cx="5010912" cy="402336"/>
          </a:xfrm>
          <a:prstGeom prst="rect">
            <a:avLst/>
          </a:prstGeom>
          <a:noFill/>
          <a:ln/>
        </p:spPr>
        <p:txBody>
          <a:bodyPr wrap="square" lIns="0" tIns="0" rIns="0" bIns="0" rtlCol="0" anchor="ctr"/>
          <a:lstStyle/>
          <a:p>
            <a:pPr indent="0" marL="0">
              <a:buNone/>
            </a:pPr>
            <a:r>
              <a:rPr lang="en-US" sz="1150" dirty="0">
                <a:solidFill>
                  <a:srgbClr val="1F2733"/>
                </a:solidFill>
                <a:latin typeface="Arial" pitchFamily="34" charset="0"/>
                <a:ea typeface="Arial" pitchFamily="34" charset="-122"/>
                <a:cs typeface="Arial" pitchFamily="34" charset="-120"/>
              </a:rPr>
              <a:t>Broad! Which pulls you most — scaling, or the real-time part?</a:t>
            </a:r>
            <a:endParaRPr lang="en-US" sz="1150" dirty="0"/>
          </a:p>
        </p:txBody>
      </p:sp>
      <p:sp>
        <p:nvSpPr>
          <p:cNvPr id="20" name="Shape 14"/>
          <p:cNvSpPr/>
          <p:nvPr/>
        </p:nvSpPr>
        <p:spPr>
          <a:xfrm>
            <a:off x="8302752" y="2304288"/>
            <a:ext cx="384048" cy="384048"/>
          </a:xfrm>
          <a:prstGeom prst="ellipse">
            <a:avLst/>
          </a:prstGeom>
          <a:solidFill>
            <a:srgbClr val="EEA901"/>
          </a:solidFill>
          <a:ln/>
        </p:spPr>
      </p:sp>
      <p:pic>
        <p:nvPicPr>
          <p:cNvPr id="21" name="Image 4" descr="preencoded.png">    </p:cNvPr>
          <p:cNvPicPr>
            <a:picLocks noChangeAspect="1"/>
          </p:cNvPicPr>
          <p:nvPr/>
        </p:nvPicPr>
        <p:blipFill>
          <a:blip r:embed="rId6"/>
          <a:stretch>
            <a:fillRect/>
          </a:stretch>
        </p:blipFill>
        <p:spPr>
          <a:xfrm>
            <a:off x="8410285" y="2411821"/>
            <a:ext cx="168981" cy="168981"/>
          </a:xfrm>
          <a:prstGeom prst="rect">
            <a:avLst/>
          </a:prstGeom>
        </p:spPr>
      </p:pic>
      <p:sp>
        <p:nvSpPr>
          <p:cNvPr id="22" name="Shape 15"/>
          <p:cNvSpPr/>
          <p:nvPr/>
        </p:nvSpPr>
        <p:spPr>
          <a:xfrm>
            <a:off x="2907792" y="2295144"/>
            <a:ext cx="5303520" cy="402336"/>
          </a:xfrm>
          <a:prstGeom prst="roundRect">
            <a:avLst>
              <a:gd name="adj" fmla="val 18182"/>
            </a:avLst>
          </a:prstGeom>
          <a:solidFill>
            <a:srgbClr val="FCF3D8"/>
          </a:solidFill>
          <a:ln/>
          <a:effectLst>
            <a:outerShdw sx="100000" sy="100000" kx="0" ky="0" algn="bl" rotWithShape="0" blurRad="88900" dist="38100" dir="5400000">
              <a:srgbClr val="10213F">
                <a:alpha val="15000"/>
              </a:srgbClr>
            </a:outerShdw>
          </a:effectLst>
        </p:spPr>
      </p:sp>
      <p:sp>
        <p:nvSpPr>
          <p:cNvPr id="23" name="Text 16"/>
          <p:cNvSpPr/>
          <p:nvPr/>
        </p:nvSpPr>
        <p:spPr>
          <a:xfrm>
            <a:off x="3054096" y="2295144"/>
            <a:ext cx="5010912" cy="402336"/>
          </a:xfrm>
          <a:prstGeom prst="rect">
            <a:avLst/>
          </a:prstGeom>
          <a:noFill/>
          <a:ln/>
        </p:spPr>
        <p:txBody>
          <a:bodyPr wrap="square" lIns="0" tIns="0" rIns="0" bIns="0" rtlCol="0" anchor="ctr"/>
          <a:lstStyle/>
          <a:p>
            <a:pPr indent="0" marL="0">
              <a:buNone/>
            </a:pPr>
            <a:r>
              <a:rPr lang="en-US" sz="1150" dirty="0">
                <a:solidFill>
                  <a:srgbClr val="1F2733"/>
                </a:solidFill>
                <a:latin typeface="Arial" pitchFamily="34" charset="0"/>
                <a:ea typeface="Arial" pitchFamily="34" charset="-122"/>
                <a:cs typeface="Arial" pitchFamily="34" charset="-120"/>
              </a:rPr>
              <a:t>Real-time streaming — but it must scale under bursty load.</a:t>
            </a:r>
            <a:endParaRPr lang="en-US" sz="1150" dirty="0"/>
          </a:p>
        </p:txBody>
      </p:sp>
      <p:sp>
        <p:nvSpPr>
          <p:cNvPr id="24" name="Shape 17"/>
          <p:cNvSpPr/>
          <p:nvPr/>
        </p:nvSpPr>
        <p:spPr>
          <a:xfrm>
            <a:off x="457200" y="2798064"/>
            <a:ext cx="384048" cy="384048"/>
          </a:xfrm>
          <a:prstGeom prst="ellipse">
            <a:avLst/>
          </a:prstGeom>
          <a:solidFill>
            <a:srgbClr val="002C7C"/>
          </a:solidFill>
          <a:ln/>
        </p:spPr>
      </p:sp>
      <p:pic>
        <p:nvPicPr>
          <p:cNvPr id="25" name="Image 5" descr="preencoded.png">    </p:cNvPr>
          <p:cNvPicPr>
            <a:picLocks noChangeAspect="1"/>
          </p:cNvPicPr>
          <p:nvPr/>
        </p:nvPicPr>
        <p:blipFill>
          <a:blip r:embed="rId7"/>
          <a:stretch>
            <a:fillRect/>
          </a:stretch>
        </p:blipFill>
        <p:spPr>
          <a:xfrm>
            <a:off x="560893" y="2901757"/>
            <a:ext cx="176662" cy="176662"/>
          </a:xfrm>
          <a:prstGeom prst="rect">
            <a:avLst/>
          </a:prstGeom>
        </p:spPr>
      </p:pic>
      <p:sp>
        <p:nvSpPr>
          <p:cNvPr id="26" name="Shape 18"/>
          <p:cNvSpPr/>
          <p:nvPr/>
        </p:nvSpPr>
        <p:spPr>
          <a:xfrm>
            <a:off x="932688" y="2788920"/>
            <a:ext cx="5303520" cy="402336"/>
          </a:xfrm>
          <a:prstGeom prst="roundRect">
            <a:avLst>
              <a:gd name="adj" fmla="val 18182"/>
            </a:avLst>
          </a:prstGeom>
          <a:solidFill>
            <a:srgbClr val="EEF2F7"/>
          </a:solidFill>
          <a:ln/>
          <a:effectLst>
            <a:outerShdw sx="100000" sy="100000" kx="0" ky="0" algn="bl" rotWithShape="0" blurRad="88900" dist="38100" dir="5400000">
              <a:srgbClr val="10213F">
                <a:alpha val="15000"/>
              </a:srgbClr>
            </a:outerShdw>
          </a:effectLst>
        </p:spPr>
      </p:sp>
      <p:sp>
        <p:nvSpPr>
          <p:cNvPr id="27" name="Text 19"/>
          <p:cNvSpPr/>
          <p:nvPr/>
        </p:nvSpPr>
        <p:spPr>
          <a:xfrm>
            <a:off x="1078992" y="2788920"/>
            <a:ext cx="5010912" cy="402336"/>
          </a:xfrm>
          <a:prstGeom prst="rect">
            <a:avLst/>
          </a:prstGeom>
          <a:noFill/>
          <a:ln/>
        </p:spPr>
        <p:txBody>
          <a:bodyPr wrap="square" lIns="0" tIns="0" rIns="0" bIns="0" rtlCol="0" anchor="ctr"/>
          <a:lstStyle/>
          <a:p>
            <a:pPr indent="0" marL="0">
              <a:buNone/>
            </a:pPr>
            <a:r>
              <a:rPr lang="en-US" sz="1150" dirty="0">
                <a:solidFill>
                  <a:srgbClr val="1F2733"/>
                </a:solidFill>
                <a:latin typeface="Arial" pitchFamily="34" charset="0"/>
                <a:ea typeface="Arial" pitchFamily="34" charset="-122"/>
                <a:cs typeface="Arial" pitchFamily="34" charset="-120"/>
              </a:rPr>
              <a:t>When it breaks, what fails first — latency, cost, or correctness?</a:t>
            </a:r>
            <a:endParaRPr lang="en-US" sz="1150" dirty="0"/>
          </a:p>
        </p:txBody>
      </p:sp>
      <p:sp>
        <p:nvSpPr>
          <p:cNvPr id="28" name="Shape 20"/>
          <p:cNvSpPr/>
          <p:nvPr/>
        </p:nvSpPr>
        <p:spPr>
          <a:xfrm>
            <a:off x="8302752" y="3291840"/>
            <a:ext cx="384048" cy="384048"/>
          </a:xfrm>
          <a:prstGeom prst="ellipse">
            <a:avLst/>
          </a:prstGeom>
          <a:solidFill>
            <a:srgbClr val="EEA901"/>
          </a:solidFill>
          <a:ln/>
        </p:spPr>
      </p:sp>
      <p:pic>
        <p:nvPicPr>
          <p:cNvPr id="29" name="Image 6" descr="preencoded.png">    </p:cNvPr>
          <p:cNvPicPr>
            <a:picLocks noChangeAspect="1"/>
          </p:cNvPicPr>
          <p:nvPr/>
        </p:nvPicPr>
        <p:blipFill>
          <a:blip r:embed="rId8"/>
          <a:stretch>
            <a:fillRect/>
          </a:stretch>
        </p:blipFill>
        <p:spPr>
          <a:xfrm>
            <a:off x="8410285" y="3399373"/>
            <a:ext cx="168981" cy="168981"/>
          </a:xfrm>
          <a:prstGeom prst="rect">
            <a:avLst/>
          </a:prstGeom>
        </p:spPr>
      </p:pic>
      <p:sp>
        <p:nvSpPr>
          <p:cNvPr id="30" name="Shape 21"/>
          <p:cNvSpPr/>
          <p:nvPr/>
        </p:nvSpPr>
        <p:spPr>
          <a:xfrm>
            <a:off x="2907792" y="3282696"/>
            <a:ext cx="5303520" cy="402336"/>
          </a:xfrm>
          <a:prstGeom prst="roundRect">
            <a:avLst>
              <a:gd name="adj" fmla="val 18182"/>
            </a:avLst>
          </a:prstGeom>
          <a:solidFill>
            <a:srgbClr val="FCF3D8"/>
          </a:solidFill>
          <a:ln/>
          <a:effectLst>
            <a:outerShdw sx="100000" sy="100000" kx="0" ky="0" algn="bl" rotWithShape="0" blurRad="88900" dist="38100" dir="5400000">
              <a:srgbClr val="10213F">
                <a:alpha val="15000"/>
              </a:srgbClr>
            </a:outerShdw>
          </a:effectLst>
        </p:spPr>
      </p:sp>
      <p:sp>
        <p:nvSpPr>
          <p:cNvPr id="31" name="Text 22"/>
          <p:cNvSpPr/>
          <p:nvPr/>
        </p:nvSpPr>
        <p:spPr>
          <a:xfrm>
            <a:off x="3054096" y="3282696"/>
            <a:ext cx="5010912" cy="402336"/>
          </a:xfrm>
          <a:prstGeom prst="rect">
            <a:avLst/>
          </a:prstGeom>
          <a:noFill/>
          <a:ln/>
        </p:spPr>
        <p:txBody>
          <a:bodyPr wrap="square" lIns="0" tIns="0" rIns="0" bIns="0" rtlCol="0" anchor="ctr"/>
          <a:lstStyle/>
          <a:p>
            <a:pPr indent="0" marL="0">
              <a:buNone/>
            </a:pPr>
            <a:r>
              <a:rPr lang="en-US" sz="1150" dirty="0">
                <a:solidFill>
                  <a:srgbClr val="1F2733"/>
                </a:solidFill>
                <a:latin typeface="Arial" pitchFamily="34" charset="0"/>
                <a:ea typeface="Arial" pitchFamily="34" charset="-122"/>
                <a:cs typeface="Arial" pitchFamily="34" charset="-120"/>
              </a:rPr>
              <a:t>Latency — serverless cold-starts right when bursts hit.</a:t>
            </a:r>
            <a:endParaRPr lang="en-US" sz="1150" dirty="0"/>
          </a:p>
        </p:txBody>
      </p:sp>
      <p:sp>
        <p:nvSpPr>
          <p:cNvPr id="32" name="Shape 23"/>
          <p:cNvSpPr/>
          <p:nvPr/>
        </p:nvSpPr>
        <p:spPr>
          <a:xfrm>
            <a:off x="457200" y="3840480"/>
            <a:ext cx="8229600" cy="731520"/>
          </a:xfrm>
          <a:prstGeom prst="roundRect">
            <a:avLst>
              <a:gd name="adj" fmla="val 11250"/>
            </a:avLst>
          </a:prstGeom>
          <a:solidFill>
            <a:srgbClr val="002C7C"/>
          </a:solidFill>
          <a:ln/>
          <a:effectLst>
            <a:outerShdw sx="100000" sy="100000" kx="0" ky="0" algn="bl" rotWithShape="0" blurRad="88900" dist="38100" dir="5400000">
              <a:srgbClr val="10213F">
                <a:alpha val="15000"/>
              </a:srgbClr>
            </a:outerShdw>
          </a:effectLst>
        </p:spPr>
      </p:sp>
      <p:sp>
        <p:nvSpPr>
          <p:cNvPr id="33" name="Shape 24"/>
          <p:cNvSpPr/>
          <p:nvPr/>
        </p:nvSpPr>
        <p:spPr>
          <a:xfrm>
            <a:off x="713232" y="3977640"/>
            <a:ext cx="457200" cy="457200"/>
          </a:xfrm>
          <a:prstGeom prst="ellipse">
            <a:avLst/>
          </a:prstGeom>
          <a:solidFill>
            <a:srgbClr val="EEA901"/>
          </a:solidFill>
          <a:ln/>
        </p:spPr>
      </p:sp>
      <p:pic>
        <p:nvPicPr>
          <p:cNvPr id="34" name="Image 7" descr="preencoded.png">    </p:cNvPr>
          <p:cNvPicPr>
            <a:picLocks noChangeAspect="1"/>
          </p:cNvPicPr>
          <p:nvPr/>
        </p:nvPicPr>
        <p:blipFill>
          <a:blip r:embed="rId9"/>
          <a:stretch>
            <a:fillRect/>
          </a:stretch>
        </p:blipFill>
        <p:spPr>
          <a:xfrm>
            <a:off x="836676" y="4101084"/>
            <a:ext cx="210312" cy="210312"/>
          </a:xfrm>
          <a:prstGeom prst="rect">
            <a:avLst/>
          </a:prstGeom>
        </p:spPr>
      </p:pic>
      <p:sp>
        <p:nvSpPr>
          <p:cNvPr id="35" name="Text 25"/>
          <p:cNvSpPr/>
          <p:nvPr/>
        </p:nvSpPr>
        <p:spPr>
          <a:xfrm>
            <a:off x="1417320" y="3886200"/>
            <a:ext cx="7086600" cy="658368"/>
          </a:xfrm>
          <a:prstGeom prst="rect">
            <a:avLst/>
          </a:prstGeom>
          <a:noFill/>
          <a:ln/>
        </p:spPr>
        <p:txBody>
          <a:bodyPr wrap="square" lIns="0" tIns="0" rIns="0" bIns="0" rtlCol="0" anchor="ctr"/>
          <a:lstStyle/>
          <a:p>
            <a:pPr indent="0" marL="0">
              <a:lnSpc>
                <a:spcPct val="104000"/>
              </a:lnSpc>
              <a:buNone/>
            </a:pPr>
            <a:r>
              <a:rPr lang="en-US" sz="950" b="1" spc="100" kern="0" dirty="0">
                <a:solidFill>
                  <a:srgbClr val="EEA901"/>
                </a:solidFill>
                <a:latin typeface="Arial" pitchFamily="34" charset="0"/>
                <a:ea typeface="Arial" pitchFamily="34" charset="-122"/>
                <a:cs typeface="Arial" pitchFamily="34" charset="-120"/>
              </a:rPr>
              <a:t>THE QUESTION MANGA ARRIVED AT — CLAUDE ONLY ASKED</a:t>
            </a:r>
            <a:endParaRPr lang="en-US" sz="950" dirty="0"/>
          </a:p>
          <a:p>
            <a:pPr indent="0" marL="0">
              <a:lnSpc>
                <a:spcPct val="104000"/>
              </a:lnSpc>
              <a:buNone/>
            </a:pPr>
            <a:r>
              <a:rPr lang="en-US" sz="1250" b="1" dirty="0">
                <a:solidFill>
                  <a:srgbClr val="FFFFFF"/>
                </a:solidFill>
                <a:latin typeface="Arial" pitchFamily="34" charset="0"/>
                <a:ea typeface="Arial" pitchFamily="34" charset="-122"/>
                <a:cs typeface="Arial" pitchFamily="34" charset="-120"/>
              </a:rPr>
              <a:t>Can predictive pre-warming cut p95 latency for bursty stream-processing workloads, versus default serverless autoscaling?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30352" cy="530352"/>
          </a:xfrm>
          <a:prstGeom prst="ellipse">
            <a:avLst/>
          </a:prstGeom>
          <a:solidFill>
            <a:srgbClr val="EEA901"/>
          </a:solidFill>
          <a:ln/>
          <a:effectLst>
            <a:outerShdw sx="100000" sy="100000" kx="0" ky="0" algn="bl" rotWithShape="0" blurRad="88900" dist="38100" dir="5400000">
              <a:srgbClr val="10213F">
                <a:alpha val="15000"/>
              </a:srgbClr>
            </a:outerShdw>
          </a:effectLst>
        </p:spPr>
      </p:sp>
      <p:pic>
        <p:nvPicPr>
          <p:cNvPr id="5" name="Image 1" descr="preencoded.png">    </p:cNvPr>
          <p:cNvPicPr>
            <a:picLocks noChangeAspect="1"/>
          </p:cNvPicPr>
          <p:nvPr/>
        </p:nvPicPr>
        <p:blipFill>
          <a:blip r:embed="rId3"/>
          <a:stretch>
            <a:fillRect/>
          </a:stretch>
        </p:blipFill>
        <p:spPr>
          <a:xfrm>
            <a:off x="600395" y="508955"/>
            <a:ext cx="243962" cy="243962"/>
          </a:xfrm>
          <a:prstGeom prst="rect">
            <a:avLst/>
          </a:prstGeom>
        </p:spPr>
      </p:pic>
      <p:sp>
        <p:nvSpPr>
          <p:cNvPr id="6" name="Text 2"/>
          <p:cNvSpPr/>
          <p:nvPr/>
        </p:nvSpPr>
        <p:spPr>
          <a:xfrm>
            <a:off x="1170432" y="292608"/>
            <a:ext cx="5486400" cy="457200"/>
          </a:xfrm>
          <a:prstGeom prst="rect">
            <a:avLst/>
          </a:prstGeom>
          <a:noFill/>
          <a:ln/>
        </p:spPr>
        <p:txBody>
          <a:bodyPr wrap="square" lIns="0" tIns="0" rIns="0" bIns="0" rtlCol="0" anchor="ctr"/>
          <a:lstStyle/>
          <a:p>
            <a:pPr indent="0" marL="0">
              <a:buNone/>
            </a:pPr>
            <a:r>
              <a:rPr lang="en-US" sz="2200" b="1" dirty="0">
                <a:solidFill>
                  <a:srgbClr val="002C7C"/>
                </a:solidFill>
                <a:latin typeface="Arial" pitchFamily="34" charset="0"/>
                <a:ea typeface="Arial" pitchFamily="34" charset="-122"/>
                <a:cs typeface="Arial" pitchFamily="34" charset="-120"/>
              </a:rPr>
              <a:t>From interest to a question, live</a:t>
            </a:r>
            <a:endParaRPr lang="en-US" sz="2200" dirty="0"/>
          </a:p>
        </p:txBody>
      </p:sp>
      <p:sp>
        <p:nvSpPr>
          <p:cNvPr id="7" name="Shape 3"/>
          <p:cNvSpPr/>
          <p:nvPr/>
        </p:nvSpPr>
        <p:spPr>
          <a:xfrm>
            <a:off x="1197864" y="822960"/>
            <a:ext cx="1280160" cy="45720"/>
          </a:xfrm>
          <a:prstGeom prst="rect">
            <a:avLst/>
          </a:prstGeom>
          <a:solidFill>
            <a:srgbClr val="EEA901"/>
          </a:solidFill>
          <a:ln/>
        </p:spPr>
      </p:sp>
      <p:sp>
        <p:nvSpPr>
          <p:cNvPr id="8" name="Text 4"/>
          <p:cNvSpPr/>
          <p:nvPr/>
        </p:nvSpPr>
        <p:spPr>
          <a:xfrm>
            <a:off x="1170432" y="905256"/>
            <a:ext cx="5486400" cy="274320"/>
          </a:xfrm>
          <a:prstGeom prst="rect">
            <a:avLst/>
          </a:prstGeom>
          <a:noFill/>
          <a:ln/>
        </p:spPr>
        <p:txBody>
          <a:bodyPr wrap="square" lIns="0" tIns="0" rIns="0" bIns="0" rtlCol="0" anchor="ctr"/>
          <a:lstStyle/>
          <a:p>
            <a:pPr indent="0" marL="0">
              <a:buNone/>
            </a:pPr>
            <a:r>
              <a:rPr lang="en-US" sz="1200" i="1" dirty="0">
                <a:solidFill>
                  <a:srgbClr val="5B6675"/>
                </a:solidFill>
                <a:latin typeface="Arial" pitchFamily="34" charset="0"/>
                <a:ea typeface="Arial" pitchFamily="34" charset="-122"/>
                <a:cs typeface="Arial" pitchFamily="34" charset="-120"/>
              </a:rPr>
              <a:t>De l'intérêt à la question, en direct</a:t>
            </a:r>
            <a:endParaRPr lang="en-US" sz="1200" dirty="0"/>
          </a:p>
        </p:txBody>
      </p:sp>
      <p:sp>
        <p:nvSpPr>
          <p:cNvPr id="9" name="Shape 5"/>
          <p:cNvSpPr/>
          <p:nvPr/>
        </p:nvSpPr>
        <p:spPr>
          <a:xfrm>
            <a:off x="6858000" y="384048"/>
            <a:ext cx="1828800" cy="384048"/>
          </a:xfrm>
          <a:prstGeom prst="roundRect">
            <a:avLst>
              <a:gd name="adj" fmla="val 19048"/>
            </a:avLst>
          </a:prstGeom>
          <a:solidFill>
            <a:srgbClr val="002C7C"/>
          </a:solidFill>
          <a:ln/>
        </p:spPr>
      </p:sp>
      <p:sp>
        <p:nvSpPr>
          <p:cNvPr id="10" name="Text 6"/>
          <p:cNvSpPr/>
          <p:nvPr/>
        </p:nvSpPr>
        <p:spPr>
          <a:xfrm>
            <a:off x="6858000" y="384048"/>
            <a:ext cx="1828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Claude Projects</a:t>
            </a:r>
            <a:endParaRPr lang="en-US" sz="1100" dirty="0"/>
          </a:p>
        </p:txBody>
      </p:sp>
      <p:sp>
        <p:nvSpPr>
          <p:cNvPr id="11" name="Text 7"/>
          <p:cNvSpPr/>
          <p:nvPr/>
        </p:nvSpPr>
        <p:spPr>
          <a:xfrm>
            <a:off x="4206240" y="877824"/>
            <a:ext cx="4480560" cy="256032"/>
          </a:xfrm>
          <a:prstGeom prst="rect">
            <a:avLst/>
          </a:prstGeom>
          <a:noFill/>
          <a:ln/>
        </p:spPr>
        <p:txBody>
          <a:bodyPr wrap="square" lIns="0" tIns="0" rIns="0" bIns="0" rtlCol="0" anchor="ctr"/>
          <a:lstStyle/>
          <a:p>
            <a:pPr algn="r" indent="0" marL="0">
              <a:buNone/>
            </a:pPr>
            <a:r>
              <a:rPr lang="en-US" sz="1050" i="1" dirty="0">
                <a:solidFill>
                  <a:srgbClr val="5B6675"/>
                </a:solidFill>
                <a:latin typeface="Arial" pitchFamily="34" charset="0"/>
                <a:ea typeface="Arial" pitchFamily="34" charset="-122"/>
                <a:cs typeface="Arial" pitchFamily="34" charset="-120"/>
              </a:rPr>
              <a:t>Brice · Université de Yaoundé I</a:t>
            </a:r>
            <a:endParaRPr lang="en-US" sz="1050" dirty="0"/>
          </a:p>
        </p:txBody>
      </p:sp>
      <p:sp>
        <p:nvSpPr>
          <p:cNvPr id="12" name="Shape 8"/>
          <p:cNvSpPr/>
          <p:nvPr/>
        </p:nvSpPr>
        <p:spPr>
          <a:xfrm>
            <a:off x="8302752" y="1298448"/>
            <a:ext cx="384048" cy="384048"/>
          </a:xfrm>
          <a:prstGeom prst="ellipse">
            <a:avLst/>
          </a:prstGeom>
          <a:solidFill>
            <a:srgbClr val="EEA901"/>
          </a:solidFill>
          <a:ln/>
        </p:spPr>
      </p:sp>
      <p:pic>
        <p:nvPicPr>
          <p:cNvPr id="13" name="Image 2" descr="preencoded.png">    </p:cNvPr>
          <p:cNvPicPr>
            <a:picLocks noChangeAspect="1"/>
          </p:cNvPicPr>
          <p:nvPr/>
        </p:nvPicPr>
        <p:blipFill>
          <a:blip r:embed="rId4"/>
          <a:stretch>
            <a:fillRect/>
          </a:stretch>
        </p:blipFill>
        <p:spPr>
          <a:xfrm>
            <a:off x="8410285" y="1405981"/>
            <a:ext cx="168981" cy="168981"/>
          </a:xfrm>
          <a:prstGeom prst="rect">
            <a:avLst/>
          </a:prstGeom>
        </p:spPr>
      </p:pic>
      <p:sp>
        <p:nvSpPr>
          <p:cNvPr id="14" name="Shape 9"/>
          <p:cNvSpPr/>
          <p:nvPr/>
        </p:nvSpPr>
        <p:spPr>
          <a:xfrm>
            <a:off x="2770632" y="1243584"/>
            <a:ext cx="5440680" cy="493776"/>
          </a:xfrm>
          <a:prstGeom prst="roundRect">
            <a:avLst>
              <a:gd name="adj" fmla="val 14815"/>
            </a:avLst>
          </a:prstGeom>
          <a:solidFill>
            <a:srgbClr val="FCF3D8"/>
          </a:solidFill>
          <a:ln/>
          <a:effectLst>
            <a:outerShdw sx="100000" sy="100000" kx="0" ky="0" algn="bl" rotWithShape="0" blurRad="88900" dist="38100" dir="5400000">
              <a:srgbClr val="10213F">
                <a:alpha val="15000"/>
              </a:srgbClr>
            </a:outerShdw>
          </a:effectLst>
        </p:spPr>
      </p:sp>
      <p:sp>
        <p:nvSpPr>
          <p:cNvPr id="15" name="Text 10"/>
          <p:cNvSpPr/>
          <p:nvPr/>
        </p:nvSpPr>
        <p:spPr>
          <a:xfrm>
            <a:off x="2916936" y="1243584"/>
            <a:ext cx="5148072" cy="493776"/>
          </a:xfrm>
          <a:prstGeom prst="rect">
            <a:avLst/>
          </a:prstGeom>
          <a:noFill/>
          <a:ln/>
        </p:spPr>
        <p:txBody>
          <a:bodyPr wrap="square" lIns="0" tIns="0" rIns="0" bIns="0" rtlCol="0" anchor="ctr"/>
          <a:lstStyle/>
          <a:p>
            <a:pPr indent="0" marL="0">
              <a:lnSpc>
                <a:spcPct val="100000"/>
              </a:lnSpc>
              <a:buNone/>
            </a:pPr>
            <a:r>
              <a:rPr lang="en-US" sz="1050" dirty="0">
                <a:solidFill>
                  <a:srgbClr val="1F2733"/>
                </a:solidFill>
                <a:latin typeface="Arial" pitchFamily="34" charset="0"/>
                <a:ea typeface="Arial" pitchFamily="34" charset="-122"/>
                <a:cs typeface="Arial" pitchFamily="34" charset="-120"/>
              </a:rPr>
              <a:t>AI to make Cameroon's RIS–RIN interconnection more stable &amp; efficient.</a:t>
            </a:r>
            <a:endParaRPr lang="en-US" sz="1050" dirty="0"/>
          </a:p>
          <a:p>
            <a:pPr indent="0" marL="0">
              <a:lnSpc>
                <a:spcPct val="100000"/>
              </a:lnSpc>
              <a:buNone/>
            </a:pPr>
            <a:r>
              <a:rPr lang="en-US" sz="950" i="1" dirty="0">
                <a:solidFill>
                  <a:srgbClr val="5B6675"/>
                </a:solidFill>
                <a:latin typeface="Arial" pitchFamily="34" charset="0"/>
                <a:ea typeface="Arial" pitchFamily="34" charset="-122"/>
                <a:cs typeface="Arial" pitchFamily="34" charset="-120"/>
              </a:rPr>
              <a:t>L'IA pour une interconnexion RIS–RIN plus stable et efficace.</a:t>
            </a:r>
            <a:endParaRPr lang="en-US" sz="1050" dirty="0"/>
          </a:p>
        </p:txBody>
      </p:sp>
      <p:sp>
        <p:nvSpPr>
          <p:cNvPr id="16" name="Shape 11"/>
          <p:cNvSpPr/>
          <p:nvPr/>
        </p:nvSpPr>
        <p:spPr>
          <a:xfrm>
            <a:off x="457200" y="1856232"/>
            <a:ext cx="384048" cy="384048"/>
          </a:xfrm>
          <a:prstGeom prst="ellipse">
            <a:avLst/>
          </a:prstGeom>
          <a:solidFill>
            <a:srgbClr val="002C7C"/>
          </a:solidFill>
          <a:ln/>
        </p:spPr>
      </p:sp>
      <p:pic>
        <p:nvPicPr>
          <p:cNvPr id="17" name="Image 3" descr="preencoded.png">    </p:cNvPr>
          <p:cNvPicPr>
            <a:picLocks noChangeAspect="1"/>
          </p:cNvPicPr>
          <p:nvPr/>
        </p:nvPicPr>
        <p:blipFill>
          <a:blip r:embed="rId5"/>
          <a:stretch>
            <a:fillRect/>
          </a:stretch>
        </p:blipFill>
        <p:spPr>
          <a:xfrm>
            <a:off x="560893" y="1959925"/>
            <a:ext cx="176662" cy="176662"/>
          </a:xfrm>
          <a:prstGeom prst="rect">
            <a:avLst/>
          </a:prstGeom>
        </p:spPr>
      </p:pic>
      <p:sp>
        <p:nvSpPr>
          <p:cNvPr id="18" name="Shape 12"/>
          <p:cNvSpPr/>
          <p:nvPr/>
        </p:nvSpPr>
        <p:spPr>
          <a:xfrm>
            <a:off x="932688" y="1801368"/>
            <a:ext cx="5440680" cy="493776"/>
          </a:xfrm>
          <a:prstGeom prst="roundRect">
            <a:avLst>
              <a:gd name="adj" fmla="val 14815"/>
            </a:avLst>
          </a:prstGeom>
          <a:solidFill>
            <a:srgbClr val="EEF2F7"/>
          </a:solidFill>
          <a:ln/>
          <a:effectLst>
            <a:outerShdw sx="100000" sy="100000" kx="0" ky="0" algn="bl" rotWithShape="0" blurRad="88900" dist="38100" dir="5400000">
              <a:srgbClr val="10213F">
                <a:alpha val="15000"/>
              </a:srgbClr>
            </a:outerShdw>
          </a:effectLst>
        </p:spPr>
      </p:sp>
      <p:sp>
        <p:nvSpPr>
          <p:cNvPr id="19" name="Text 13"/>
          <p:cNvSpPr/>
          <p:nvPr/>
        </p:nvSpPr>
        <p:spPr>
          <a:xfrm>
            <a:off x="1078992" y="1801368"/>
            <a:ext cx="5148072" cy="493776"/>
          </a:xfrm>
          <a:prstGeom prst="rect">
            <a:avLst/>
          </a:prstGeom>
          <a:noFill/>
          <a:ln/>
        </p:spPr>
        <p:txBody>
          <a:bodyPr wrap="square" lIns="0" tIns="0" rIns="0" bIns="0" rtlCol="0" anchor="ctr"/>
          <a:lstStyle/>
          <a:p>
            <a:pPr indent="0" marL="0">
              <a:lnSpc>
                <a:spcPct val="100000"/>
              </a:lnSpc>
              <a:buNone/>
            </a:pPr>
            <a:r>
              <a:rPr lang="en-US" sz="1050" dirty="0">
                <a:solidFill>
                  <a:srgbClr val="1F2733"/>
                </a:solidFill>
                <a:latin typeface="Arial" pitchFamily="34" charset="0"/>
                <a:ea typeface="Arial" pitchFamily="34" charset="-122"/>
                <a:cs typeface="Arial" pitchFamily="34" charset="-120"/>
              </a:rPr>
              <a:t>Broad! What pulls you most — stability, or efficiency?</a:t>
            </a:r>
            <a:endParaRPr lang="en-US" sz="1050" dirty="0"/>
          </a:p>
          <a:p>
            <a:pPr indent="0" marL="0">
              <a:lnSpc>
                <a:spcPct val="100000"/>
              </a:lnSpc>
              <a:buNone/>
            </a:pPr>
            <a:r>
              <a:rPr lang="en-US" sz="950" i="1" dirty="0">
                <a:solidFill>
                  <a:srgbClr val="5B6675"/>
                </a:solidFill>
                <a:latin typeface="Arial" pitchFamily="34" charset="0"/>
                <a:ea typeface="Arial" pitchFamily="34" charset="-122"/>
                <a:cs typeface="Arial" pitchFamily="34" charset="-120"/>
              </a:rPr>
              <a:t>Vaste ! Stabilité ou efficacité — qu'est-ce qui vous attire le plus ?</a:t>
            </a:r>
            <a:endParaRPr lang="en-US" sz="1050" dirty="0"/>
          </a:p>
        </p:txBody>
      </p:sp>
      <p:sp>
        <p:nvSpPr>
          <p:cNvPr id="20" name="Shape 14"/>
          <p:cNvSpPr/>
          <p:nvPr/>
        </p:nvSpPr>
        <p:spPr>
          <a:xfrm>
            <a:off x="8302752" y="2414016"/>
            <a:ext cx="384048" cy="384048"/>
          </a:xfrm>
          <a:prstGeom prst="ellipse">
            <a:avLst/>
          </a:prstGeom>
          <a:solidFill>
            <a:srgbClr val="EEA901"/>
          </a:solidFill>
          <a:ln/>
        </p:spPr>
      </p:sp>
      <p:pic>
        <p:nvPicPr>
          <p:cNvPr id="21" name="Image 4" descr="preencoded.png">    </p:cNvPr>
          <p:cNvPicPr>
            <a:picLocks noChangeAspect="1"/>
          </p:cNvPicPr>
          <p:nvPr/>
        </p:nvPicPr>
        <p:blipFill>
          <a:blip r:embed="rId6"/>
          <a:stretch>
            <a:fillRect/>
          </a:stretch>
        </p:blipFill>
        <p:spPr>
          <a:xfrm>
            <a:off x="8410285" y="2521549"/>
            <a:ext cx="168981" cy="168981"/>
          </a:xfrm>
          <a:prstGeom prst="rect">
            <a:avLst/>
          </a:prstGeom>
        </p:spPr>
      </p:pic>
      <p:sp>
        <p:nvSpPr>
          <p:cNvPr id="22" name="Shape 15"/>
          <p:cNvSpPr/>
          <p:nvPr/>
        </p:nvSpPr>
        <p:spPr>
          <a:xfrm>
            <a:off x="2770632" y="2359152"/>
            <a:ext cx="5440680" cy="493776"/>
          </a:xfrm>
          <a:prstGeom prst="roundRect">
            <a:avLst>
              <a:gd name="adj" fmla="val 14815"/>
            </a:avLst>
          </a:prstGeom>
          <a:solidFill>
            <a:srgbClr val="FCF3D8"/>
          </a:solidFill>
          <a:ln/>
          <a:effectLst>
            <a:outerShdw sx="100000" sy="100000" kx="0" ky="0" algn="bl" rotWithShape="0" blurRad="88900" dist="38100" dir="5400000">
              <a:srgbClr val="10213F">
                <a:alpha val="15000"/>
              </a:srgbClr>
            </a:outerShdw>
          </a:effectLst>
        </p:spPr>
      </p:sp>
      <p:sp>
        <p:nvSpPr>
          <p:cNvPr id="23" name="Text 16"/>
          <p:cNvSpPr/>
          <p:nvPr/>
        </p:nvSpPr>
        <p:spPr>
          <a:xfrm>
            <a:off x="2916936" y="2359152"/>
            <a:ext cx="5148072" cy="493776"/>
          </a:xfrm>
          <a:prstGeom prst="rect">
            <a:avLst/>
          </a:prstGeom>
          <a:noFill/>
          <a:ln/>
        </p:spPr>
        <p:txBody>
          <a:bodyPr wrap="square" lIns="0" tIns="0" rIns="0" bIns="0" rtlCol="0" anchor="ctr"/>
          <a:lstStyle/>
          <a:p>
            <a:pPr indent="0" marL="0">
              <a:lnSpc>
                <a:spcPct val="100000"/>
              </a:lnSpc>
              <a:buNone/>
            </a:pPr>
            <a:r>
              <a:rPr lang="en-US" sz="1050" dirty="0">
                <a:solidFill>
                  <a:srgbClr val="1F2733"/>
                </a:solidFill>
                <a:latin typeface="Arial" pitchFamily="34" charset="0"/>
                <a:ea typeface="Arial" pitchFamily="34" charset="-122"/>
                <a:cs typeface="Arial" pitchFamily="34" charset="-120"/>
              </a:rPr>
              <a:t>Stability — holding frequency in range when the grids connect.</a:t>
            </a:r>
            <a:endParaRPr lang="en-US" sz="1050" dirty="0"/>
          </a:p>
          <a:p>
            <a:pPr indent="0" marL="0">
              <a:lnSpc>
                <a:spcPct val="100000"/>
              </a:lnSpc>
              <a:buNone/>
            </a:pPr>
            <a:r>
              <a:rPr lang="en-US" sz="950" i="1" dirty="0">
                <a:solidFill>
                  <a:srgbClr val="5B6675"/>
                </a:solidFill>
                <a:latin typeface="Arial" pitchFamily="34" charset="0"/>
                <a:ea typeface="Arial" pitchFamily="34" charset="-122"/>
                <a:cs typeface="Arial" pitchFamily="34" charset="-120"/>
              </a:rPr>
              <a:t>La stabilité — tenir la fréquence quand les réseaux se connectent.</a:t>
            </a:r>
            <a:endParaRPr lang="en-US" sz="1050" dirty="0"/>
          </a:p>
        </p:txBody>
      </p:sp>
      <p:sp>
        <p:nvSpPr>
          <p:cNvPr id="24" name="Shape 17"/>
          <p:cNvSpPr/>
          <p:nvPr/>
        </p:nvSpPr>
        <p:spPr>
          <a:xfrm>
            <a:off x="457200" y="2971800"/>
            <a:ext cx="384048" cy="384048"/>
          </a:xfrm>
          <a:prstGeom prst="ellipse">
            <a:avLst/>
          </a:prstGeom>
          <a:solidFill>
            <a:srgbClr val="002C7C"/>
          </a:solidFill>
          <a:ln/>
        </p:spPr>
      </p:sp>
      <p:pic>
        <p:nvPicPr>
          <p:cNvPr id="25" name="Image 5" descr="preencoded.png">    </p:cNvPr>
          <p:cNvPicPr>
            <a:picLocks noChangeAspect="1"/>
          </p:cNvPicPr>
          <p:nvPr/>
        </p:nvPicPr>
        <p:blipFill>
          <a:blip r:embed="rId7"/>
          <a:stretch>
            <a:fillRect/>
          </a:stretch>
        </p:blipFill>
        <p:spPr>
          <a:xfrm>
            <a:off x="560893" y="3075493"/>
            <a:ext cx="176662" cy="176662"/>
          </a:xfrm>
          <a:prstGeom prst="rect">
            <a:avLst/>
          </a:prstGeom>
        </p:spPr>
      </p:pic>
      <p:sp>
        <p:nvSpPr>
          <p:cNvPr id="26" name="Shape 18"/>
          <p:cNvSpPr/>
          <p:nvPr/>
        </p:nvSpPr>
        <p:spPr>
          <a:xfrm>
            <a:off x="932688" y="2916936"/>
            <a:ext cx="5440680" cy="493776"/>
          </a:xfrm>
          <a:prstGeom prst="roundRect">
            <a:avLst>
              <a:gd name="adj" fmla="val 14815"/>
            </a:avLst>
          </a:prstGeom>
          <a:solidFill>
            <a:srgbClr val="EEF2F7"/>
          </a:solidFill>
          <a:ln/>
          <a:effectLst>
            <a:outerShdw sx="100000" sy="100000" kx="0" ky="0" algn="bl" rotWithShape="0" blurRad="88900" dist="38100" dir="5400000">
              <a:srgbClr val="10213F">
                <a:alpha val="15000"/>
              </a:srgbClr>
            </a:outerShdw>
          </a:effectLst>
        </p:spPr>
      </p:sp>
      <p:sp>
        <p:nvSpPr>
          <p:cNvPr id="27" name="Text 19"/>
          <p:cNvSpPr/>
          <p:nvPr/>
        </p:nvSpPr>
        <p:spPr>
          <a:xfrm>
            <a:off x="1078992" y="2916936"/>
            <a:ext cx="5148072" cy="493776"/>
          </a:xfrm>
          <a:prstGeom prst="rect">
            <a:avLst/>
          </a:prstGeom>
          <a:noFill/>
          <a:ln/>
        </p:spPr>
        <p:txBody>
          <a:bodyPr wrap="square" lIns="0" tIns="0" rIns="0" bIns="0" rtlCol="0" anchor="ctr"/>
          <a:lstStyle/>
          <a:p>
            <a:pPr indent="0" marL="0">
              <a:lnSpc>
                <a:spcPct val="100000"/>
              </a:lnSpc>
              <a:buNone/>
            </a:pPr>
            <a:r>
              <a:rPr lang="en-US" sz="1050" dirty="0">
                <a:solidFill>
                  <a:srgbClr val="1F2733"/>
                </a:solidFill>
                <a:latin typeface="Arial" pitchFamily="34" charset="0"/>
                <a:ea typeface="Arial" pitchFamily="34" charset="-122"/>
                <a:cs typeface="Arial" pitchFamily="34" charset="-120"/>
              </a:rPr>
              <a:t>Which lever — forecasting or control? And what would you measure?</a:t>
            </a:r>
            <a:endParaRPr lang="en-US" sz="1050" dirty="0"/>
          </a:p>
          <a:p>
            <a:pPr indent="0" marL="0">
              <a:lnSpc>
                <a:spcPct val="100000"/>
              </a:lnSpc>
              <a:buNone/>
            </a:pPr>
            <a:r>
              <a:rPr lang="en-US" sz="950" i="1" dirty="0">
                <a:solidFill>
                  <a:srgbClr val="5B6675"/>
                </a:solidFill>
                <a:latin typeface="Arial" pitchFamily="34" charset="0"/>
                <a:ea typeface="Arial" pitchFamily="34" charset="-122"/>
                <a:cs typeface="Arial" pitchFamily="34" charset="-120"/>
              </a:rPr>
              <a:t>Quel levier — prévision ou contrôle ? Et que mesureriez-vous ?</a:t>
            </a:r>
            <a:endParaRPr lang="en-US" sz="1050" dirty="0"/>
          </a:p>
        </p:txBody>
      </p:sp>
      <p:sp>
        <p:nvSpPr>
          <p:cNvPr id="28" name="Shape 20"/>
          <p:cNvSpPr/>
          <p:nvPr/>
        </p:nvSpPr>
        <p:spPr>
          <a:xfrm>
            <a:off x="457200" y="3529584"/>
            <a:ext cx="8229600" cy="1060704"/>
          </a:xfrm>
          <a:prstGeom prst="roundRect">
            <a:avLst>
              <a:gd name="adj" fmla="val 7759"/>
            </a:avLst>
          </a:prstGeom>
          <a:solidFill>
            <a:srgbClr val="002C7C"/>
          </a:solidFill>
          <a:ln/>
          <a:effectLst>
            <a:outerShdw sx="100000" sy="100000" kx="0" ky="0" algn="bl" rotWithShape="0" blurRad="88900" dist="38100" dir="5400000">
              <a:srgbClr val="10213F">
                <a:alpha val="15000"/>
              </a:srgbClr>
            </a:outerShdw>
          </a:effectLst>
        </p:spPr>
      </p:sp>
      <p:sp>
        <p:nvSpPr>
          <p:cNvPr id="29" name="Shape 21"/>
          <p:cNvSpPr/>
          <p:nvPr/>
        </p:nvSpPr>
        <p:spPr>
          <a:xfrm>
            <a:off x="713232" y="3831336"/>
            <a:ext cx="457200" cy="457200"/>
          </a:xfrm>
          <a:prstGeom prst="ellipse">
            <a:avLst/>
          </a:prstGeom>
          <a:solidFill>
            <a:srgbClr val="EEA901"/>
          </a:solidFill>
          <a:ln/>
        </p:spPr>
      </p:sp>
      <p:pic>
        <p:nvPicPr>
          <p:cNvPr id="30" name="Image 6" descr="preencoded.png">    </p:cNvPr>
          <p:cNvPicPr>
            <a:picLocks noChangeAspect="1"/>
          </p:cNvPicPr>
          <p:nvPr/>
        </p:nvPicPr>
        <p:blipFill>
          <a:blip r:embed="rId8"/>
          <a:stretch>
            <a:fillRect/>
          </a:stretch>
        </p:blipFill>
        <p:spPr>
          <a:xfrm>
            <a:off x="836676" y="3954780"/>
            <a:ext cx="210312" cy="210312"/>
          </a:xfrm>
          <a:prstGeom prst="rect">
            <a:avLst/>
          </a:prstGeom>
        </p:spPr>
      </p:pic>
      <p:sp>
        <p:nvSpPr>
          <p:cNvPr id="31" name="Text 22"/>
          <p:cNvSpPr/>
          <p:nvPr/>
        </p:nvSpPr>
        <p:spPr>
          <a:xfrm>
            <a:off x="1417320" y="3593592"/>
            <a:ext cx="7086600" cy="932688"/>
          </a:xfrm>
          <a:prstGeom prst="rect">
            <a:avLst/>
          </a:prstGeom>
          <a:noFill/>
          <a:ln/>
        </p:spPr>
        <p:txBody>
          <a:bodyPr wrap="square" lIns="0" tIns="0" rIns="0" bIns="0" rtlCol="0" anchor="ctr"/>
          <a:lstStyle/>
          <a:p>
            <a:pPr indent="0" marL="0">
              <a:lnSpc>
                <a:spcPct val="103000"/>
              </a:lnSpc>
              <a:buNone/>
            </a:pPr>
            <a:r>
              <a:rPr lang="en-US" sz="900" b="1" spc="50" kern="0" dirty="0">
                <a:solidFill>
                  <a:srgbClr val="EEA901"/>
                </a:solidFill>
                <a:latin typeface="Arial" pitchFamily="34" charset="0"/>
                <a:ea typeface="Arial" pitchFamily="34" charset="-122"/>
                <a:cs typeface="Arial" pitchFamily="34" charset="-120"/>
              </a:rPr>
              <a:t>THE QUESTION BRICE ARRIVED AT — CLAUDE ONLY ASKED</a:t>
            </a:r>
            <a:endParaRPr lang="en-US" sz="900" dirty="0"/>
          </a:p>
          <a:p>
            <a:pPr indent="0" marL="0">
              <a:lnSpc>
                <a:spcPct val="103000"/>
              </a:lnSpc>
              <a:buNone/>
            </a:pPr>
            <a:r>
              <a:rPr lang="en-US" sz="1100" b="1" dirty="0">
                <a:solidFill>
                  <a:srgbClr val="FFFFFF"/>
                </a:solidFill>
                <a:latin typeface="Arial" pitchFamily="34" charset="0"/>
                <a:ea typeface="Arial" pitchFamily="34" charset="-122"/>
                <a:cs typeface="Arial" pitchFamily="34" charset="-120"/>
              </a:rPr>
              <a:t>Can LSTM load-forecasting reduce frequency deviation after RIS–RIN interconnection, vs. the baseline?</a:t>
            </a:r>
            <a:endParaRPr lang="en-US" sz="900" dirty="0"/>
          </a:p>
          <a:p>
            <a:pPr indent="0" marL="0">
              <a:lnSpc>
                <a:spcPct val="103000"/>
              </a:lnSpc>
              <a:buNone/>
            </a:pPr>
            <a:r>
              <a:rPr lang="en-US" sz="1000" i="1" dirty="0">
                <a:solidFill>
                  <a:srgbClr val="C7D3EA"/>
                </a:solidFill>
                <a:latin typeface="Arial" pitchFamily="34" charset="0"/>
                <a:ea typeface="Arial" pitchFamily="34" charset="-122"/>
                <a:cs typeface="Arial" pitchFamily="34" charset="-120"/>
              </a:rPr>
              <a:t>La prévision LSTM peut-elle réduire l'écart de fréquence après l'interconnexion RIS–RIN ?</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5" name="Text 2"/>
          <p:cNvSpPr/>
          <p:nvPr/>
        </p:nvSpPr>
        <p:spPr>
          <a:xfrm>
            <a:off x="457200" y="365760"/>
            <a:ext cx="548640" cy="548640"/>
          </a:xfrm>
          <a:prstGeom prst="rect">
            <a:avLst/>
          </a:prstGeom>
          <a:noFill/>
          <a:ln/>
        </p:spPr>
        <p:txBody>
          <a:bodyPr wrap="square" lIns="0" tIns="0" rIns="0" bIns="0" rtlCol="0" anchor="ctr"/>
          <a:lstStyle/>
          <a:p>
            <a:pPr algn="ctr" indent="0" marL="0">
              <a:buNone/>
            </a:pPr>
            <a:r>
              <a:rPr lang="en-US" sz="2400" b="1" dirty="0">
                <a:solidFill>
                  <a:srgbClr val="002C7C"/>
                </a:solidFill>
                <a:latin typeface="Arial" pitchFamily="34" charset="0"/>
                <a:ea typeface="Arial" pitchFamily="34" charset="-122"/>
                <a:cs typeface="Arial" pitchFamily="34" charset="-120"/>
              </a:rPr>
              <a:t>2</a:t>
            </a:r>
            <a:endParaRPr lang="en-US" sz="2400" dirty="0"/>
          </a:p>
        </p:txBody>
      </p:sp>
      <p:sp>
        <p:nvSpPr>
          <p:cNvPr id="6" name="Text 3"/>
          <p:cNvSpPr/>
          <p:nvPr/>
        </p:nvSpPr>
        <p:spPr>
          <a:xfrm>
            <a:off x="1188720" y="310896"/>
            <a:ext cx="530352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Orienting to the field</a:t>
            </a:r>
            <a:endParaRPr lang="en-US" sz="2400" dirty="0"/>
          </a:p>
        </p:txBody>
      </p:sp>
      <p:sp>
        <p:nvSpPr>
          <p:cNvPr id="7" name="Shape 4"/>
          <p:cNvSpPr/>
          <p:nvPr/>
        </p:nvSpPr>
        <p:spPr>
          <a:xfrm>
            <a:off x="1216152" y="850392"/>
            <a:ext cx="1280160" cy="45720"/>
          </a:xfrm>
          <a:prstGeom prst="rect">
            <a:avLst/>
          </a:prstGeom>
          <a:solidFill>
            <a:srgbClr val="EEA901"/>
          </a:solidFill>
          <a:ln/>
        </p:spPr>
      </p:sp>
      <p:sp>
        <p:nvSpPr>
          <p:cNvPr id="8" name="Text 5"/>
          <p:cNvSpPr/>
          <p:nvPr/>
        </p:nvSpPr>
        <p:spPr>
          <a:xfrm>
            <a:off x="1188720" y="950976"/>
            <a:ext cx="5303520" cy="292608"/>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S'orienter dans le domaine</a:t>
            </a:r>
            <a:endParaRPr lang="en-US" sz="1250" dirty="0"/>
          </a:p>
        </p:txBody>
      </p:sp>
      <p:sp>
        <p:nvSpPr>
          <p:cNvPr id="9" name="Shape 6"/>
          <p:cNvSpPr/>
          <p:nvPr/>
        </p:nvSpPr>
        <p:spPr>
          <a:xfrm>
            <a:off x="6858000" y="420624"/>
            <a:ext cx="1828800" cy="420624"/>
          </a:xfrm>
          <a:prstGeom prst="roundRect">
            <a:avLst>
              <a:gd name="adj" fmla="val 17391"/>
            </a:avLst>
          </a:prstGeom>
          <a:solidFill>
            <a:srgbClr val="002C7C"/>
          </a:solidFill>
          <a:ln/>
        </p:spPr>
      </p:sp>
      <p:sp>
        <p:nvSpPr>
          <p:cNvPr id="10" name="Text 7"/>
          <p:cNvSpPr/>
          <p:nvPr/>
        </p:nvSpPr>
        <p:spPr>
          <a:xfrm>
            <a:off x="6858000" y="420624"/>
            <a:ext cx="182880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Claude Projects</a:t>
            </a:r>
            <a:endParaRPr lang="en-US" sz="1150" dirty="0"/>
          </a:p>
        </p:txBody>
      </p:sp>
      <p:sp>
        <p:nvSpPr>
          <p:cNvPr id="11" name="Text 8"/>
          <p:cNvSpPr/>
          <p:nvPr/>
        </p:nvSpPr>
        <p:spPr>
          <a:xfrm>
            <a:off x="457200" y="1325880"/>
            <a:ext cx="8229600" cy="548640"/>
          </a:xfrm>
          <a:prstGeom prst="rect">
            <a:avLst/>
          </a:prstGeom>
          <a:noFill/>
          <a:ln/>
        </p:spPr>
        <p:txBody>
          <a:bodyPr wrap="square" lIns="0" tIns="0" rIns="0" bIns="0" rtlCol="0" anchor="ctr"/>
          <a:lstStyle/>
          <a:p>
            <a:pPr indent="0" marL="0">
              <a:lnSpc>
                <a:spcPct val="105000"/>
              </a:lnSpc>
              <a:buNone/>
            </a:pPr>
            <a:r>
              <a:rPr lang="en-US" sz="1300" b="1" dirty="0">
                <a:solidFill>
                  <a:srgbClr val="002C7C"/>
                </a:solidFill>
                <a:latin typeface="Arial" pitchFamily="34" charset="0"/>
                <a:ea typeface="Arial" pitchFamily="34" charset="-122"/>
                <a:cs typeface="Arial" pitchFamily="34" charset="-120"/>
              </a:rPr>
              <a:t>Build a real, organized source set inside one Claude Project — then interrogate it.</a:t>
            </a:r>
            <a:endParaRPr lang="en-US" sz="1300" dirty="0"/>
          </a:p>
          <a:p>
            <a:pPr indent="0" marL="0">
              <a:lnSpc>
                <a:spcPct val="105000"/>
              </a:lnSpc>
              <a:buNone/>
            </a:pPr>
            <a:r>
              <a:rPr lang="en-US" sz="1100" i="1" dirty="0">
                <a:solidFill>
                  <a:srgbClr val="5B6675"/>
                </a:solidFill>
                <a:latin typeface="Arial" pitchFamily="34" charset="0"/>
                <a:ea typeface="Arial" pitchFamily="34" charset="-122"/>
                <a:cs typeface="Arial" pitchFamily="34" charset="-120"/>
              </a:rPr>
              <a:t>Constituer un vrai corpus de sources dans un seul Projet Claude, puis l'interroger.</a:t>
            </a:r>
            <a:endParaRPr lang="en-US" sz="1300" dirty="0"/>
          </a:p>
        </p:txBody>
      </p:sp>
      <p:sp>
        <p:nvSpPr>
          <p:cNvPr id="12" name="Text 9"/>
          <p:cNvSpPr/>
          <p:nvPr/>
        </p:nvSpPr>
        <p:spPr>
          <a:xfrm>
            <a:off x="457200" y="1956816"/>
            <a:ext cx="8229600" cy="274320"/>
          </a:xfrm>
          <a:prstGeom prst="rect">
            <a:avLst/>
          </a:prstGeom>
          <a:noFill/>
          <a:ln/>
        </p:spPr>
        <p:txBody>
          <a:bodyPr wrap="square" lIns="0" tIns="0" rIns="0" bIns="0" rtlCol="0" anchor="ctr"/>
          <a:lstStyle/>
          <a:p>
            <a:pPr indent="0" marL="0">
              <a:buNone/>
            </a:pPr>
            <a:r>
              <a:rPr lang="en-US" sz="1050" i="1" dirty="0">
                <a:solidFill>
                  <a:srgbClr val="B07D08"/>
                </a:solidFill>
                <a:latin typeface="Arial" pitchFamily="34" charset="0"/>
                <a:ea typeface="Arial" pitchFamily="34" charset="-122"/>
                <a:cs typeface="Arial" pitchFamily="34" charset="-120"/>
              </a:rPr>
              <a:t>Running example — Manga (Buea):  “Can predictive pre-warming cut p95 latency for bursty stream workloads?”</a:t>
            </a:r>
            <a:endParaRPr lang="en-US" sz="1050" dirty="0"/>
          </a:p>
        </p:txBody>
      </p:sp>
      <p:sp>
        <p:nvSpPr>
          <p:cNvPr id="13" name="Shape 10"/>
          <p:cNvSpPr/>
          <p:nvPr/>
        </p:nvSpPr>
        <p:spPr>
          <a:xfrm>
            <a:off x="1280160" y="3063240"/>
            <a:ext cx="6949440" cy="0"/>
          </a:xfrm>
          <a:prstGeom prst="line">
            <a:avLst/>
          </a:prstGeom>
          <a:noFill/>
          <a:ln w="19050">
            <a:solidFill>
              <a:srgbClr val="002C7C"/>
            </a:solidFill>
            <a:prstDash val="solid"/>
          </a:ln>
        </p:spPr>
      </p:sp>
      <p:sp>
        <p:nvSpPr>
          <p:cNvPr id="14" name="Shape 11"/>
          <p:cNvSpPr/>
          <p:nvPr/>
        </p:nvSpPr>
        <p:spPr>
          <a:xfrm>
            <a:off x="960120" y="2743200"/>
            <a:ext cx="640080" cy="64008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15" name="Text 12"/>
          <p:cNvSpPr/>
          <p:nvPr/>
        </p:nvSpPr>
        <p:spPr>
          <a:xfrm>
            <a:off x="960120" y="2743200"/>
            <a:ext cx="640080" cy="640080"/>
          </a:xfrm>
          <a:prstGeom prst="rect">
            <a:avLst/>
          </a:prstGeom>
          <a:noFill/>
          <a:ln/>
        </p:spPr>
        <p:txBody>
          <a:bodyPr wrap="square" lIns="0" tIns="0" rIns="0" bIns="0" rtlCol="0" anchor="ctr"/>
          <a:lstStyle/>
          <a:p>
            <a:pPr algn="ctr" indent="0" marL="0">
              <a:buNone/>
            </a:pPr>
            <a:r>
              <a:rPr lang="en-US" sz="2300" b="1" dirty="0">
                <a:solidFill>
                  <a:srgbClr val="002C7C"/>
                </a:solidFill>
                <a:latin typeface="Arial" pitchFamily="34" charset="0"/>
                <a:ea typeface="Arial" pitchFamily="34" charset="-122"/>
                <a:cs typeface="Arial" pitchFamily="34" charset="-120"/>
              </a:rPr>
              <a:t>1</a:t>
            </a:r>
            <a:endParaRPr lang="en-US" sz="2300" dirty="0"/>
          </a:p>
        </p:txBody>
      </p:sp>
      <p:sp>
        <p:nvSpPr>
          <p:cNvPr id="16" name="Text 13"/>
          <p:cNvSpPr/>
          <p:nvPr/>
        </p:nvSpPr>
        <p:spPr>
          <a:xfrm>
            <a:off x="411480" y="3456432"/>
            <a:ext cx="1737360" cy="256032"/>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Set up</a:t>
            </a:r>
            <a:endParaRPr lang="en-US" sz="1200" dirty="0"/>
          </a:p>
        </p:txBody>
      </p:sp>
      <p:sp>
        <p:nvSpPr>
          <p:cNvPr id="17" name="Text 14"/>
          <p:cNvSpPr/>
          <p:nvPr/>
        </p:nvSpPr>
        <p:spPr>
          <a:xfrm>
            <a:off x="411480" y="3694176"/>
            <a:ext cx="1737360" cy="219456"/>
          </a:xfrm>
          <a:prstGeom prst="rect">
            <a:avLst/>
          </a:prstGeom>
          <a:noFill/>
          <a:ln/>
        </p:spPr>
        <p:txBody>
          <a:bodyPr wrap="square" lIns="0" tIns="0" rIns="0" bIns="0" rtlCol="0" anchor="ctr"/>
          <a:lstStyle/>
          <a:p>
            <a:pPr algn="ctr" indent="0" marL="0">
              <a:buNone/>
            </a:pPr>
            <a:r>
              <a:rPr lang="en-US" sz="900" i="1" dirty="0">
                <a:solidFill>
                  <a:srgbClr val="5B6675"/>
                </a:solidFill>
                <a:latin typeface="Arial" pitchFamily="34" charset="0"/>
                <a:ea typeface="Arial" pitchFamily="34" charset="-122"/>
                <a:cs typeface="Arial" pitchFamily="34" charset="-120"/>
              </a:rPr>
              <a:t>Configurer</a:t>
            </a:r>
            <a:endParaRPr lang="en-US" sz="900" dirty="0"/>
          </a:p>
        </p:txBody>
      </p:sp>
      <p:sp>
        <p:nvSpPr>
          <p:cNvPr id="18" name="Shape 15"/>
          <p:cNvSpPr/>
          <p:nvPr/>
        </p:nvSpPr>
        <p:spPr>
          <a:xfrm>
            <a:off x="2697480" y="2743200"/>
            <a:ext cx="640080" cy="64008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19" name="Text 16"/>
          <p:cNvSpPr/>
          <p:nvPr/>
        </p:nvSpPr>
        <p:spPr>
          <a:xfrm>
            <a:off x="2697480" y="2743200"/>
            <a:ext cx="640080" cy="640080"/>
          </a:xfrm>
          <a:prstGeom prst="rect">
            <a:avLst/>
          </a:prstGeom>
          <a:noFill/>
          <a:ln/>
        </p:spPr>
        <p:txBody>
          <a:bodyPr wrap="square" lIns="0" tIns="0" rIns="0" bIns="0" rtlCol="0" anchor="ctr"/>
          <a:lstStyle/>
          <a:p>
            <a:pPr algn="ctr" indent="0" marL="0">
              <a:buNone/>
            </a:pPr>
            <a:r>
              <a:rPr lang="en-US" sz="2300" b="1" dirty="0">
                <a:solidFill>
                  <a:srgbClr val="002C7C"/>
                </a:solidFill>
                <a:latin typeface="Arial" pitchFamily="34" charset="0"/>
                <a:ea typeface="Arial" pitchFamily="34" charset="-122"/>
                <a:cs typeface="Arial" pitchFamily="34" charset="-120"/>
              </a:rPr>
              <a:t>2</a:t>
            </a:r>
            <a:endParaRPr lang="en-US" sz="2300" dirty="0"/>
          </a:p>
        </p:txBody>
      </p:sp>
      <p:sp>
        <p:nvSpPr>
          <p:cNvPr id="20" name="Text 17"/>
          <p:cNvSpPr/>
          <p:nvPr/>
        </p:nvSpPr>
        <p:spPr>
          <a:xfrm>
            <a:off x="2148840" y="3456432"/>
            <a:ext cx="1737360" cy="256032"/>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Map terms</a:t>
            </a:r>
            <a:endParaRPr lang="en-US" sz="1200" dirty="0"/>
          </a:p>
        </p:txBody>
      </p:sp>
      <p:sp>
        <p:nvSpPr>
          <p:cNvPr id="21" name="Text 18"/>
          <p:cNvSpPr/>
          <p:nvPr/>
        </p:nvSpPr>
        <p:spPr>
          <a:xfrm>
            <a:off x="2148840" y="3694176"/>
            <a:ext cx="1737360" cy="219456"/>
          </a:xfrm>
          <a:prstGeom prst="rect">
            <a:avLst/>
          </a:prstGeom>
          <a:noFill/>
          <a:ln/>
        </p:spPr>
        <p:txBody>
          <a:bodyPr wrap="square" lIns="0" tIns="0" rIns="0" bIns="0" rtlCol="0" anchor="ctr"/>
          <a:lstStyle/>
          <a:p>
            <a:pPr algn="ctr" indent="0" marL="0">
              <a:buNone/>
            </a:pPr>
            <a:r>
              <a:rPr lang="en-US" sz="900" i="1" dirty="0">
                <a:solidFill>
                  <a:srgbClr val="5B6675"/>
                </a:solidFill>
                <a:latin typeface="Arial" pitchFamily="34" charset="0"/>
                <a:ea typeface="Arial" pitchFamily="34" charset="-122"/>
                <a:cs typeface="Arial" pitchFamily="34" charset="-120"/>
              </a:rPr>
              <a:t>Cartographier</a:t>
            </a:r>
            <a:endParaRPr lang="en-US" sz="900" dirty="0"/>
          </a:p>
        </p:txBody>
      </p:sp>
      <p:sp>
        <p:nvSpPr>
          <p:cNvPr id="22" name="Shape 19"/>
          <p:cNvSpPr/>
          <p:nvPr/>
        </p:nvSpPr>
        <p:spPr>
          <a:xfrm>
            <a:off x="4434840" y="2743200"/>
            <a:ext cx="640080" cy="64008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23" name="Text 20"/>
          <p:cNvSpPr/>
          <p:nvPr/>
        </p:nvSpPr>
        <p:spPr>
          <a:xfrm>
            <a:off x="4434840" y="2743200"/>
            <a:ext cx="640080" cy="640080"/>
          </a:xfrm>
          <a:prstGeom prst="rect">
            <a:avLst/>
          </a:prstGeom>
          <a:noFill/>
          <a:ln/>
        </p:spPr>
        <p:txBody>
          <a:bodyPr wrap="square" lIns="0" tIns="0" rIns="0" bIns="0" rtlCol="0" anchor="ctr"/>
          <a:lstStyle/>
          <a:p>
            <a:pPr algn="ctr" indent="0" marL="0">
              <a:buNone/>
            </a:pPr>
            <a:r>
              <a:rPr lang="en-US" sz="2300" b="1" dirty="0">
                <a:solidFill>
                  <a:srgbClr val="002C7C"/>
                </a:solidFill>
                <a:latin typeface="Arial" pitchFamily="34" charset="0"/>
                <a:ea typeface="Arial" pitchFamily="34" charset="-122"/>
                <a:cs typeface="Arial" pitchFamily="34" charset="-120"/>
              </a:rPr>
              <a:t>3</a:t>
            </a:r>
            <a:endParaRPr lang="en-US" sz="2300" dirty="0"/>
          </a:p>
        </p:txBody>
      </p:sp>
      <p:sp>
        <p:nvSpPr>
          <p:cNvPr id="24" name="Text 21"/>
          <p:cNvSpPr/>
          <p:nvPr/>
        </p:nvSpPr>
        <p:spPr>
          <a:xfrm>
            <a:off x="3886200" y="3456432"/>
            <a:ext cx="1737360" cy="256032"/>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Gather</a:t>
            </a:r>
            <a:endParaRPr lang="en-US" sz="1200" dirty="0"/>
          </a:p>
        </p:txBody>
      </p:sp>
      <p:sp>
        <p:nvSpPr>
          <p:cNvPr id="25" name="Text 22"/>
          <p:cNvSpPr/>
          <p:nvPr/>
        </p:nvSpPr>
        <p:spPr>
          <a:xfrm>
            <a:off x="3886200" y="3694176"/>
            <a:ext cx="1737360" cy="219456"/>
          </a:xfrm>
          <a:prstGeom prst="rect">
            <a:avLst/>
          </a:prstGeom>
          <a:noFill/>
          <a:ln/>
        </p:spPr>
        <p:txBody>
          <a:bodyPr wrap="square" lIns="0" tIns="0" rIns="0" bIns="0" rtlCol="0" anchor="ctr"/>
          <a:lstStyle/>
          <a:p>
            <a:pPr algn="ctr" indent="0" marL="0">
              <a:buNone/>
            </a:pPr>
            <a:r>
              <a:rPr lang="en-US" sz="900" i="1" dirty="0">
                <a:solidFill>
                  <a:srgbClr val="5B6675"/>
                </a:solidFill>
                <a:latin typeface="Arial" pitchFamily="34" charset="0"/>
                <a:ea typeface="Arial" pitchFamily="34" charset="-122"/>
                <a:cs typeface="Arial" pitchFamily="34" charset="-120"/>
              </a:rPr>
              <a:t>Rassembler</a:t>
            </a:r>
            <a:endParaRPr lang="en-US" sz="900" dirty="0"/>
          </a:p>
        </p:txBody>
      </p:sp>
      <p:sp>
        <p:nvSpPr>
          <p:cNvPr id="26" name="Shape 23"/>
          <p:cNvSpPr/>
          <p:nvPr/>
        </p:nvSpPr>
        <p:spPr>
          <a:xfrm>
            <a:off x="6172200" y="2743200"/>
            <a:ext cx="640080" cy="64008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27" name="Text 24"/>
          <p:cNvSpPr/>
          <p:nvPr/>
        </p:nvSpPr>
        <p:spPr>
          <a:xfrm>
            <a:off x="6172200" y="2743200"/>
            <a:ext cx="640080" cy="640080"/>
          </a:xfrm>
          <a:prstGeom prst="rect">
            <a:avLst/>
          </a:prstGeom>
          <a:noFill/>
          <a:ln/>
        </p:spPr>
        <p:txBody>
          <a:bodyPr wrap="square" lIns="0" tIns="0" rIns="0" bIns="0" rtlCol="0" anchor="ctr"/>
          <a:lstStyle/>
          <a:p>
            <a:pPr algn="ctr" indent="0" marL="0">
              <a:buNone/>
            </a:pPr>
            <a:r>
              <a:rPr lang="en-US" sz="2300" b="1" dirty="0">
                <a:solidFill>
                  <a:srgbClr val="002C7C"/>
                </a:solidFill>
                <a:latin typeface="Arial" pitchFamily="34" charset="0"/>
                <a:ea typeface="Arial" pitchFamily="34" charset="-122"/>
                <a:cs typeface="Arial" pitchFamily="34" charset="-120"/>
              </a:rPr>
              <a:t>4</a:t>
            </a:r>
            <a:endParaRPr lang="en-US" sz="2300" dirty="0"/>
          </a:p>
        </p:txBody>
      </p:sp>
      <p:sp>
        <p:nvSpPr>
          <p:cNvPr id="28" name="Text 25"/>
          <p:cNvSpPr/>
          <p:nvPr/>
        </p:nvSpPr>
        <p:spPr>
          <a:xfrm>
            <a:off x="5623560" y="3456432"/>
            <a:ext cx="1737360" cy="256032"/>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Build set</a:t>
            </a:r>
            <a:endParaRPr lang="en-US" sz="1200" dirty="0"/>
          </a:p>
        </p:txBody>
      </p:sp>
      <p:sp>
        <p:nvSpPr>
          <p:cNvPr id="29" name="Text 26"/>
          <p:cNvSpPr/>
          <p:nvPr/>
        </p:nvSpPr>
        <p:spPr>
          <a:xfrm>
            <a:off x="5623560" y="3694176"/>
            <a:ext cx="1737360" cy="219456"/>
          </a:xfrm>
          <a:prstGeom prst="rect">
            <a:avLst/>
          </a:prstGeom>
          <a:noFill/>
          <a:ln/>
        </p:spPr>
        <p:txBody>
          <a:bodyPr wrap="square" lIns="0" tIns="0" rIns="0" bIns="0" rtlCol="0" anchor="ctr"/>
          <a:lstStyle/>
          <a:p>
            <a:pPr algn="ctr" indent="0" marL="0">
              <a:buNone/>
            </a:pPr>
            <a:r>
              <a:rPr lang="en-US" sz="900" i="1" dirty="0">
                <a:solidFill>
                  <a:srgbClr val="5B6675"/>
                </a:solidFill>
                <a:latin typeface="Arial" pitchFamily="34" charset="0"/>
                <a:ea typeface="Arial" pitchFamily="34" charset="-122"/>
                <a:cs typeface="Arial" pitchFamily="34" charset="-120"/>
              </a:rPr>
              <a:t>Constituer</a:t>
            </a:r>
            <a:endParaRPr lang="en-US" sz="900" dirty="0"/>
          </a:p>
        </p:txBody>
      </p:sp>
      <p:sp>
        <p:nvSpPr>
          <p:cNvPr id="30" name="Shape 27"/>
          <p:cNvSpPr/>
          <p:nvPr/>
        </p:nvSpPr>
        <p:spPr>
          <a:xfrm>
            <a:off x="7909560" y="2743200"/>
            <a:ext cx="640080" cy="64008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31" name="Text 28"/>
          <p:cNvSpPr/>
          <p:nvPr/>
        </p:nvSpPr>
        <p:spPr>
          <a:xfrm>
            <a:off x="7909560" y="2743200"/>
            <a:ext cx="640080" cy="640080"/>
          </a:xfrm>
          <a:prstGeom prst="rect">
            <a:avLst/>
          </a:prstGeom>
          <a:noFill/>
          <a:ln/>
        </p:spPr>
        <p:txBody>
          <a:bodyPr wrap="square" lIns="0" tIns="0" rIns="0" bIns="0" rtlCol="0" anchor="ctr"/>
          <a:lstStyle/>
          <a:p>
            <a:pPr algn="ctr" indent="0" marL="0">
              <a:buNone/>
            </a:pPr>
            <a:r>
              <a:rPr lang="en-US" sz="2300" b="1" dirty="0">
                <a:solidFill>
                  <a:srgbClr val="002C7C"/>
                </a:solidFill>
                <a:latin typeface="Arial" pitchFamily="34" charset="0"/>
                <a:ea typeface="Arial" pitchFamily="34" charset="-122"/>
                <a:cs typeface="Arial" pitchFamily="34" charset="-120"/>
              </a:rPr>
              <a:t>5</a:t>
            </a:r>
            <a:endParaRPr lang="en-US" sz="2300" dirty="0"/>
          </a:p>
        </p:txBody>
      </p:sp>
      <p:sp>
        <p:nvSpPr>
          <p:cNvPr id="32" name="Text 29"/>
          <p:cNvSpPr/>
          <p:nvPr/>
        </p:nvSpPr>
        <p:spPr>
          <a:xfrm>
            <a:off x="7360920" y="3456432"/>
            <a:ext cx="1737360" cy="256032"/>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Interrogate</a:t>
            </a:r>
            <a:endParaRPr lang="en-US" sz="1200" dirty="0"/>
          </a:p>
        </p:txBody>
      </p:sp>
      <p:sp>
        <p:nvSpPr>
          <p:cNvPr id="33" name="Text 30"/>
          <p:cNvSpPr/>
          <p:nvPr/>
        </p:nvSpPr>
        <p:spPr>
          <a:xfrm>
            <a:off x="7360920" y="3694176"/>
            <a:ext cx="1737360" cy="219456"/>
          </a:xfrm>
          <a:prstGeom prst="rect">
            <a:avLst/>
          </a:prstGeom>
          <a:noFill/>
          <a:ln/>
        </p:spPr>
        <p:txBody>
          <a:bodyPr wrap="square" lIns="0" tIns="0" rIns="0" bIns="0" rtlCol="0" anchor="ctr"/>
          <a:lstStyle/>
          <a:p>
            <a:pPr algn="ctr" indent="0" marL="0">
              <a:buNone/>
            </a:pPr>
            <a:r>
              <a:rPr lang="en-US" sz="900" i="1" dirty="0">
                <a:solidFill>
                  <a:srgbClr val="5B6675"/>
                </a:solidFill>
                <a:latin typeface="Arial" pitchFamily="34" charset="0"/>
                <a:ea typeface="Arial" pitchFamily="34" charset="-122"/>
                <a:cs typeface="Arial" pitchFamily="34" charset="-120"/>
              </a:rPr>
              <a:t>Interroger</a:t>
            </a:r>
            <a:endParaRPr lang="en-US" sz="900" dirty="0"/>
          </a:p>
        </p:txBody>
      </p:sp>
      <p:sp>
        <p:nvSpPr>
          <p:cNvPr id="34" name="Text 31"/>
          <p:cNvSpPr/>
          <p:nvPr/>
        </p:nvSpPr>
        <p:spPr>
          <a:xfrm>
            <a:off x="457200" y="4224528"/>
            <a:ext cx="8229600" cy="274320"/>
          </a:xfrm>
          <a:prstGeom prst="rect">
            <a:avLst/>
          </a:prstGeom>
          <a:noFill/>
          <a:ln/>
        </p:spPr>
        <p:txBody>
          <a:bodyPr wrap="square" lIns="0" tIns="0" rIns="0" bIns="0" rtlCol="0" anchor="ctr"/>
          <a:lstStyle/>
          <a:p>
            <a:pPr algn="ctr" indent="0" marL="0">
              <a:buNone/>
            </a:pPr>
            <a:r>
              <a:rPr lang="en-US" sz="1100" b="1" dirty="0">
                <a:solidFill>
                  <a:srgbClr val="002C7C"/>
                </a:solidFill>
                <a:latin typeface="Arial" pitchFamily="34" charset="0"/>
                <a:ea typeface="Arial" pitchFamily="34" charset="-122"/>
                <a:cs typeface="Arial" pitchFamily="34" charset="-120"/>
              </a:rPr>
              <a:t>Five moves, all in one Project — the next slides show the prompts.  ·  Cinq étapes, un seul Projet.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pic>
        <p:nvPicPr>
          <p:cNvPr id="5" name="Image 1" descr="preencoded.png">    </p:cNvPr>
          <p:cNvPicPr>
            <a:picLocks noChangeAspect="1"/>
          </p:cNvPicPr>
          <p:nvPr/>
        </p:nvPicPr>
        <p:blipFill>
          <a:blip r:embed="rId3"/>
          <a:stretch>
            <a:fillRect/>
          </a:stretch>
        </p:blipFill>
        <p:spPr>
          <a:xfrm>
            <a:off x="610819" y="519379"/>
            <a:ext cx="241402" cy="241402"/>
          </a:xfrm>
          <a:prstGeom prst="rect">
            <a:avLst/>
          </a:prstGeom>
        </p:spPr>
      </p:pic>
      <p:sp>
        <p:nvSpPr>
          <p:cNvPr id="6" name="Text 2"/>
          <p:cNvSpPr/>
          <p:nvPr/>
        </p:nvSpPr>
        <p:spPr>
          <a:xfrm>
            <a:off x="1188720" y="292608"/>
            <a:ext cx="5486400" cy="457200"/>
          </a:xfrm>
          <a:prstGeom prst="rect">
            <a:avLst/>
          </a:prstGeom>
          <a:noFill/>
          <a:ln/>
        </p:spPr>
        <p:txBody>
          <a:bodyPr wrap="square" lIns="0" tIns="0" rIns="0" bIns="0" rtlCol="0" anchor="ctr"/>
          <a:lstStyle/>
          <a:p>
            <a:pPr indent="0" marL="0">
              <a:buNone/>
            </a:pPr>
            <a:r>
              <a:rPr lang="en-US" sz="2200" b="1" dirty="0">
                <a:solidFill>
                  <a:srgbClr val="002C7C"/>
                </a:solidFill>
                <a:latin typeface="Arial" pitchFamily="34" charset="0"/>
                <a:ea typeface="Arial" pitchFamily="34" charset="-122"/>
                <a:cs typeface="Arial" pitchFamily="34" charset="-120"/>
              </a:rPr>
              <a:t>Orienting to the field</a:t>
            </a:r>
            <a:endParaRPr lang="en-US" sz="2200" dirty="0"/>
          </a:p>
        </p:txBody>
      </p:sp>
      <p:sp>
        <p:nvSpPr>
          <p:cNvPr id="7" name="Shape 3"/>
          <p:cNvSpPr/>
          <p:nvPr/>
        </p:nvSpPr>
        <p:spPr>
          <a:xfrm>
            <a:off x="1216152" y="841248"/>
            <a:ext cx="1280160" cy="45720"/>
          </a:xfrm>
          <a:prstGeom prst="rect">
            <a:avLst/>
          </a:prstGeom>
          <a:solidFill>
            <a:srgbClr val="EEA901"/>
          </a:solidFill>
          <a:ln/>
        </p:spPr>
      </p:sp>
      <p:sp>
        <p:nvSpPr>
          <p:cNvPr id="8" name="Text 4"/>
          <p:cNvSpPr/>
          <p:nvPr/>
        </p:nvSpPr>
        <p:spPr>
          <a:xfrm>
            <a:off x="1188720" y="914400"/>
            <a:ext cx="5486400" cy="274320"/>
          </a:xfrm>
          <a:prstGeom prst="rect">
            <a:avLst/>
          </a:prstGeom>
          <a:noFill/>
          <a:ln/>
        </p:spPr>
        <p:txBody>
          <a:bodyPr wrap="square" lIns="0" tIns="0" rIns="0" bIns="0" rtlCol="0" anchor="ctr"/>
          <a:lstStyle/>
          <a:p>
            <a:pPr indent="0" marL="0">
              <a:buNone/>
            </a:pPr>
            <a:r>
              <a:rPr lang="en-US" sz="1200" i="1" dirty="0">
                <a:solidFill>
                  <a:srgbClr val="5B6675"/>
                </a:solidFill>
                <a:latin typeface="Arial" pitchFamily="34" charset="0"/>
                <a:ea typeface="Arial" pitchFamily="34" charset="-122"/>
                <a:cs typeface="Arial" pitchFamily="34" charset="-120"/>
              </a:rPr>
              <a:t>S'orienter dans le domaine — le parcours</a:t>
            </a:r>
            <a:endParaRPr lang="en-US" sz="1200" dirty="0"/>
          </a:p>
        </p:txBody>
      </p:sp>
      <p:sp>
        <p:nvSpPr>
          <p:cNvPr id="9" name="Shape 5"/>
          <p:cNvSpPr/>
          <p:nvPr/>
        </p:nvSpPr>
        <p:spPr>
          <a:xfrm>
            <a:off x="6858000" y="384048"/>
            <a:ext cx="1828800" cy="384048"/>
          </a:xfrm>
          <a:prstGeom prst="roundRect">
            <a:avLst>
              <a:gd name="adj" fmla="val 19048"/>
            </a:avLst>
          </a:prstGeom>
          <a:solidFill>
            <a:srgbClr val="002C7C"/>
          </a:solidFill>
          <a:ln/>
        </p:spPr>
      </p:sp>
      <p:sp>
        <p:nvSpPr>
          <p:cNvPr id="10" name="Text 6"/>
          <p:cNvSpPr/>
          <p:nvPr/>
        </p:nvSpPr>
        <p:spPr>
          <a:xfrm>
            <a:off x="6858000" y="384048"/>
            <a:ext cx="1828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Claude Projects</a:t>
            </a:r>
            <a:endParaRPr lang="en-US" sz="1100" dirty="0"/>
          </a:p>
        </p:txBody>
      </p:sp>
      <p:sp>
        <p:nvSpPr>
          <p:cNvPr id="11" name="Text 7"/>
          <p:cNvSpPr/>
          <p:nvPr/>
        </p:nvSpPr>
        <p:spPr>
          <a:xfrm>
            <a:off x="5029200" y="877824"/>
            <a:ext cx="3657600" cy="237744"/>
          </a:xfrm>
          <a:prstGeom prst="rect">
            <a:avLst/>
          </a:prstGeom>
          <a:noFill/>
          <a:ln/>
        </p:spPr>
        <p:txBody>
          <a:bodyPr wrap="square" lIns="0" tIns="0" rIns="0" bIns="0" rtlCol="0" anchor="ctr"/>
          <a:lstStyle/>
          <a:p>
            <a:pPr algn="r" indent="0" marL="0">
              <a:buNone/>
            </a:pPr>
            <a:r>
              <a:rPr lang="en-US" sz="1050" i="1" dirty="0">
                <a:solidFill>
                  <a:srgbClr val="5B6675"/>
                </a:solidFill>
                <a:latin typeface="Arial" pitchFamily="34" charset="0"/>
                <a:ea typeface="Arial" pitchFamily="34" charset="-122"/>
                <a:cs typeface="Arial" pitchFamily="34" charset="-120"/>
              </a:rPr>
              <a:t>Moves 1–2 of 5</a:t>
            </a:r>
            <a:endParaRPr lang="en-US" sz="1050" dirty="0"/>
          </a:p>
        </p:txBody>
      </p:sp>
      <p:sp>
        <p:nvSpPr>
          <p:cNvPr id="12" name="Shape 8"/>
          <p:cNvSpPr/>
          <p:nvPr/>
        </p:nvSpPr>
        <p:spPr>
          <a:xfrm>
            <a:off x="457200" y="1417320"/>
            <a:ext cx="457200" cy="457200"/>
          </a:xfrm>
          <a:prstGeom prst="ellipse">
            <a:avLst/>
          </a:prstGeom>
          <a:solidFill>
            <a:srgbClr val="002C7C"/>
          </a:solidFill>
          <a:ln/>
        </p:spPr>
      </p:sp>
      <p:sp>
        <p:nvSpPr>
          <p:cNvPr id="13" name="Text 9"/>
          <p:cNvSpPr/>
          <p:nvPr/>
        </p:nvSpPr>
        <p:spPr>
          <a:xfrm>
            <a:off x="457200" y="14173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4" name="Text 10"/>
          <p:cNvSpPr/>
          <p:nvPr/>
        </p:nvSpPr>
        <p:spPr>
          <a:xfrm>
            <a:off x="1042416" y="1399032"/>
            <a:ext cx="3346704" cy="457200"/>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Set up the Project</a:t>
            </a:r>
            <a:endParaRPr lang="en-US" sz="1500" dirty="0"/>
          </a:p>
        </p:txBody>
      </p:sp>
      <p:sp>
        <p:nvSpPr>
          <p:cNvPr id="15" name="Text 11"/>
          <p:cNvSpPr/>
          <p:nvPr/>
        </p:nvSpPr>
        <p:spPr>
          <a:xfrm>
            <a:off x="1042416" y="1874520"/>
            <a:ext cx="3346704" cy="256032"/>
          </a:xfrm>
          <a:prstGeom prst="rect">
            <a:avLst/>
          </a:prstGeom>
          <a:noFill/>
          <a:ln/>
        </p:spPr>
        <p:txBody>
          <a:bodyPr wrap="square" lIns="0" tIns="0" rIns="0" bIns="0" rtlCol="0" anchor="ctr"/>
          <a:lstStyle/>
          <a:p>
            <a:pPr indent="0" marL="0">
              <a:buNone/>
            </a:pPr>
            <a:r>
              <a:rPr lang="en-US" sz="1000" i="1" dirty="0">
                <a:solidFill>
                  <a:srgbClr val="5B6675"/>
                </a:solidFill>
                <a:latin typeface="Arial" pitchFamily="34" charset="0"/>
                <a:ea typeface="Arial" pitchFamily="34" charset="-122"/>
                <a:cs typeface="Arial" pitchFamily="34" charset="-120"/>
              </a:rPr>
              <a:t>Configurer le Projet</a:t>
            </a:r>
            <a:endParaRPr lang="en-US" sz="1000" dirty="0"/>
          </a:p>
        </p:txBody>
      </p:sp>
      <p:sp>
        <p:nvSpPr>
          <p:cNvPr id="16" name="Text 12"/>
          <p:cNvSpPr/>
          <p:nvPr/>
        </p:nvSpPr>
        <p:spPr>
          <a:xfrm>
            <a:off x="457200" y="2249424"/>
            <a:ext cx="3931920" cy="777240"/>
          </a:xfrm>
          <a:prstGeom prst="rect">
            <a:avLst/>
          </a:prstGeom>
          <a:noFill/>
          <a:ln/>
        </p:spPr>
        <p:txBody>
          <a:bodyPr wrap="square" lIns="0" tIns="0" rIns="0" bIns="0" rtlCol="0" anchor="t"/>
          <a:lstStyle/>
          <a:p>
            <a:pPr indent="0" marL="0">
              <a:lnSpc>
                <a:spcPct val="108000"/>
              </a:lnSpc>
              <a:buNone/>
            </a:pPr>
            <a:r>
              <a:rPr lang="en-US" sz="1100" dirty="0">
                <a:solidFill>
                  <a:srgbClr val="1F2733"/>
                </a:solidFill>
                <a:latin typeface="Arial" pitchFamily="34" charset="0"/>
                <a:ea typeface="Arial" pitchFamily="34" charset="-122"/>
                <a:cs typeface="Arial" pitchFamily="34" charset="-120"/>
              </a:rPr>
              <a:t>Create one Project for the whole thesis. Put your question and a short context in the instructions, so every chat starts grounded — and tell Claude how to behave.</a:t>
            </a:r>
            <a:endParaRPr lang="en-US" sz="1100" dirty="0"/>
          </a:p>
        </p:txBody>
      </p:sp>
      <p:sp>
        <p:nvSpPr>
          <p:cNvPr id="17" name="Shape 13"/>
          <p:cNvSpPr/>
          <p:nvPr/>
        </p:nvSpPr>
        <p:spPr>
          <a:xfrm>
            <a:off x="457200" y="3108960"/>
            <a:ext cx="3931920" cy="1371600"/>
          </a:xfrm>
          <a:prstGeom prst="roundRect">
            <a:avLst>
              <a:gd name="adj" fmla="val 6000"/>
            </a:avLst>
          </a:prstGeom>
          <a:solidFill>
            <a:srgbClr val="EAF0FA"/>
          </a:solidFill>
          <a:ln/>
          <a:effectLst>
            <a:outerShdw sx="100000" sy="100000" kx="0" ky="0" algn="bl" rotWithShape="0" blurRad="88900" dist="38100" dir="5400000">
              <a:srgbClr val="10213F">
                <a:alpha val="15000"/>
              </a:srgbClr>
            </a:outerShdw>
          </a:effectLst>
        </p:spPr>
      </p:sp>
      <p:sp>
        <p:nvSpPr>
          <p:cNvPr id="18" name="Text 14"/>
          <p:cNvSpPr/>
          <p:nvPr/>
        </p:nvSpPr>
        <p:spPr>
          <a:xfrm>
            <a:off x="640080" y="3200400"/>
            <a:ext cx="3566160" cy="237744"/>
          </a:xfrm>
          <a:prstGeom prst="rect">
            <a:avLst/>
          </a:prstGeom>
          <a:noFill/>
          <a:ln/>
        </p:spPr>
        <p:txBody>
          <a:bodyPr wrap="square" lIns="0" tIns="0" rIns="0" bIns="0" rtlCol="0" anchor="ctr"/>
          <a:lstStyle/>
          <a:p>
            <a:pPr indent="0" marL="0">
              <a:buNone/>
            </a:pPr>
            <a:r>
              <a:rPr lang="en-US" sz="900" b="1" spc="100" kern="0" dirty="0">
                <a:solidFill>
                  <a:srgbClr val="002C7C"/>
                </a:solidFill>
                <a:latin typeface="Arial" pitchFamily="34" charset="0"/>
                <a:ea typeface="Arial" pitchFamily="34" charset="-122"/>
                <a:cs typeface="Arial" pitchFamily="34" charset="-120"/>
              </a:rPr>
              <a:t>PROJECT INSTRUCTIONS · CONSIGNES DU PROJET</a:t>
            </a:r>
            <a:endParaRPr lang="en-US" sz="900" dirty="0"/>
          </a:p>
        </p:txBody>
      </p:sp>
      <p:sp>
        <p:nvSpPr>
          <p:cNvPr id="19" name="Text 15"/>
          <p:cNvSpPr/>
          <p:nvPr/>
        </p:nvSpPr>
        <p:spPr>
          <a:xfrm>
            <a:off x="640080" y="3456432"/>
            <a:ext cx="3566160" cy="932688"/>
          </a:xfrm>
          <a:prstGeom prst="rect">
            <a:avLst/>
          </a:prstGeom>
          <a:noFill/>
          <a:ln/>
        </p:spPr>
        <p:txBody>
          <a:bodyPr wrap="square" lIns="0" tIns="0" rIns="0" bIns="0" rtlCol="0" anchor="t"/>
          <a:lstStyle/>
          <a:p>
            <a:pPr indent="0" marL="0">
              <a:lnSpc>
                <a:spcPct val="106000"/>
              </a:lnSpc>
              <a:buNone/>
            </a:pPr>
            <a:r>
              <a:rPr lang="en-US" sz="1050" i="1" dirty="0">
                <a:solidFill>
                  <a:srgbClr val="1F2733"/>
                </a:solidFill>
                <a:latin typeface="Arial" pitchFamily="34" charset="0"/>
                <a:ea typeface="Arial" pitchFamily="34" charset="-122"/>
                <a:cs typeface="Arial" pitchFamily="34" charset="-120"/>
              </a:rPr>
              <a:t>“This project supports my thesis: [question]. Be my critical reading partner. Use only sources I upload — never invent citations. Flag what you're unsure of.”</a:t>
            </a:r>
            <a:endParaRPr lang="en-US" sz="1050" dirty="0"/>
          </a:p>
        </p:txBody>
      </p:sp>
      <p:sp>
        <p:nvSpPr>
          <p:cNvPr id="20" name="Shape 16"/>
          <p:cNvSpPr/>
          <p:nvPr/>
        </p:nvSpPr>
        <p:spPr>
          <a:xfrm>
            <a:off x="4754880" y="1417320"/>
            <a:ext cx="457200" cy="457200"/>
          </a:xfrm>
          <a:prstGeom prst="ellipse">
            <a:avLst/>
          </a:prstGeom>
          <a:solidFill>
            <a:srgbClr val="002C7C"/>
          </a:solidFill>
          <a:ln/>
        </p:spPr>
      </p:sp>
      <p:sp>
        <p:nvSpPr>
          <p:cNvPr id="21" name="Text 17"/>
          <p:cNvSpPr/>
          <p:nvPr/>
        </p:nvSpPr>
        <p:spPr>
          <a:xfrm>
            <a:off x="4754880" y="14173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2" name="Text 18"/>
          <p:cNvSpPr/>
          <p:nvPr/>
        </p:nvSpPr>
        <p:spPr>
          <a:xfrm>
            <a:off x="5340096" y="1399032"/>
            <a:ext cx="3346704" cy="457200"/>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Map → search terms</a:t>
            </a:r>
            <a:endParaRPr lang="en-US" sz="1500" dirty="0"/>
          </a:p>
        </p:txBody>
      </p:sp>
      <p:sp>
        <p:nvSpPr>
          <p:cNvPr id="23" name="Text 19"/>
          <p:cNvSpPr/>
          <p:nvPr/>
        </p:nvSpPr>
        <p:spPr>
          <a:xfrm>
            <a:off x="5340096" y="1874520"/>
            <a:ext cx="3346704" cy="256032"/>
          </a:xfrm>
          <a:prstGeom prst="rect">
            <a:avLst/>
          </a:prstGeom>
          <a:noFill/>
          <a:ln/>
        </p:spPr>
        <p:txBody>
          <a:bodyPr wrap="square" lIns="0" tIns="0" rIns="0" bIns="0" rtlCol="0" anchor="ctr"/>
          <a:lstStyle/>
          <a:p>
            <a:pPr indent="0" marL="0">
              <a:buNone/>
            </a:pPr>
            <a:r>
              <a:rPr lang="en-US" sz="1000" i="1" dirty="0">
                <a:solidFill>
                  <a:srgbClr val="5B6675"/>
                </a:solidFill>
                <a:latin typeface="Arial" pitchFamily="34" charset="0"/>
                <a:ea typeface="Arial" pitchFamily="34" charset="-122"/>
                <a:cs typeface="Arial" pitchFamily="34" charset="-120"/>
              </a:rPr>
              <a:t>Cartographier les termes</a:t>
            </a:r>
            <a:endParaRPr lang="en-US" sz="1000" dirty="0"/>
          </a:p>
        </p:txBody>
      </p:sp>
      <p:sp>
        <p:nvSpPr>
          <p:cNvPr id="24" name="Text 20"/>
          <p:cNvSpPr/>
          <p:nvPr/>
        </p:nvSpPr>
        <p:spPr>
          <a:xfrm>
            <a:off x="4754880" y="2249424"/>
            <a:ext cx="3931920" cy="777240"/>
          </a:xfrm>
          <a:prstGeom prst="rect">
            <a:avLst/>
          </a:prstGeom>
          <a:noFill/>
          <a:ln/>
        </p:spPr>
        <p:txBody>
          <a:bodyPr wrap="square" lIns="0" tIns="0" rIns="0" bIns="0" rtlCol="0" anchor="t"/>
          <a:lstStyle/>
          <a:p>
            <a:pPr indent="0" marL="0">
              <a:lnSpc>
                <a:spcPct val="108000"/>
              </a:lnSpc>
              <a:buNone/>
            </a:pPr>
            <a:r>
              <a:rPr lang="en-US" sz="1100" dirty="0">
                <a:solidFill>
                  <a:srgbClr val="1F2733"/>
                </a:solidFill>
                <a:latin typeface="Arial" pitchFamily="34" charset="0"/>
                <a:ea typeface="Arial" pitchFamily="34" charset="-122"/>
                <a:cs typeface="Arial" pitchFamily="34" charset="-120"/>
              </a:rPr>
              <a:t>Ask Claude to break the question into concepts and synonyms, draft ready-to-paste queries, and name the subfields and venues to look in.</a:t>
            </a:r>
            <a:endParaRPr lang="en-US" sz="1100" dirty="0"/>
          </a:p>
        </p:txBody>
      </p:sp>
      <p:sp>
        <p:nvSpPr>
          <p:cNvPr id="25" name="Shape 21"/>
          <p:cNvSpPr/>
          <p:nvPr/>
        </p:nvSpPr>
        <p:spPr>
          <a:xfrm>
            <a:off x="4754880" y="3108960"/>
            <a:ext cx="3931920" cy="1371600"/>
          </a:xfrm>
          <a:prstGeom prst="roundRect">
            <a:avLst>
              <a:gd name="adj" fmla="val 6000"/>
            </a:avLst>
          </a:prstGeom>
          <a:solidFill>
            <a:srgbClr val="FCF3D8"/>
          </a:solidFill>
          <a:ln/>
          <a:effectLst>
            <a:outerShdw sx="100000" sy="100000" kx="0" ky="0" algn="bl" rotWithShape="0" blurRad="88900" dist="38100" dir="5400000">
              <a:srgbClr val="10213F">
                <a:alpha val="15000"/>
              </a:srgbClr>
            </a:outerShdw>
          </a:effectLst>
        </p:spPr>
      </p:sp>
      <p:sp>
        <p:nvSpPr>
          <p:cNvPr id="26" name="Text 22"/>
          <p:cNvSpPr/>
          <p:nvPr/>
        </p:nvSpPr>
        <p:spPr>
          <a:xfrm>
            <a:off x="4937760" y="3200400"/>
            <a:ext cx="3566160" cy="237744"/>
          </a:xfrm>
          <a:prstGeom prst="rect">
            <a:avLst/>
          </a:prstGeom>
          <a:noFill/>
          <a:ln/>
        </p:spPr>
        <p:txBody>
          <a:bodyPr wrap="square" lIns="0" tIns="0" rIns="0" bIns="0" rtlCol="0" anchor="ctr"/>
          <a:lstStyle/>
          <a:p>
            <a:pPr indent="0" marL="0">
              <a:buNone/>
            </a:pPr>
            <a:r>
              <a:rPr lang="en-US" sz="900" b="1" spc="100" kern="0" dirty="0">
                <a:solidFill>
                  <a:srgbClr val="B07D08"/>
                </a:solidFill>
                <a:latin typeface="Arial" pitchFamily="34" charset="0"/>
                <a:ea typeface="Arial" pitchFamily="34" charset="-122"/>
                <a:cs typeface="Arial" pitchFamily="34" charset="-120"/>
              </a:rPr>
              <a:t>TRY THIS PROMPT · ESSAYEZ CETTE CONSIGNE</a:t>
            </a:r>
            <a:endParaRPr lang="en-US" sz="900" dirty="0"/>
          </a:p>
        </p:txBody>
      </p:sp>
      <p:sp>
        <p:nvSpPr>
          <p:cNvPr id="27" name="Text 23"/>
          <p:cNvSpPr/>
          <p:nvPr/>
        </p:nvSpPr>
        <p:spPr>
          <a:xfrm>
            <a:off x="4937760" y="3456432"/>
            <a:ext cx="3566160" cy="932688"/>
          </a:xfrm>
          <a:prstGeom prst="rect">
            <a:avLst/>
          </a:prstGeom>
          <a:noFill/>
          <a:ln/>
        </p:spPr>
        <p:txBody>
          <a:bodyPr wrap="square" lIns="0" tIns="0" rIns="0" bIns="0" rtlCol="0" anchor="t"/>
          <a:lstStyle/>
          <a:p>
            <a:pPr indent="0" marL="0">
              <a:lnSpc>
                <a:spcPct val="106000"/>
              </a:lnSpc>
              <a:buNone/>
            </a:pPr>
            <a:r>
              <a:rPr lang="en-US" sz="1050" i="1" dirty="0">
                <a:solidFill>
                  <a:srgbClr val="1F2733"/>
                </a:solidFill>
                <a:latin typeface="Arial" pitchFamily="34" charset="0"/>
                <a:ea typeface="Arial" pitchFamily="34" charset="-122"/>
                <a:cs typeface="Arial" pitchFamily="34" charset="-120"/>
              </a:rPr>
              <a:t>“Break my question into core concepts. Give me synonyms and 5 query strings for Google Scholar and arXiv, plus the subfields and venues where this work appears.”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pic>
        <p:nvPicPr>
          <p:cNvPr id="5" name="Image 1" descr="preencoded.png">    </p:cNvPr>
          <p:cNvPicPr>
            <a:picLocks noChangeAspect="1"/>
          </p:cNvPicPr>
          <p:nvPr/>
        </p:nvPicPr>
        <p:blipFill>
          <a:blip r:embed="rId3"/>
          <a:stretch>
            <a:fillRect/>
          </a:stretch>
        </p:blipFill>
        <p:spPr>
          <a:xfrm>
            <a:off x="610819" y="519379"/>
            <a:ext cx="241402" cy="241402"/>
          </a:xfrm>
          <a:prstGeom prst="rect">
            <a:avLst/>
          </a:prstGeom>
        </p:spPr>
      </p:pic>
      <p:sp>
        <p:nvSpPr>
          <p:cNvPr id="6" name="Text 2"/>
          <p:cNvSpPr/>
          <p:nvPr/>
        </p:nvSpPr>
        <p:spPr>
          <a:xfrm>
            <a:off x="1188720" y="292608"/>
            <a:ext cx="5486400" cy="457200"/>
          </a:xfrm>
          <a:prstGeom prst="rect">
            <a:avLst/>
          </a:prstGeom>
          <a:noFill/>
          <a:ln/>
        </p:spPr>
        <p:txBody>
          <a:bodyPr wrap="square" lIns="0" tIns="0" rIns="0" bIns="0" rtlCol="0" anchor="ctr"/>
          <a:lstStyle/>
          <a:p>
            <a:pPr indent="0" marL="0">
              <a:buNone/>
            </a:pPr>
            <a:r>
              <a:rPr lang="en-US" sz="2200" b="1" dirty="0">
                <a:solidFill>
                  <a:srgbClr val="002C7C"/>
                </a:solidFill>
                <a:latin typeface="Arial" pitchFamily="34" charset="0"/>
                <a:ea typeface="Arial" pitchFamily="34" charset="-122"/>
                <a:cs typeface="Arial" pitchFamily="34" charset="-120"/>
              </a:rPr>
              <a:t>Orienting to the field</a:t>
            </a:r>
            <a:endParaRPr lang="en-US" sz="2200" dirty="0"/>
          </a:p>
        </p:txBody>
      </p:sp>
      <p:sp>
        <p:nvSpPr>
          <p:cNvPr id="7" name="Shape 3"/>
          <p:cNvSpPr/>
          <p:nvPr/>
        </p:nvSpPr>
        <p:spPr>
          <a:xfrm>
            <a:off x="1216152" y="841248"/>
            <a:ext cx="1280160" cy="45720"/>
          </a:xfrm>
          <a:prstGeom prst="rect">
            <a:avLst/>
          </a:prstGeom>
          <a:solidFill>
            <a:srgbClr val="EEA901"/>
          </a:solidFill>
          <a:ln/>
        </p:spPr>
      </p:sp>
      <p:sp>
        <p:nvSpPr>
          <p:cNvPr id="8" name="Text 4"/>
          <p:cNvSpPr/>
          <p:nvPr/>
        </p:nvSpPr>
        <p:spPr>
          <a:xfrm>
            <a:off x="1188720" y="914400"/>
            <a:ext cx="5486400" cy="274320"/>
          </a:xfrm>
          <a:prstGeom prst="rect">
            <a:avLst/>
          </a:prstGeom>
          <a:noFill/>
          <a:ln/>
        </p:spPr>
        <p:txBody>
          <a:bodyPr wrap="square" lIns="0" tIns="0" rIns="0" bIns="0" rtlCol="0" anchor="ctr"/>
          <a:lstStyle/>
          <a:p>
            <a:pPr indent="0" marL="0">
              <a:buNone/>
            </a:pPr>
            <a:r>
              <a:rPr lang="en-US" sz="1200" i="1" dirty="0">
                <a:solidFill>
                  <a:srgbClr val="5B6675"/>
                </a:solidFill>
                <a:latin typeface="Arial" pitchFamily="34" charset="0"/>
                <a:ea typeface="Arial" pitchFamily="34" charset="-122"/>
                <a:cs typeface="Arial" pitchFamily="34" charset="-120"/>
              </a:rPr>
              <a:t>S'orienter dans le domaine — le parcours</a:t>
            </a:r>
            <a:endParaRPr lang="en-US" sz="1200" dirty="0"/>
          </a:p>
        </p:txBody>
      </p:sp>
      <p:sp>
        <p:nvSpPr>
          <p:cNvPr id="9" name="Shape 5"/>
          <p:cNvSpPr/>
          <p:nvPr/>
        </p:nvSpPr>
        <p:spPr>
          <a:xfrm>
            <a:off x="6858000" y="384048"/>
            <a:ext cx="1828800" cy="384048"/>
          </a:xfrm>
          <a:prstGeom prst="roundRect">
            <a:avLst>
              <a:gd name="adj" fmla="val 19048"/>
            </a:avLst>
          </a:prstGeom>
          <a:solidFill>
            <a:srgbClr val="002C7C"/>
          </a:solidFill>
          <a:ln/>
        </p:spPr>
      </p:sp>
      <p:sp>
        <p:nvSpPr>
          <p:cNvPr id="10" name="Text 6"/>
          <p:cNvSpPr/>
          <p:nvPr/>
        </p:nvSpPr>
        <p:spPr>
          <a:xfrm>
            <a:off x="6858000" y="384048"/>
            <a:ext cx="1828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Claude Projects</a:t>
            </a:r>
            <a:endParaRPr lang="en-US" sz="1100" dirty="0"/>
          </a:p>
        </p:txBody>
      </p:sp>
      <p:sp>
        <p:nvSpPr>
          <p:cNvPr id="11" name="Text 7"/>
          <p:cNvSpPr/>
          <p:nvPr/>
        </p:nvSpPr>
        <p:spPr>
          <a:xfrm>
            <a:off x="5029200" y="877824"/>
            <a:ext cx="3657600" cy="237744"/>
          </a:xfrm>
          <a:prstGeom prst="rect">
            <a:avLst/>
          </a:prstGeom>
          <a:noFill/>
          <a:ln/>
        </p:spPr>
        <p:txBody>
          <a:bodyPr wrap="square" lIns="0" tIns="0" rIns="0" bIns="0" rtlCol="0" anchor="ctr"/>
          <a:lstStyle/>
          <a:p>
            <a:pPr algn="r" indent="0" marL="0">
              <a:buNone/>
            </a:pPr>
            <a:r>
              <a:rPr lang="en-US" sz="1050" i="1" dirty="0">
                <a:solidFill>
                  <a:srgbClr val="5B6675"/>
                </a:solidFill>
                <a:latin typeface="Arial" pitchFamily="34" charset="0"/>
                <a:ea typeface="Arial" pitchFamily="34" charset="-122"/>
                <a:cs typeface="Arial" pitchFamily="34" charset="-120"/>
              </a:rPr>
              <a:t>Moves 3–4 of 5</a:t>
            </a:r>
            <a:endParaRPr lang="en-US" sz="1050" dirty="0"/>
          </a:p>
        </p:txBody>
      </p:sp>
      <p:sp>
        <p:nvSpPr>
          <p:cNvPr id="12" name="Shape 8"/>
          <p:cNvSpPr/>
          <p:nvPr/>
        </p:nvSpPr>
        <p:spPr>
          <a:xfrm>
            <a:off x="457200" y="1417320"/>
            <a:ext cx="457200" cy="457200"/>
          </a:xfrm>
          <a:prstGeom prst="ellipse">
            <a:avLst/>
          </a:prstGeom>
          <a:solidFill>
            <a:srgbClr val="002C7C"/>
          </a:solidFill>
          <a:ln/>
        </p:spPr>
      </p:sp>
      <p:sp>
        <p:nvSpPr>
          <p:cNvPr id="13" name="Text 9"/>
          <p:cNvSpPr/>
          <p:nvPr/>
        </p:nvSpPr>
        <p:spPr>
          <a:xfrm>
            <a:off x="457200" y="14173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4" name="Text 10"/>
          <p:cNvSpPr/>
          <p:nvPr/>
        </p:nvSpPr>
        <p:spPr>
          <a:xfrm>
            <a:off x="1042416" y="1399032"/>
            <a:ext cx="3346704" cy="457200"/>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Gather sources</a:t>
            </a:r>
            <a:endParaRPr lang="en-US" sz="1500" dirty="0"/>
          </a:p>
        </p:txBody>
      </p:sp>
      <p:sp>
        <p:nvSpPr>
          <p:cNvPr id="15" name="Text 11"/>
          <p:cNvSpPr/>
          <p:nvPr/>
        </p:nvSpPr>
        <p:spPr>
          <a:xfrm>
            <a:off x="1042416" y="1874520"/>
            <a:ext cx="3346704" cy="256032"/>
          </a:xfrm>
          <a:prstGeom prst="rect">
            <a:avLst/>
          </a:prstGeom>
          <a:noFill/>
          <a:ln/>
        </p:spPr>
        <p:txBody>
          <a:bodyPr wrap="square" lIns="0" tIns="0" rIns="0" bIns="0" rtlCol="0" anchor="ctr"/>
          <a:lstStyle/>
          <a:p>
            <a:pPr indent="0" marL="0">
              <a:buNone/>
            </a:pPr>
            <a:r>
              <a:rPr lang="en-US" sz="1000" i="1" dirty="0">
                <a:solidFill>
                  <a:srgbClr val="5B6675"/>
                </a:solidFill>
                <a:latin typeface="Arial" pitchFamily="34" charset="0"/>
                <a:ea typeface="Arial" pitchFamily="34" charset="-122"/>
                <a:cs typeface="Arial" pitchFamily="34" charset="-120"/>
              </a:rPr>
              <a:t>Rassembler les sources</a:t>
            </a:r>
            <a:endParaRPr lang="en-US" sz="1000" dirty="0"/>
          </a:p>
        </p:txBody>
      </p:sp>
      <p:sp>
        <p:nvSpPr>
          <p:cNvPr id="16" name="Text 12"/>
          <p:cNvSpPr/>
          <p:nvPr/>
        </p:nvSpPr>
        <p:spPr>
          <a:xfrm>
            <a:off x="457200" y="2249424"/>
            <a:ext cx="3931920" cy="777240"/>
          </a:xfrm>
          <a:prstGeom prst="rect">
            <a:avLst/>
          </a:prstGeom>
          <a:noFill/>
          <a:ln/>
        </p:spPr>
        <p:txBody>
          <a:bodyPr wrap="square" lIns="0" tIns="0" rIns="0" bIns="0" rtlCol="0" anchor="t"/>
          <a:lstStyle/>
          <a:p>
            <a:pPr indent="0" marL="0">
              <a:lnSpc>
                <a:spcPct val="108000"/>
              </a:lnSpc>
              <a:buNone/>
            </a:pPr>
            <a:r>
              <a:rPr lang="en-US" sz="1100" dirty="0">
                <a:solidFill>
                  <a:srgbClr val="1F2733"/>
                </a:solidFill>
                <a:latin typeface="Arial" pitchFamily="34" charset="0"/>
                <a:ea typeface="Arial" pitchFamily="34" charset="-122"/>
                <a:cs typeface="Arial" pitchFamily="34" charset="-120"/>
              </a:rPr>
              <a:t>Run those queries in Google Scholar, arXiv, Semantic Scholar and your library. Keep the most relevant; use “cited by” and “related” to snowball outward.</a:t>
            </a:r>
            <a:endParaRPr lang="en-US" sz="1100" dirty="0"/>
          </a:p>
        </p:txBody>
      </p:sp>
      <p:sp>
        <p:nvSpPr>
          <p:cNvPr id="17" name="Shape 13"/>
          <p:cNvSpPr/>
          <p:nvPr/>
        </p:nvSpPr>
        <p:spPr>
          <a:xfrm>
            <a:off x="457200" y="3108960"/>
            <a:ext cx="3931920" cy="1371600"/>
          </a:xfrm>
          <a:prstGeom prst="roundRect">
            <a:avLst>
              <a:gd name="adj" fmla="val 6000"/>
            </a:avLst>
          </a:prstGeom>
          <a:solidFill>
            <a:srgbClr val="EAF0FA"/>
          </a:solidFill>
          <a:ln/>
          <a:effectLst>
            <a:outerShdw sx="100000" sy="100000" kx="0" ky="0" algn="bl" rotWithShape="0" blurRad="88900" dist="38100" dir="5400000">
              <a:srgbClr val="10213F">
                <a:alpha val="15000"/>
              </a:srgbClr>
            </a:outerShdw>
          </a:effectLst>
        </p:spPr>
      </p:sp>
      <p:sp>
        <p:nvSpPr>
          <p:cNvPr id="18" name="Text 14"/>
          <p:cNvSpPr/>
          <p:nvPr/>
        </p:nvSpPr>
        <p:spPr>
          <a:xfrm>
            <a:off x="640080" y="3200400"/>
            <a:ext cx="3566160" cy="237744"/>
          </a:xfrm>
          <a:prstGeom prst="rect">
            <a:avLst/>
          </a:prstGeom>
          <a:noFill/>
          <a:ln/>
        </p:spPr>
        <p:txBody>
          <a:bodyPr wrap="square" lIns="0" tIns="0" rIns="0" bIns="0" rtlCol="0" anchor="ctr"/>
          <a:lstStyle/>
          <a:p>
            <a:pPr indent="0" marL="0">
              <a:buNone/>
            </a:pPr>
            <a:r>
              <a:rPr lang="en-US" sz="900" b="1" spc="100" kern="0" dirty="0">
                <a:solidFill>
                  <a:srgbClr val="002C7C"/>
                </a:solidFill>
                <a:latin typeface="Arial" pitchFamily="34" charset="0"/>
                <a:ea typeface="Arial" pitchFamily="34" charset="-122"/>
                <a:cs typeface="Arial" pitchFamily="34" charset="-120"/>
              </a:rPr>
              <a:t>DO THIS YOURSELF · À FAIRE VOUS-MÊME</a:t>
            </a:r>
            <a:endParaRPr lang="en-US" sz="900" dirty="0"/>
          </a:p>
        </p:txBody>
      </p:sp>
      <p:sp>
        <p:nvSpPr>
          <p:cNvPr id="19" name="Text 15"/>
          <p:cNvSpPr/>
          <p:nvPr/>
        </p:nvSpPr>
        <p:spPr>
          <a:xfrm>
            <a:off x="640080" y="3456432"/>
            <a:ext cx="3566160" cy="932688"/>
          </a:xfrm>
          <a:prstGeom prst="rect">
            <a:avLst/>
          </a:prstGeom>
          <a:noFill/>
          <a:ln/>
        </p:spPr>
        <p:txBody>
          <a:bodyPr wrap="square" lIns="0" tIns="0" rIns="0" bIns="0" rtlCol="0" anchor="t"/>
          <a:lstStyle/>
          <a:p>
            <a:pPr indent="0" marL="0">
              <a:lnSpc>
                <a:spcPct val="106000"/>
              </a:lnSpc>
              <a:buNone/>
            </a:pPr>
            <a:r>
              <a:rPr lang="en-US" sz="1050" dirty="0">
                <a:solidFill>
                  <a:srgbClr val="1F2733"/>
                </a:solidFill>
                <a:latin typeface="Arial" pitchFamily="34" charset="0"/>
                <a:ea typeface="Arial" pitchFamily="34" charset="-122"/>
                <a:cs typeface="Arial" pitchFamily="34" charset="-120"/>
              </a:rPr>
              <a:t>Claude doesn't fetch papers — and shouldn't pretend to. Finding sources, and judging which are relevant, stays with you.</a:t>
            </a:r>
            <a:endParaRPr lang="en-US" sz="1050" dirty="0"/>
          </a:p>
        </p:txBody>
      </p:sp>
      <p:sp>
        <p:nvSpPr>
          <p:cNvPr id="20" name="Shape 16"/>
          <p:cNvSpPr/>
          <p:nvPr/>
        </p:nvSpPr>
        <p:spPr>
          <a:xfrm>
            <a:off x="4754880" y="1417320"/>
            <a:ext cx="457200" cy="457200"/>
          </a:xfrm>
          <a:prstGeom prst="ellipse">
            <a:avLst/>
          </a:prstGeom>
          <a:solidFill>
            <a:srgbClr val="002C7C"/>
          </a:solidFill>
          <a:ln/>
        </p:spPr>
      </p:sp>
      <p:sp>
        <p:nvSpPr>
          <p:cNvPr id="21" name="Text 17"/>
          <p:cNvSpPr/>
          <p:nvPr/>
        </p:nvSpPr>
        <p:spPr>
          <a:xfrm>
            <a:off x="4754880" y="14173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2" name="Text 18"/>
          <p:cNvSpPr/>
          <p:nvPr/>
        </p:nvSpPr>
        <p:spPr>
          <a:xfrm>
            <a:off x="5340096" y="1399032"/>
            <a:ext cx="3346704" cy="457200"/>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Build the set</a:t>
            </a:r>
            <a:endParaRPr lang="en-US" sz="1500" dirty="0"/>
          </a:p>
        </p:txBody>
      </p:sp>
      <p:sp>
        <p:nvSpPr>
          <p:cNvPr id="23" name="Text 19"/>
          <p:cNvSpPr/>
          <p:nvPr/>
        </p:nvSpPr>
        <p:spPr>
          <a:xfrm>
            <a:off x="5340096" y="1874520"/>
            <a:ext cx="3346704" cy="256032"/>
          </a:xfrm>
          <a:prstGeom prst="rect">
            <a:avLst/>
          </a:prstGeom>
          <a:noFill/>
          <a:ln/>
        </p:spPr>
        <p:txBody>
          <a:bodyPr wrap="square" lIns="0" tIns="0" rIns="0" bIns="0" rtlCol="0" anchor="ctr"/>
          <a:lstStyle/>
          <a:p>
            <a:pPr indent="0" marL="0">
              <a:buNone/>
            </a:pPr>
            <a:r>
              <a:rPr lang="en-US" sz="1000" i="1" dirty="0">
                <a:solidFill>
                  <a:srgbClr val="5B6675"/>
                </a:solidFill>
                <a:latin typeface="Arial" pitchFamily="34" charset="0"/>
                <a:ea typeface="Arial" pitchFamily="34" charset="-122"/>
                <a:cs typeface="Arial" pitchFamily="34" charset="-120"/>
              </a:rPr>
              <a:t>Constituer le corpus</a:t>
            </a:r>
            <a:endParaRPr lang="en-US" sz="1000" dirty="0"/>
          </a:p>
        </p:txBody>
      </p:sp>
      <p:sp>
        <p:nvSpPr>
          <p:cNvPr id="24" name="Text 20"/>
          <p:cNvSpPr/>
          <p:nvPr/>
        </p:nvSpPr>
        <p:spPr>
          <a:xfrm>
            <a:off x="4754880" y="2249424"/>
            <a:ext cx="3931920" cy="777240"/>
          </a:xfrm>
          <a:prstGeom prst="rect">
            <a:avLst/>
          </a:prstGeom>
          <a:noFill/>
          <a:ln/>
        </p:spPr>
        <p:txBody>
          <a:bodyPr wrap="square" lIns="0" tIns="0" rIns="0" bIns="0" rtlCol="0" anchor="t"/>
          <a:lstStyle/>
          <a:p>
            <a:pPr indent="0" marL="0">
              <a:lnSpc>
                <a:spcPct val="108000"/>
              </a:lnSpc>
              <a:buNone/>
            </a:pPr>
            <a:r>
              <a:rPr lang="en-US" sz="1100" dirty="0">
                <a:solidFill>
                  <a:srgbClr val="1F2733"/>
                </a:solidFill>
                <a:latin typeface="Arial" pitchFamily="34" charset="0"/>
                <a:ea typeface="Arial" pitchFamily="34" charset="-122"/>
                <a:cs typeface="Arial" pitchFamily="34" charset="-120"/>
              </a:rPr>
              <a:t>Upload what you gathered into the Project as knowledge. Now Claude is grounded in your real sources — not its memory.</a:t>
            </a:r>
            <a:endParaRPr lang="en-US" sz="1100" dirty="0"/>
          </a:p>
        </p:txBody>
      </p:sp>
      <p:sp>
        <p:nvSpPr>
          <p:cNvPr id="25" name="Shape 21"/>
          <p:cNvSpPr/>
          <p:nvPr/>
        </p:nvSpPr>
        <p:spPr>
          <a:xfrm>
            <a:off x="4754880" y="3108960"/>
            <a:ext cx="3931920" cy="1371600"/>
          </a:xfrm>
          <a:prstGeom prst="roundRect">
            <a:avLst>
              <a:gd name="adj" fmla="val 6000"/>
            </a:avLst>
          </a:prstGeom>
          <a:solidFill>
            <a:srgbClr val="FCF3D8"/>
          </a:solidFill>
          <a:ln/>
          <a:effectLst>
            <a:outerShdw sx="100000" sy="100000" kx="0" ky="0" algn="bl" rotWithShape="0" blurRad="88900" dist="38100" dir="5400000">
              <a:srgbClr val="10213F">
                <a:alpha val="15000"/>
              </a:srgbClr>
            </a:outerShdw>
          </a:effectLst>
        </p:spPr>
      </p:sp>
      <p:sp>
        <p:nvSpPr>
          <p:cNvPr id="26" name="Text 22"/>
          <p:cNvSpPr/>
          <p:nvPr/>
        </p:nvSpPr>
        <p:spPr>
          <a:xfrm>
            <a:off x="4937760" y="3200400"/>
            <a:ext cx="3566160" cy="237744"/>
          </a:xfrm>
          <a:prstGeom prst="rect">
            <a:avLst/>
          </a:prstGeom>
          <a:noFill/>
          <a:ln/>
        </p:spPr>
        <p:txBody>
          <a:bodyPr wrap="square" lIns="0" tIns="0" rIns="0" bIns="0" rtlCol="0" anchor="ctr"/>
          <a:lstStyle/>
          <a:p>
            <a:pPr indent="0" marL="0">
              <a:buNone/>
            </a:pPr>
            <a:r>
              <a:rPr lang="en-US" sz="900" b="1" spc="100" kern="0" dirty="0">
                <a:solidFill>
                  <a:srgbClr val="B07D08"/>
                </a:solidFill>
                <a:latin typeface="Arial" pitchFamily="34" charset="0"/>
                <a:ea typeface="Arial" pitchFamily="34" charset="-122"/>
                <a:cs typeface="Arial" pitchFamily="34" charset="-120"/>
              </a:rPr>
              <a:t>TRY THIS PROMPT · ESSAYEZ CETTE CONSIGNE</a:t>
            </a:r>
            <a:endParaRPr lang="en-US" sz="900" dirty="0"/>
          </a:p>
        </p:txBody>
      </p:sp>
      <p:sp>
        <p:nvSpPr>
          <p:cNvPr id="27" name="Text 23"/>
          <p:cNvSpPr/>
          <p:nvPr/>
        </p:nvSpPr>
        <p:spPr>
          <a:xfrm>
            <a:off x="4937760" y="3456432"/>
            <a:ext cx="3566160" cy="932688"/>
          </a:xfrm>
          <a:prstGeom prst="rect">
            <a:avLst/>
          </a:prstGeom>
          <a:noFill/>
          <a:ln/>
        </p:spPr>
        <p:txBody>
          <a:bodyPr wrap="square" lIns="0" tIns="0" rIns="0" bIns="0" rtlCol="0" anchor="t"/>
          <a:lstStyle/>
          <a:p>
            <a:pPr indent="0" marL="0">
              <a:lnSpc>
                <a:spcPct val="106000"/>
              </a:lnSpc>
              <a:buNone/>
            </a:pPr>
            <a:r>
              <a:rPr lang="en-US" sz="1050" i="1" dirty="0">
                <a:solidFill>
                  <a:srgbClr val="1F2733"/>
                </a:solidFill>
                <a:latin typeface="Arial" pitchFamily="34" charset="0"/>
                <a:ea typeface="Arial" pitchFamily="34" charset="-122"/>
                <a:cs typeface="Arial" pitchFamily="34" charset="-120"/>
              </a:rPr>
              <a:t>“Here are the papers I gathered. For each: problem, method, key result, limitation in 3 lines. Then name the 5 most central to my question, and why.”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pic>
        <p:nvPicPr>
          <p:cNvPr id="5" name="Image 1" descr="preencoded.png">    </p:cNvPr>
          <p:cNvPicPr>
            <a:picLocks noChangeAspect="1"/>
          </p:cNvPicPr>
          <p:nvPr/>
        </p:nvPicPr>
        <p:blipFill>
          <a:blip r:embed="rId3"/>
          <a:stretch>
            <a:fillRect/>
          </a:stretch>
        </p:blipFill>
        <p:spPr>
          <a:xfrm>
            <a:off x="610819" y="519379"/>
            <a:ext cx="241402" cy="241402"/>
          </a:xfrm>
          <a:prstGeom prst="rect">
            <a:avLst/>
          </a:prstGeom>
        </p:spPr>
      </p:pic>
      <p:sp>
        <p:nvSpPr>
          <p:cNvPr id="6" name="Text 2"/>
          <p:cNvSpPr/>
          <p:nvPr/>
        </p:nvSpPr>
        <p:spPr>
          <a:xfrm>
            <a:off x="1188720" y="292608"/>
            <a:ext cx="5486400" cy="457200"/>
          </a:xfrm>
          <a:prstGeom prst="rect">
            <a:avLst/>
          </a:prstGeom>
          <a:noFill/>
          <a:ln/>
        </p:spPr>
        <p:txBody>
          <a:bodyPr wrap="square" lIns="0" tIns="0" rIns="0" bIns="0" rtlCol="0" anchor="ctr"/>
          <a:lstStyle/>
          <a:p>
            <a:pPr indent="0" marL="0">
              <a:buNone/>
            </a:pPr>
            <a:r>
              <a:rPr lang="en-US" sz="2200" b="1" dirty="0">
                <a:solidFill>
                  <a:srgbClr val="002C7C"/>
                </a:solidFill>
                <a:latin typeface="Arial" pitchFamily="34" charset="0"/>
                <a:ea typeface="Arial" pitchFamily="34" charset="-122"/>
                <a:cs typeface="Arial" pitchFamily="34" charset="-120"/>
              </a:rPr>
              <a:t>Orienting to the field</a:t>
            </a:r>
            <a:endParaRPr lang="en-US" sz="2200" dirty="0"/>
          </a:p>
        </p:txBody>
      </p:sp>
      <p:sp>
        <p:nvSpPr>
          <p:cNvPr id="7" name="Shape 3"/>
          <p:cNvSpPr/>
          <p:nvPr/>
        </p:nvSpPr>
        <p:spPr>
          <a:xfrm>
            <a:off x="1216152" y="841248"/>
            <a:ext cx="1280160" cy="45720"/>
          </a:xfrm>
          <a:prstGeom prst="rect">
            <a:avLst/>
          </a:prstGeom>
          <a:solidFill>
            <a:srgbClr val="EEA901"/>
          </a:solidFill>
          <a:ln/>
        </p:spPr>
      </p:sp>
      <p:sp>
        <p:nvSpPr>
          <p:cNvPr id="8" name="Text 4"/>
          <p:cNvSpPr/>
          <p:nvPr/>
        </p:nvSpPr>
        <p:spPr>
          <a:xfrm>
            <a:off x="1188720" y="914400"/>
            <a:ext cx="5486400" cy="274320"/>
          </a:xfrm>
          <a:prstGeom prst="rect">
            <a:avLst/>
          </a:prstGeom>
          <a:noFill/>
          <a:ln/>
        </p:spPr>
        <p:txBody>
          <a:bodyPr wrap="square" lIns="0" tIns="0" rIns="0" bIns="0" rtlCol="0" anchor="ctr"/>
          <a:lstStyle/>
          <a:p>
            <a:pPr indent="0" marL="0">
              <a:buNone/>
            </a:pPr>
            <a:r>
              <a:rPr lang="en-US" sz="1200" i="1" dirty="0">
                <a:solidFill>
                  <a:srgbClr val="5B6675"/>
                </a:solidFill>
                <a:latin typeface="Arial" pitchFamily="34" charset="0"/>
                <a:ea typeface="Arial" pitchFamily="34" charset="-122"/>
                <a:cs typeface="Arial" pitchFamily="34" charset="-120"/>
              </a:rPr>
              <a:t>S'orienter dans le domaine — le parcours</a:t>
            </a:r>
            <a:endParaRPr lang="en-US" sz="1200" dirty="0"/>
          </a:p>
        </p:txBody>
      </p:sp>
      <p:sp>
        <p:nvSpPr>
          <p:cNvPr id="9" name="Shape 5"/>
          <p:cNvSpPr/>
          <p:nvPr/>
        </p:nvSpPr>
        <p:spPr>
          <a:xfrm>
            <a:off x="6858000" y="384048"/>
            <a:ext cx="1828800" cy="384048"/>
          </a:xfrm>
          <a:prstGeom prst="roundRect">
            <a:avLst>
              <a:gd name="adj" fmla="val 19048"/>
            </a:avLst>
          </a:prstGeom>
          <a:solidFill>
            <a:srgbClr val="002C7C"/>
          </a:solidFill>
          <a:ln/>
        </p:spPr>
      </p:sp>
      <p:sp>
        <p:nvSpPr>
          <p:cNvPr id="10" name="Text 6"/>
          <p:cNvSpPr/>
          <p:nvPr/>
        </p:nvSpPr>
        <p:spPr>
          <a:xfrm>
            <a:off x="6858000" y="384048"/>
            <a:ext cx="1828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Claude Projects</a:t>
            </a:r>
            <a:endParaRPr lang="en-US" sz="1100" dirty="0"/>
          </a:p>
        </p:txBody>
      </p:sp>
      <p:sp>
        <p:nvSpPr>
          <p:cNvPr id="11" name="Text 7"/>
          <p:cNvSpPr/>
          <p:nvPr/>
        </p:nvSpPr>
        <p:spPr>
          <a:xfrm>
            <a:off x="5029200" y="877824"/>
            <a:ext cx="3657600" cy="237744"/>
          </a:xfrm>
          <a:prstGeom prst="rect">
            <a:avLst/>
          </a:prstGeom>
          <a:noFill/>
          <a:ln/>
        </p:spPr>
        <p:txBody>
          <a:bodyPr wrap="square" lIns="0" tIns="0" rIns="0" bIns="0" rtlCol="0" anchor="ctr"/>
          <a:lstStyle/>
          <a:p>
            <a:pPr algn="r" indent="0" marL="0">
              <a:buNone/>
            </a:pPr>
            <a:r>
              <a:rPr lang="en-US" sz="1050" i="1" dirty="0">
                <a:solidFill>
                  <a:srgbClr val="5B6675"/>
                </a:solidFill>
                <a:latin typeface="Arial" pitchFamily="34" charset="0"/>
                <a:ea typeface="Arial" pitchFamily="34" charset="-122"/>
                <a:cs typeface="Arial" pitchFamily="34" charset="-120"/>
              </a:rPr>
              <a:t>Move 5 + guardrails</a:t>
            </a:r>
            <a:endParaRPr lang="en-US" sz="1050" dirty="0"/>
          </a:p>
        </p:txBody>
      </p:sp>
      <p:sp>
        <p:nvSpPr>
          <p:cNvPr id="12" name="Shape 8"/>
          <p:cNvSpPr/>
          <p:nvPr/>
        </p:nvSpPr>
        <p:spPr>
          <a:xfrm>
            <a:off x="457200" y="1371600"/>
            <a:ext cx="457200" cy="457200"/>
          </a:xfrm>
          <a:prstGeom prst="ellipse">
            <a:avLst/>
          </a:prstGeom>
          <a:solidFill>
            <a:srgbClr val="002C7C"/>
          </a:solidFill>
          <a:ln/>
        </p:spPr>
      </p:sp>
      <p:sp>
        <p:nvSpPr>
          <p:cNvPr id="13" name="Text 9"/>
          <p:cNvSpPr/>
          <p:nvPr/>
        </p:nvSpPr>
        <p:spPr>
          <a:xfrm>
            <a:off x="457200" y="137160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14" name="Text 10"/>
          <p:cNvSpPr/>
          <p:nvPr/>
        </p:nvSpPr>
        <p:spPr>
          <a:xfrm>
            <a:off x="1042416" y="1353312"/>
            <a:ext cx="7589520" cy="310896"/>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Interrogate &amp; keep a living log</a:t>
            </a:r>
            <a:endParaRPr lang="en-US" sz="1500" dirty="0"/>
          </a:p>
        </p:txBody>
      </p:sp>
      <p:sp>
        <p:nvSpPr>
          <p:cNvPr id="15" name="Text 11"/>
          <p:cNvSpPr/>
          <p:nvPr/>
        </p:nvSpPr>
        <p:spPr>
          <a:xfrm>
            <a:off x="1042416" y="1664208"/>
            <a:ext cx="7589520" cy="237744"/>
          </a:xfrm>
          <a:prstGeom prst="rect">
            <a:avLst/>
          </a:prstGeom>
          <a:noFill/>
          <a:ln/>
        </p:spPr>
        <p:txBody>
          <a:bodyPr wrap="square" lIns="0" tIns="0" rIns="0" bIns="0" rtlCol="0" anchor="ctr"/>
          <a:lstStyle/>
          <a:p>
            <a:pPr indent="0" marL="0">
              <a:buNone/>
            </a:pPr>
            <a:r>
              <a:rPr lang="en-US" sz="1000" i="1" dirty="0">
                <a:solidFill>
                  <a:srgbClr val="5B6675"/>
                </a:solidFill>
                <a:latin typeface="Arial" pitchFamily="34" charset="0"/>
                <a:ea typeface="Arial" pitchFamily="34" charset="-122"/>
                <a:cs typeface="Arial" pitchFamily="34" charset="-120"/>
              </a:rPr>
              <a:t>Interroger le corpus et tenir un journal vivant</a:t>
            </a:r>
            <a:endParaRPr lang="en-US" sz="1000" dirty="0"/>
          </a:p>
        </p:txBody>
      </p:sp>
      <p:sp>
        <p:nvSpPr>
          <p:cNvPr id="16" name="Text 12"/>
          <p:cNvSpPr/>
          <p:nvPr/>
        </p:nvSpPr>
        <p:spPr>
          <a:xfrm>
            <a:off x="457200" y="1975104"/>
            <a:ext cx="8229600" cy="310896"/>
          </a:xfrm>
          <a:prstGeom prst="rect">
            <a:avLst/>
          </a:prstGeom>
          <a:noFill/>
          <a:ln/>
        </p:spPr>
        <p:txBody>
          <a:bodyPr wrap="square" lIns="0" tIns="0" rIns="0" bIns="0" rtlCol="0" anchor="ctr"/>
          <a:lstStyle/>
          <a:p>
            <a:pPr indent="0" marL="0">
              <a:buNone/>
            </a:pPr>
            <a:r>
              <a:rPr lang="en-US" sz="1100" dirty="0">
                <a:solidFill>
                  <a:srgbClr val="1F2733"/>
                </a:solidFill>
                <a:latin typeface="Arial" pitchFamily="34" charset="0"/>
                <a:ea typeface="Arial" pitchFamily="34" charset="-122"/>
                <a:cs typeface="Arial" pitchFamily="34" charset="-120"/>
              </a:rPr>
              <a:t>Have Claude compare your sources and surface gaps; keep a running log in the Project and update it as new papers arrive.</a:t>
            </a:r>
            <a:endParaRPr lang="en-US" sz="1100" dirty="0"/>
          </a:p>
        </p:txBody>
      </p:sp>
      <p:sp>
        <p:nvSpPr>
          <p:cNvPr id="17" name="Shape 13"/>
          <p:cNvSpPr/>
          <p:nvPr/>
        </p:nvSpPr>
        <p:spPr>
          <a:xfrm>
            <a:off x="457200" y="2340864"/>
            <a:ext cx="8229600" cy="877824"/>
          </a:xfrm>
          <a:prstGeom prst="roundRect">
            <a:avLst>
              <a:gd name="adj" fmla="val 9375"/>
            </a:avLst>
          </a:prstGeom>
          <a:solidFill>
            <a:srgbClr val="FCF3D8"/>
          </a:solidFill>
          <a:ln/>
          <a:effectLst>
            <a:outerShdw sx="100000" sy="100000" kx="0" ky="0" algn="bl" rotWithShape="0" blurRad="88900" dist="38100" dir="5400000">
              <a:srgbClr val="10213F">
                <a:alpha val="15000"/>
              </a:srgbClr>
            </a:outerShdw>
          </a:effectLst>
        </p:spPr>
      </p:sp>
      <p:sp>
        <p:nvSpPr>
          <p:cNvPr id="18" name="Text 14"/>
          <p:cNvSpPr/>
          <p:nvPr/>
        </p:nvSpPr>
        <p:spPr>
          <a:xfrm>
            <a:off x="640080" y="2414016"/>
            <a:ext cx="7863840" cy="219456"/>
          </a:xfrm>
          <a:prstGeom prst="rect">
            <a:avLst/>
          </a:prstGeom>
          <a:noFill/>
          <a:ln/>
        </p:spPr>
        <p:txBody>
          <a:bodyPr wrap="square" lIns="0" tIns="0" rIns="0" bIns="0" rtlCol="0" anchor="ctr"/>
          <a:lstStyle/>
          <a:p>
            <a:pPr indent="0" marL="0">
              <a:buNone/>
            </a:pPr>
            <a:r>
              <a:rPr lang="en-US" sz="900" b="1" spc="100" kern="0" dirty="0">
                <a:solidFill>
                  <a:srgbClr val="B07D08"/>
                </a:solidFill>
                <a:latin typeface="Arial" pitchFamily="34" charset="0"/>
                <a:ea typeface="Arial" pitchFamily="34" charset="-122"/>
                <a:cs typeface="Arial" pitchFamily="34" charset="-120"/>
              </a:rPr>
              <a:t>TRY THIS PROMPT · ESSAYEZ CETTE CONSIGNE</a:t>
            </a:r>
            <a:endParaRPr lang="en-US" sz="900" dirty="0"/>
          </a:p>
        </p:txBody>
      </p:sp>
      <p:sp>
        <p:nvSpPr>
          <p:cNvPr id="19" name="Text 15"/>
          <p:cNvSpPr/>
          <p:nvPr/>
        </p:nvSpPr>
        <p:spPr>
          <a:xfrm>
            <a:off x="640080" y="2651760"/>
            <a:ext cx="7863840" cy="512064"/>
          </a:xfrm>
          <a:prstGeom prst="rect">
            <a:avLst/>
          </a:prstGeom>
          <a:noFill/>
          <a:ln/>
        </p:spPr>
        <p:txBody>
          <a:bodyPr wrap="square" lIns="0" tIns="0" rIns="0" bIns="0" rtlCol="0" anchor="ctr"/>
          <a:lstStyle/>
          <a:p>
            <a:pPr indent="0" marL="0">
              <a:lnSpc>
                <a:spcPct val="104000"/>
              </a:lnSpc>
              <a:buNone/>
            </a:pPr>
            <a:r>
              <a:rPr lang="en-US" sz="1050" i="1" dirty="0">
                <a:solidFill>
                  <a:srgbClr val="1F2733"/>
                </a:solidFill>
                <a:latin typeface="Arial" pitchFamily="34" charset="0"/>
                <a:ea typeface="Arial" pitchFamily="34" charset="-122"/>
                <a:cs typeface="Arial" pitchFamily="34" charset="-120"/>
              </a:rPr>
              <a:t>“Build a table comparing these papers by method, workload, latency metric and limitation. Where do they disagree? What hasn't been tested for bursty stream workloads?”</a:t>
            </a:r>
            <a:endParaRPr lang="en-US" sz="1050" dirty="0"/>
          </a:p>
        </p:txBody>
      </p:sp>
      <p:sp>
        <p:nvSpPr>
          <p:cNvPr id="20" name="Shape 16"/>
          <p:cNvSpPr/>
          <p:nvPr/>
        </p:nvSpPr>
        <p:spPr>
          <a:xfrm>
            <a:off x="457200" y="3346704"/>
            <a:ext cx="8229600" cy="1298448"/>
          </a:xfrm>
          <a:prstGeom prst="roundRect">
            <a:avLst>
              <a:gd name="adj" fmla="val 6338"/>
            </a:avLst>
          </a:prstGeom>
          <a:solidFill>
            <a:srgbClr val="002C7C"/>
          </a:solidFill>
          <a:ln/>
          <a:effectLst>
            <a:outerShdw sx="100000" sy="100000" kx="0" ky="0" algn="bl" rotWithShape="0" blurRad="88900" dist="38100" dir="5400000">
              <a:srgbClr val="10213F">
                <a:alpha val="15000"/>
              </a:srgbClr>
            </a:outerShdw>
          </a:effectLst>
        </p:spPr>
      </p:sp>
      <p:sp>
        <p:nvSpPr>
          <p:cNvPr id="21" name="Shape 17"/>
          <p:cNvSpPr/>
          <p:nvPr/>
        </p:nvSpPr>
        <p:spPr>
          <a:xfrm>
            <a:off x="713232" y="3621024"/>
            <a:ext cx="548640" cy="548640"/>
          </a:xfrm>
          <a:prstGeom prst="ellipse">
            <a:avLst/>
          </a:prstGeom>
          <a:solidFill>
            <a:srgbClr val="EEA901"/>
          </a:solidFill>
          <a:ln/>
        </p:spPr>
      </p:sp>
      <p:pic>
        <p:nvPicPr>
          <p:cNvPr id="22" name="Image 2" descr="preencoded.png">    </p:cNvPr>
          <p:cNvPicPr>
            <a:picLocks noChangeAspect="1"/>
          </p:cNvPicPr>
          <p:nvPr/>
        </p:nvPicPr>
        <p:blipFill>
          <a:blip r:embed="rId4"/>
          <a:stretch>
            <a:fillRect/>
          </a:stretch>
        </p:blipFill>
        <p:spPr>
          <a:xfrm>
            <a:off x="866851" y="3774643"/>
            <a:ext cx="241402" cy="241402"/>
          </a:xfrm>
          <a:prstGeom prst="rect">
            <a:avLst/>
          </a:prstGeom>
        </p:spPr>
      </p:pic>
      <p:sp>
        <p:nvSpPr>
          <p:cNvPr id="23" name="Text 18"/>
          <p:cNvSpPr/>
          <p:nvPr/>
        </p:nvSpPr>
        <p:spPr>
          <a:xfrm>
            <a:off x="1481328" y="3438144"/>
            <a:ext cx="7040880" cy="237744"/>
          </a:xfrm>
          <a:prstGeom prst="rect">
            <a:avLst/>
          </a:prstGeom>
          <a:noFill/>
          <a:ln/>
        </p:spPr>
        <p:txBody>
          <a:bodyPr wrap="square" lIns="0" tIns="0" rIns="0" bIns="0" rtlCol="0" anchor="ctr"/>
          <a:lstStyle/>
          <a:p>
            <a:pPr indent="0" marL="0">
              <a:buNone/>
            </a:pPr>
            <a:r>
              <a:rPr lang="en-US" sz="950" b="1" spc="100" kern="0" dirty="0">
                <a:solidFill>
                  <a:srgbClr val="EEA901"/>
                </a:solidFill>
                <a:latin typeface="Arial" pitchFamily="34" charset="0"/>
                <a:ea typeface="Arial" pitchFamily="34" charset="-122"/>
                <a:cs typeface="Arial" pitchFamily="34" charset="-120"/>
              </a:rPr>
              <a:t>KEEP THE THINKING YOURS · GARDEZ LA RÉFLEXION</a:t>
            </a:r>
            <a:endParaRPr lang="en-US" sz="950" dirty="0"/>
          </a:p>
        </p:txBody>
      </p:sp>
      <p:sp>
        <p:nvSpPr>
          <p:cNvPr id="24" name="Text 19"/>
          <p:cNvSpPr/>
          <p:nvPr/>
        </p:nvSpPr>
        <p:spPr>
          <a:xfrm>
            <a:off x="1481328" y="3694176"/>
            <a:ext cx="7040880" cy="640080"/>
          </a:xfrm>
          <a:prstGeom prst="rect">
            <a:avLst/>
          </a:prstGeom>
          <a:noFill/>
          <a:ln/>
        </p:spPr>
        <p:txBody>
          <a:bodyPr wrap="square" lIns="0" tIns="0" rIns="0" bIns="0" rtlCol="0" anchor="ctr"/>
          <a:lstStyle/>
          <a:p>
            <a:pPr marL="177800" indent="-177800">
              <a:lnSpc>
                <a:spcPct val="102000"/>
              </a:lnSpc>
              <a:buSzPct val="100000"/>
              <a:buChar char="•"/>
            </a:pPr>
            <a:r>
              <a:rPr lang="en-US" sz="1050" dirty="0">
                <a:solidFill>
                  <a:srgbClr val="FFFFFF"/>
                </a:solidFill>
                <a:latin typeface="Arial" pitchFamily="34" charset="0"/>
                <a:ea typeface="Arial" pitchFamily="34" charset="-122"/>
                <a:cs typeface="Arial" pitchFamily="34" charset="-120"/>
              </a:rPr>
              <a:t>Claude can invent references — trust only sources you uploaded or verified.</a:t>
            </a:r>
            <a:endParaRPr lang="en-US" sz="1050" dirty="0"/>
          </a:p>
          <a:p>
            <a:pPr marL="177800" indent="-177800">
              <a:lnSpc>
                <a:spcPct val="102000"/>
              </a:lnSpc>
              <a:buSzPct val="100000"/>
              <a:buChar char="•"/>
            </a:pPr>
            <a:r>
              <a:rPr lang="en-US" sz="1050" dirty="0">
                <a:solidFill>
                  <a:srgbClr val="FFFFFF"/>
                </a:solidFill>
                <a:latin typeface="Arial" pitchFamily="34" charset="0"/>
                <a:ea typeface="Arial" pitchFamily="34" charset="-122"/>
                <a:cs typeface="Arial" pitchFamily="34" charset="-120"/>
              </a:rPr>
              <a:t>You decide what is relevant and where the gap is.</a:t>
            </a:r>
            <a:endParaRPr lang="en-US" sz="1050" dirty="0"/>
          </a:p>
          <a:p>
            <a:pPr marL="177800" indent="-177800">
              <a:lnSpc>
                <a:spcPct val="102000"/>
              </a:lnSpc>
              <a:buSzPct val="100000"/>
              <a:buChar char="•"/>
            </a:pPr>
            <a:r>
              <a:rPr lang="en-US" sz="1050" dirty="0">
                <a:solidFill>
                  <a:srgbClr val="FFFFFF"/>
                </a:solidFill>
                <a:latin typeface="Arial" pitchFamily="34" charset="0"/>
                <a:ea typeface="Arial" pitchFamily="34" charset="-122"/>
                <a:cs typeface="Arial" pitchFamily="34" charset="-120"/>
              </a:rPr>
              <a:t>Check every claim against the actual paper.</a:t>
            </a:r>
            <a:endParaRPr lang="en-US" sz="1050" dirty="0"/>
          </a:p>
        </p:txBody>
      </p:sp>
      <p:sp>
        <p:nvSpPr>
          <p:cNvPr id="25" name="Text 20"/>
          <p:cNvSpPr/>
          <p:nvPr/>
        </p:nvSpPr>
        <p:spPr>
          <a:xfrm>
            <a:off x="1481328" y="4334256"/>
            <a:ext cx="7040880" cy="256032"/>
          </a:xfrm>
          <a:prstGeom prst="rect">
            <a:avLst/>
          </a:prstGeom>
          <a:noFill/>
          <a:ln/>
        </p:spPr>
        <p:txBody>
          <a:bodyPr wrap="square" lIns="0" tIns="0" rIns="0" bIns="0" rtlCol="0" anchor="ctr"/>
          <a:lstStyle/>
          <a:p>
            <a:pPr indent="0" marL="0">
              <a:buNone/>
            </a:pPr>
            <a:r>
              <a:rPr lang="en-US" sz="1050" i="1" dirty="0">
                <a:solidFill>
                  <a:srgbClr val="C7D3EA"/>
                </a:solidFill>
                <a:latin typeface="Arial" pitchFamily="34" charset="0"/>
                <a:ea typeface="Arial" pitchFamily="34" charset="-122"/>
                <a:cs typeface="Arial" pitchFamily="34" charset="-120"/>
              </a:rPr>
              <a:t>Can you explain and defend this source map as your own understanding?</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5" name="Text 2"/>
          <p:cNvSpPr/>
          <p:nvPr/>
        </p:nvSpPr>
        <p:spPr>
          <a:xfrm>
            <a:off x="457200" y="365760"/>
            <a:ext cx="548640" cy="548640"/>
          </a:xfrm>
          <a:prstGeom prst="rect">
            <a:avLst/>
          </a:prstGeom>
          <a:noFill/>
          <a:ln/>
        </p:spPr>
        <p:txBody>
          <a:bodyPr wrap="square" lIns="0" tIns="0" rIns="0" bIns="0" rtlCol="0" anchor="ctr"/>
          <a:lstStyle/>
          <a:p>
            <a:pPr algn="ctr" indent="0" marL="0">
              <a:buNone/>
            </a:pPr>
            <a:r>
              <a:rPr lang="en-US" sz="2400" b="1" dirty="0">
                <a:solidFill>
                  <a:srgbClr val="002C7C"/>
                </a:solidFill>
                <a:latin typeface="Arial" pitchFamily="34" charset="0"/>
                <a:ea typeface="Arial" pitchFamily="34" charset="-122"/>
                <a:cs typeface="Arial" pitchFamily="34" charset="-120"/>
              </a:rPr>
              <a:t>2</a:t>
            </a:r>
            <a:endParaRPr lang="en-US" sz="2400" dirty="0"/>
          </a:p>
        </p:txBody>
      </p:sp>
      <p:sp>
        <p:nvSpPr>
          <p:cNvPr id="6" name="Text 3"/>
          <p:cNvSpPr/>
          <p:nvPr/>
        </p:nvSpPr>
        <p:spPr>
          <a:xfrm>
            <a:off x="1188720" y="310896"/>
            <a:ext cx="530352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S'orienter dans le domaine</a:t>
            </a:r>
            <a:endParaRPr lang="en-US" sz="2400" dirty="0"/>
          </a:p>
        </p:txBody>
      </p:sp>
      <p:sp>
        <p:nvSpPr>
          <p:cNvPr id="7" name="Shape 4"/>
          <p:cNvSpPr/>
          <p:nvPr/>
        </p:nvSpPr>
        <p:spPr>
          <a:xfrm>
            <a:off x="1216152" y="850392"/>
            <a:ext cx="1280160" cy="45720"/>
          </a:xfrm>
          <a:prstGeom prst="rect">
            <a:avLst/>
          </a:prstGeom>
          <a:solidFill>
            <a:srgbClr val="EEA901"/>
          </a:solidFill>
          <a:ln/>
        </p:spPr>
      </p:sp>
      <p:sp>
        <p:nvSpPr>
          <p:cNvPr id="8" name="Text 5"/>
          <p:cNvSpPr/>
          <p:nvPr/>
        </p:nvSpPr>
        <p:spPr>
          <a:xfrm>
            <a:off x="1188720" y="950976"/>
            <a:ext cx="5303520" cy="292608"/>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Orienting to the field</a:t>
            </a:r>
            <a:endParaRPr lang="en-US" sz="1250" dirty="0"/>
          </a:p>
        </p:txBody>
      </p:sp>
      <p:sp>
        <p:nvSpPr>
          <p:cNvPr id="9" name="Shape 6"/>
          <p:cNvSpPr/>
          <p:nvPr/>
        </p:nvSpPr>
        <p:spPr>
          <a:xfrm>
            <a:off x="6858000" y="420624"/>
            <a:ext cx="1828800" cy="420624"/>
          </a:xfrm>
          <a:prstGeom prst="roundRect">
            <a:avLst>
              <a:gd name="adj" fmla="val 17391"/>
            </a:avLst>
          </a:prstGeom>
          <a:solidFill>
            <a:srgbClr val="002C7C"/>
          </a:solidFill>
          <a:ln/>
        </p:spPr>
      </p:sp>
      <p:sp>
        <p:nvSpPr>
          <p:cNvPr id="10" name="Text 7"/>
          <p:cNvSpPr/>
          <p:nvPr/>
        </p:nvSpPr>
        <p:spPr>
          <a:xfrm>
            <a:off x="6858000" y="420624"/>
            <a:ext cx="182880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Claude Projects</a:t>
            </a:r>
            <a:endParaRPr lang="en-US" sz="1150" dirty="0"/>
          </a:p>
        </p:txBody>
      </p:sp>
      <p:sp>
        <p:nvSpPr>
          <p:cNvPr id="11" name="Text 8"/>
          <p:cNvSpPr/>
          <p:nvPr/>
        </p:nvSpPr>
        <p:spPr>
          <a:xfrm>
            <a:off x="5029200" y="877824"/>
            <a:ext cx="3657600" cy="237744"/>
          </a:xfrm>
          <a:prstGeom prst="rect">
            <a:avLst/>
          </a:prstGeom>
          <a:noFill/>
          <a:ln/>
        </p:spPr>
        <p:txBody>
          <a:bodyPr wrap="square" lIns="0" tIns="0" rIns="0" bIns="0" rtlCol="0" anchor="ctr"/>
          <a:lstStyle/>
          <a:p>
            <a:pPr algn="r" indent="0" marL="0">
              <a:buNone/>
            </a:pPr>
            <a:r>
              <a:rPr lang="en-US" sz="1050" i="1" dirty="0">
                <a:solidFill>
                  <a:srgbClr val="B07D08"/>
                </a:solidFill>
                <a:latin typeface="Arial" pitchFamily="34" charset="0"/>
                <a:ea typeface="Arial" pitchFamily="34" charset="-122"/>
                <a:cs typeface="Arial" pitchFamily="34" charset="-120"/>
              </a:rPr>
              <a:t>Yaoundé · version française</a:t>
            </a:r>
            <a:endParaRPr lang="en-US" sz="1050" dirty="0"/>
          </a:p>
        </p:txBody>
      </p:sp>
      <p:sp>
        <p:nvSpPr>
          <p:cNvPr id="12" name="Text 9"/>
          <p:cNvSpPr/>
          <p:nvPr/>
        </p:nvSpPr>
        <p:spPr>
          <a:xfrm>
            <a:off x="457200" y="1325880"/>
            <a:ext cx="8229600" cy="548640"/>
          </a:xfrm>
          <a:prstGeom prst="rect">
            <a:avLst/>
          </a:prstGeom>
          <a:noFill/>
          <a:ln/>
        </p:spPr>
        <p:txBody>
          <a:bodyPr wrap="square" lIns="0" tIns="0" rIns="0" bIns="0" rtlCol="0" anchor="ctr"/>
          <a:lstStyle/>
          <a:p>
            <a:pPr indent="0" marL="0">
              <a:lnSpc>
                <a:spcPct val="105000"/>
              </a:lnSpc>
              <a:buNone/>
            </a:pPr>
            <a:r>
              <a:rPr lang="en-US" sz="1300" b="1" dirty="0">
                <a:solidFill>
                  <a:srgbClr val="002C7C"/>
                </a:solidFill>
                <a:latin typeface="Arial" pitchFamily="34" charset="0"/>
                <a:ea typeface="Arial" pitchFamily="34" charset="-122"/>
                <a:cs typeface="Arial" pitchFamily="34" charset="-120"/>
              </a:rPr>
              <a:t>Constituer un vrai corpus de sources dans un seul Projet Claude, puis l'interroger.</a:t>
            </a:r>
            <a:endParaRPr lang="en-US" sz="1300" dirty="0"/>
          </a:p>
          <a:p>
            <a:pPr indent="0" marL="0">
              <a:lnSpc>
                <a:spcPct val="105000"/>
              </a:lnSpc>
              <a:buNone/>
            </a:pPr>
            <a:r>
              <a:rPr lang="en-US" sz="1100" i="1" dirty="0">
                <a:solidFill>
                  <a:srgbClr val="5B6675"/>
                </a:solidFill>
                <a:latin typeface="Arial" pitchFamily="34" charset="0"/>
                <a:ea typeface="Arial" pitchFamily="34" charset="-122"/>
                <a:cs typeface="Arial" pitchFamily="34" charset="-120"/>
              </a:rPr>
              <a:t>Build a real, organized source set inside one Claude Project — then interrogate it.</a:t>
            </a:r>
            <a:endParaRPr lang="en-US" sz="1300" dirty="0"/>
          </a:p>
        </p:txBody>
      </p:sp>
      <p:sp>
        <p:nvSpPr>
          <p:cNvPr id="13" name="Text 10"/>
          <p:cNvSpPr/>
          <p:nvPr/>
        </p:nvSpPr>
        <p:spPr>
          <a:xfrm>
            <a:off x="457200" y="1956816"/>
            <a:ext cx="8229600" cy="274320"/>
          </a:xfrm>
          <a:prstGeom prst="rect">
            <a:avLst/>
          </a:prstGeom>
          <a:noFill/>
          <a:ln/>
        </p:spPr>
        <p:txBody>
          <a:bodyPr wrap="square" lIns="0" tIns="0" rIns="0" bIns="0" rtlCol="0" anchor="ctr"/>
          <a:lstStyle/>
          <a:p>
            <a:pPr indent="0" marL="0">
              <a:buNone/>
            </a:pPr>
            <a:r>
              <a:rPr lang="en-US" sz="1050" i="1" dirty="0">
                <a:solidFill>
                  <a:srgbClr val="B07D08"/>
                </a:solidFill>
                <a:latin typeface="Arial" pitchFamily="34" charset="0"/>
                <a:ea typeface="Arial" pitchFamily="34" charset="-122"/>
                <a:cs typeface="Arial" pitchFamily="34" charset="-120"/>
              </a:rPr>
              <a:t>Exemple fil rouge — Brice (Yaoundé) :  « La prévision LSTM peut-elle réduire l'écart de fréquence après l'interconnexion RIS–RIN ? »</a:t>
            </a:r>
            <a:endParaRPr lang="en-US" sz="1050" dirty="0"/>
          </a:p>
        </p:txBody>
      </p:sp>
      <p:sp>
        <p:nvSpPr>
          <p:cNvPr id="14" name="Shape 11"/>
          <p:cNvSpPr/>
          <p:nvPr/>
        </p:nvSpPr>
        <p:spPr>
          <a:xfrm>
            <a:off x="1280160" y="3063240"/>
            <a:ext cx="6949440" cy="0"/>
          </a:xfrm>
          <a:prstGeom prst="line">
            <a:avLst/>
          </a:prstGeom>
          <a:noFill/>
          <a:ln w="19050">
            <a:solidFill>
              <a:srgbClr val="002C7C"/>
            </a:solidFill>
            <a:prstDash val="solid"/>
          </a:ln>
        </p:spPr>
      </p:sp>
      <p:sp>
        <p:nvSpPr>
          <p:cNvPr id="15" name="Shape 12"/>
          <p:cNvSpPr/>
          <p:nvPr/>
        </p:nvSpPr>
        <p:spPr>
          <a:xfrm>
            <a:off x="960120" y="2743200"/>
            <a:ext cx="640080" cy="64008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16" name="Text 13"/>
          <p:cNvSpPr/>
          <p:nvPr/>
        </p:nvSpPr>
        <p:spPr>
          <a:xfrm>
            <a:off x="960120" y="2743200"/>
            <a:ext cx="640080" cy="640080"/>
          </a:xfrm>
          <a:prstGeom prst="rect">
            <a:avLst/>
          </a:prstGeom>
          <a:noFill/>
          <a:ln/>
        </p:spPr>
        <p:txBody>
          <a:bodyPr wrap="square" lIns="0" tIns="0" rIns="0" bIns="0" rtlCol="0" anchor="ctr"/>
          <a:lstStyle/>
          <a:p>
            <a:pPr algn="ctr" indent="0" marL="0">
              <a:buNone/>
            </a:pPr>
            <a:r>
              <a:rPr lang="en-US" sz="2300" b="1" dirty="0">
                <a:solidFill>
                  <a:srgbClr val="002C7C"/>
                </a:solidFill>
                <a:latin typeface="Arial" pitchFamily="34" charset="0"/>
                <a:ea typeface="Arial" pitchFamily="34" charset="-122"/>
                <a:cs typeface="Arial" pitchFamily="34" charset="-120"/>
              </a:rPr>
              <a:t>1</a:t>
            </a:r>
            <a:endParaRPr lang="en-US" sz="2300" dirty="0"/>
          </a:p>
        </p:txBody>
      </p:sp>
      <p:sp>
        <p:nvSpPr>
          <p:cNvPr id="17" name="Text 14"/>
          <p:cNvSpPr/>
          <p:nvPr/>
        </p:nvSpPr>
        <p:spPr>
          <a:xfrm>
            <a:off x="411480" y="3456432"/>
            <a:ext cx="1737360" cy="256032"/>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Configurer</a:t>
            </a:r>
            <a:endParaRPr lang="en-US" sz="1200" dirty="0"/>
          </a:p>
        </p:txBody>
      </p:sp>
      <p:sp>
        <p:nvSpPr>
          <p:cNvPr id="18" name="Text 15"/>
          <p:cNvSpPr/>
          <p:nvPr/>
        </p:nvSpPr>
        <p:spPr>
          <a:xfrm>
            <a:off x="411480" y="3694176"/>
            <a:ext cx="1737360" cy="219456"/>
          </a:xfrm>
          <a:prstGeom prst="rect">
            <a:avLst/>
          </a:prstGeom>
          <a:noFill/>
          <a:ln/>
        </p:spPr>
        <p:txBody>
          <a:bodyPr wrap="square" lIns="0" tIns="0" rIns="0" bIns="0" rtlCol="0" anchor="ctr"/>
          <a:lstStyle/>
          <a:p>
            <a:pPr algn="ctr" indent="0" marL="0">
              <a:buNone/>
            </a:pPr>
            <a:r>
              <a:rPr lang="en-US" sz="900" i="1" dirty="0">
                <a:solidFill>
                  <a:srgbClr val="5B6675"/>
                </a:solidFill>
                <a:latin typeface="Arial" pitchFamily="34" charset="0"/>
                <a:ea typeface="Arial" pitchFamily="34" charset="-122"/>
                <a:cs typeface="Arial" pitchFamily="34" charset="-120"/>
              </a:rPr>
              <a:t>Set up</a:t>
            </a:r>
            <a:endParaRPr lang="en-US" sz="900" dirty="0"/>
          </a:p>
        </p:txBody>
      </p:sp>
      <p:sp>
        <p:nvSpPr>
          <p:cNvPr id="19" name="Shape 16"/>
          <p:cNvSpPr/>
          <p:nvPr/>
        </p:nvSpPr>
        <p:spPr>
          <a:xfrm>
            <a:off x="2697480" y="2743200"/>
            <a:ext cx="640080" cy="64008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20" name="Text 17"/>
          <p:cNvSpPr/>
          <p:nvPr/>
        </p:nvSpPr>
        <p:spPr>
          <a:xfrm>
            <a:off x="2697480" y="2743200"/>
            <a:ext cx="640080" cy="640080"/>
          </a:xfrm>
          <a:prstGeom prst="rect">
            <a:avLst/>
          </a:prstGeom>
          <a:noFill/>
          <a:ln/>
        </p:spPr>
        <p:txBody>
          <a:bodyPr wrap="square" lIns="0" tIns="0" rIns="0" bIns="0" rtlCol="0" anchor="ctr"/>
          <a:lstStyle/>
          <a:p>
            <a:pPr algn="ctr" indent="0" marL="0">
              <a:buNone/>
            </a:pPr>
            <a:r>
              <a:rPr lang="en-US" sz="2300" b="1" dirty="0">
                <a:solidFill>
                  <a:srgbClr val="002C7C"/>
                </a:solidFill>
                <a:latin typeface="Arial" pitchFamily="34" charset="0"/>
                <a:ea typeface="Arial" pitchFamily="34" charset="-122"/>
                <a:cs typeface="Arial" pitchFamily="34" charset="-120"/>
              </a:rPr>
              <a:t>2</a:t>
            </a:r>
            <a:endParaRPr lang="en-US" sz="2300" dirty="0"/>
          </a:p>
        </p:txBody>
      </p:sp>
      <p:sp>
        <p:nvSpPr>
          <p:cNvPr id="21" name="Text 18"/>
          <p:cNvSpPr/>
          <p:nvPr/>
        </p:nvSpPr>
        <p:spPr>
          <a:xfrm>
            <a:off x="2148840" y="3456432"/>
            <a:ext cx="1737360" cy="256032"/>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Cartographier</a:t>
            </a:r>
            <a:endParaRPr lang="en-US" sz="1200" dirty="0"/>
          </a:p>
        </p:txBody>
      </p:sp>
      <p:sp>
        <p:nvSpPr>
          <p:cNvPr id="22" name="Text 19"/>
          <p:cNvSpPr/>
          <p:nvPr/>
        </p:nvSpPr>
        <p:spPr>
          <a:xfrm>
            <a:off x="2148840" y="3694176"/>
            <a:ext cx="1737360" cy="219456"/>
          </a:xfrm>
          <a:prstGeom prst="rect">
            <a:avLst/>
          </a:prstGeom>
          <a:noFill/>
          <a:ln/>
        </p:spPr>
        <p:txBody>
          <a:bodyPr wrap="square" lIns="0" tIns="0" rIns="0" bIns="0" rtlCol="0" anchor="ctr"/>
          <a:lstStyle/>
          <a:p>
            <a:pPr algn="ctr" indent="0" marL="0">
              <a:buNone/>
            </a:pPr>
            <a:r>
              <a:rPr lang="en-US" sz="900" i="1" dirty="0">
                <a:solidFill>
                  <a:srgbClr val="5B6675"/>
                </a:solidFill>
                <a:latin typeface="Arial" pitchFamily="34" charset="0"/>
                <a:ea typeface="Arial" pitchFamily="34" charset="-122"/>
                <a:cs typeface="Arial" pitchFamily="34" charset="-120"/>
              </a:rPr>
              <a:t>Map terms</a:t>
            </a:r>
            <a:endParaRPr lang="en-US" sz="900" dirty="0"/>
          </a:p>
        </p:txBody>
      </p:sp>
      <p:sp>
        <p:nvSpPr>
          <p:cNvPr id="23" name="Shape 20"/>
          <p:cNvSpPr/>
          <p:nvPr/>
        </p:nvSpPr>
        <p:spPr>
          <a:xfrm>
            <a:off x="4434840" y="2743200"/>
            <a:ext cx="640080" cy="64008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24" name="Text 21"/>
          <p:cNvSpPr/>
          <p:nvPr/>
        </p:nvSpPr>
        <p:spPr>
          <a:xfrm>
            <a:off x="4434840" y="2743200"/>
            <a:ext cx="640080" cy="640080"/>
          </a:xfrm>
          <a:prstGeom prst="rect">
            <a:avLst/>
          </a:prstGeom>
          <a:noFill/>
          <a:ln/>
        </p:spPr>
        <p:txBody>
          <a:bodyPr wrap="square" lIns="0" tIns="0" rIns="0" bIns="0" rtlCol="0" anchor="ctr"/>
          <a:lstStyle/>
          <a:p>
            <a:pPr algn="ctr" indent="0" marL="0">
              <a:buNone/>
            </a:pPr>
            <a:r>
              <a:rPr lang="en-US" sz="2300" b="1" dirty="0">
                <a:solidFill>
                  <a:srgbClr val="002C7C"/>
                </a:solidFill>
                <a:latin typeface="Arial" pitchFamily="34" charset="0"/>
                <a:ea typeface="Arial" pitchFamily="34" charset="-122"/>
                <a:cs typeface="Arial" pitchFamily="34" charset="-120"/>
              </a:rPr>
              <a:t>3</a:t>
            </a:r>
            <a:endParaRPr lang="en-US" sz="2300" dirty="0"/>
          </a:p>
        </p:txBody>
      </p:sp>
      <p:sp>
        <p:nvSpPr>
          <p:cNvPr id="25" name="Text 22"/>
          <p:cNvSpPr/>
          <p:nvPr/>
        </p:nvSpPr>
        <p:spPr>
          <a:xfrm>
            <a:off x="3886200" y="3456432"/>
            <a:ext cx="1737360" cy="256032"/>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Rassembler</a:t>
            </a:r>
            <a:endParaRPr lang="en-US" sz="1200" dirty="0"/>
          </a:p>
        </p:txBody>
      </p:sp>
      <p:sp>
        <p:nvSpPr>
          <p:cNvPr id="26" name="Text 23"/>
          <p:cNvSpPr/>
          <p:nvPr/>
        </p:nvSpPr>
        <p:spPr>
          <a:xfrm>
            <a:off x="3886200" y="3694176"/>
            <a:ext cx="1737360" cy="219456"/>
          </a:xfrm>
          <a:prstGeom prst="rect">
            <a:avLst/>
          </a:prstGeom>
          <a:noFill/>
          <a:ln/>
        </p:spPr>
        <p:txBody>
          <a:bodyPr wrap="square" lIns="0" tIns="0" rIns="0" bIns="0" rtlCol="0" anchor="ctr"/>
          <a:lstStyle/>
          <a:p>
            <a:pPr algn="ctr" indent="0" marL="0">
              <a:buNone/>
            </a:pPr>
            <a:r>
              <a:rPr lang="en-US" sz="900" i="1" dirty="0">
                <a:solidFill>
                  <a:srgbClr val="5B6675"/>
                </a:solidFill>
                <a:latin typeface="Arial" pitchFamily="34" charset="0"/>
                <a:ea typeface="Arial" pitchFamily="34" charset="-122"/>
                <a:cs typeface="Arial" pitchFamily="34" charset="-120"/>
              </a:rPr>
              <a:t>Gather</a:t>
            </a:r>
            <a:endParaRPr lang="en-US" sz="900" dirty="0"/>
          </a:p>
        </p:txBody>
      </p:sp>
      <p:sp>
        <p:nvSpPr>
          <p:cNvPr id="27" name="Shape 24"/>
          <p:cNvSpPr/>
          <p:nvPr/>
        </p:nvSpPr>
        <p:spPr>
          <a:xfrm>
            <a:off x="6172200" y="2743200"/>
            <a:ext cx="640080" cy="64008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28" name="Text 25"/>
          <p:cNvSpPr/>
          <p:nvPr/>
        </p:nvSpPr>
        <p:spPr>
          <a:xfrm>
            <a:off x="6172200" y="2743200"/>
            <a:ext cx="640080" cy="640080"/>
          </a:xfrm>
          <a:prstGeom prst="rect">
            <a:avLst/>
          </a:prstGeom>
          <a:noFill/>
          <a:ln/>
        </p:spPr>
        <p:txBody>
          <a:bodyPr wrap="square" lIns="0" tIns="0" rIns="0" bIns="0" rtlCol="0" anchor="ctr"/>
          <a:lstStyle/>
          <a:p>
            <a:pPr algn="ctr" indent="0" marL="0">
              <a:buNone/>
            </a:pPr>
            <a:r>
              <a:rPr lang="en-US" sz="2300" b="1" dirty="0">
                <a:solidFill>
                  <a:srgbClr val="002C7C"/>
                </a:solidFill>
                <a:latin typeface="Arial" pitchFamily="34" charset="0"/>
                <a:ea typeface="Arial" pitchFamily="34" charset="-122"/>
                <a:cs typeface="Arial" pitchFamily="34" charset="-120"/>
              </a:rPr>
              <a:t>4</a:t>
            </a:r>
            <a:endParaRPr lang="en-US" sz="2300" dirty="0"/>
          </a:p>
        </p:txBody>
      </p:sp>
      <p:sp>
        <p:nvSpPr>
          <p:cNvPr id="29" name="Text 26"/>
          <p:cNvSpPr/>
          <p:nvPr/>
        </p:nvSpPr>
        <p:spPr>
          <a:xfrm>
            <a:off x="5623560" y="3456432"/>
            <a:ext cx="1737360" cy="256032"/>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Constituer</a:t>
            </a:r>
            <a:endParaRPr lang="en-US" sz="1200" dirty="0"/>
          </a:p>
        </p:txBody>
      </p:sp>
      <p:sp>
        <p:nvSpPr>
          <p:cNvPr id="30" name="Text 27"/>
          <p:cNvSpPr/>
          <p:nvPr/>
        </p:nvSpPr>
        <p:spPr>
          <a:xfrm>
            <a:off x="5623560" y="3694176"/>
            <a:ext cx="1737360" cy="219456"/>
          </a:xfrm>
          <a:prstGeom prst="rect">
            <a:avLst/>
          </a:prstGeom>
          <a:noFill/>
          <a:ln/>
        </p:spPr>
        <p:txBody>
          <a:bodyPr wrap="square" lIns="0" tIns="0" rIns="0" bIns="0" rtlCol="0" anchor="ctr"/>
          <a:lstStyle/>
          <a:p>
            <a:pPr algn="ctr" indent="0" marL="0">
              <a:buNone/>
            </a:pPr>
            <a:r>
              <a:rPr lang="en-US" sz="900" i="1" dirty="0">
                <a:solidFill>
                  <a:srgbClr val="5B6675"/>
                </a:solidFill>
                <a:latin typeface="Arial" pitchFamily="34" charset="0"/>
                <a:ea typeface="Arial" pitchFamily="34" charset="-122"/>
                <a:cs typeface="Arial" pitchFamily="34" charset="-120"/>
              </a:rPr>
              <a:t>Build set</a:t>
            </a:r>
            <a:endParaRPr lang="en-US" sz="900" dirty="0"/>
          </a:p>
        </p:txBody>
      </p:sp>
      <p:sp>
        <p:nvSpPr>
          <p:cNvPr id="31" name="Shape 28"/>
          <p:cNvSpPr/>
          <p:nvPr/>
        </p:nvSpPr>
        <p:spPr>
          <a:xfrm>
            <a:off x="7909560" y="2743200"/>
            <a:ext cx="640080" cy="64008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32" name="Text 29"/>
          <p:cNvSpPr/>
          <p:nvPr/>
        </p:nvSpPr>
        <p:spPr>
          <a:xfrm>
            <a:off x="7909560" y="2743200"/>
            <a:ext cx="640080" cy="640080"/>
          </a:xfrm>
          <a:prstGeom prst="rect">
            <a:avLst/>
          </a:prstGeom>
          <a:noFill/>
          <a:ln/>
        </p:spPr>
        <p:txBody>
          <a:bodyPr wrap="square" lIns="0" tIns="0" rIns="0" bIns="0" rtlCol="0" anchor="ctr"/>
          <a:lstStyle/>
          <a:p>
            <a:pPr algn="ctr" indent="0" marL="0">
              <a:buNone/>
            </a:pPr>
            <a:r>
              <a:rPr lang="en-US" sz="2300" b="1" dirty="0">
                <a:solidFill>
                  <a:srgbClr val="002C7C"/>
                </a:solidFill>
                <a:latin typeface="Arial" pitchFamily="34" charset="0"/>
                <a:ea typeface="Arial" pitchFamily="34" charset="-122"/>
                <a:cs typeface="Arial" pitchFamily="34" charset="-120"/>
              </a:rPr>
              <a:t>5</a:t>
            </a:r>
            <a:endParaRPr lang="en-US" sz="2300" dirty="0"/>
          </a:p>
        </p:txBody>
      </p:sp>
      <p:sp>
        <p:nvSpPr>
          <p:cNvPr id="33" name="Text 30"/>
          <p:cNvSpPr/>
          <p:nvPr/>
        </p:nvSpPr>
        <p:spPr>
          <a:xfrm>
            <a:off x="7360920" y="3456432"/>
            <a:ext cx="1737360" cy="256032"/>
          </a:xfrm>
          <a:prstGeom prst="rect">
            <a:avLst/>
          </a:prstGeom>
          <a:noFill/>
          <a:ln/>
        </p:spPr>
        <p:txBody>
          <a:bodyPr wrap="square" lIns="0" tIns="0" rIns="0" bIns="0" rtlCol="0" anchor="ctr"/>
          <a:lstStyle/>
          <a:p>
            <a:pPr algn="ctr" indent="0" marL="0">
              <a:buNone/>
            </a:pPr>
            <a:r>
              <a:rPr lang="en-US" sz="1200" b="1" dirty="0">
                <a:solidFill>
                  <a:srgbClr val="002C7C"/>
                </a:solidFill>
                <a:latin typeface="Arial" pitchFamily="34" charset="0"/>
                <a:ea typeface="Arial" pitchFamily="34" charset="-122"/>
                <a:cs typeface="Arial" pitchFamily="34" charset="-120"/>
              </a:rPr>
              <a:t>Interroger</a:t>
            </a:r>
            <a:endParaRPr lang="en-US" sz="1200" dirty="0"/>
          </a:p>
        </p:txBody>
      </p:sp>
      <p:sp>
        <p:nvSpPr>
          <p:cNvPr id="34" name="Text 31"/>
          <p:cNvSpPr/>
          <p:nvPr/>
        </p:nvSpPr>
        <p:spPr>
          <a:xfrm>
            <a:off x="7360920" y="3694176"/>
            <a:ext cx="1737360" cy="219456"/>
          </a:xfrm>
          <a:prstGeom prst="rect">
            <a:avLst/>
          </a:prstGeom>
          <a:noFill/>
          <a:ln/>
        </p:spPr>
        <p:txBody>
          <a:bodyPr wrap="square" lIns="0" tIns="0" rIns="0" bIns="0" rtlCol="0" anchor="ctr"/>
          <a:lstStyle/>
          <a:p>
            <a:pPr algn="ctr" indent="0" marL="0">
              <a:buNone/>
            </a:pPr>
            <a:r>
              <a:rPr lang="en-US" sz="900" i="1" dirty="0">
                <a:solidFill>
                  <a:srgbClr val="5B6675"/>
                </a:solidFill>
                <a:latin typeface="Arial" pitchFamily="34" charset="0"/>
                <a:ea typeface="Arial" pitchFamily="34" charset="-122"/>
                <a:cs typeface="Arial" pitchFamily="34" charset="-120"/>
              </a:rPr>
              <a:t>Interrogate</a:t>
            </a:r>
            <a:endParaRPr lang="en-US" sz="900" dirty="0"/>
          </a:p>
        </p:txBody>
      </p:sp>
      <p:sp>
        <p:nvSpPr>
          <p:cNvPr id="35" name="Text 32"/>
          <p:cNvSpPr/>
          <p:nvPr/>
        </p:nvSpPr>
        <p:spPr>
          <a:xfrm>
            <a:off x="457200" y="4224528"/>
            <a:ext cx="8229600" cy="274320"/>
          </a:xfrm>
          <a:prstGeom prst="rect">
            <a:avLst/>
          </a:prstGeom>
          <a:noFill/>
          <a:ln/>
        </p:spPr>
        <p:txBody>
          <a:bodyPr wrap="square" lIns="0" tIns="0" rIns="0" bIns="0" rtlCol="0" anchor="ctr"/>
          <a:lstStyle/>
          <a:p>
            <a:pPr algn="ctr" indent="0" marL="0">
              <a:buNone/>
            </a:pPr>
            <a:r>
              <a:rPr lang="en-US" sz="1100" b="1" dirty="0">
                <a:solidFill>
                  <a:srgbClr val="002C7C"/>
                </a:solidFill>
                <a:latin typeface="Arial" pitchFamily="34" charset="0"/>
                <a:ea typeface="Arial" pitchFamily="34" charset="-122"/>
                <a:cs typeface="Arial" pitchFamily="34" charset="-120"/>
              </a:rPr>
              <a:t>Cinq étapes, un seul Projet — les consignes suivent.  ·  Five moves, one Project.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pic>
        <p:nvPicPr>
          <p:cNvPr id="5" name="Image 1" descr="preencoded.png">    </p:cNvPr>
          <p:cNvPicPr>
            <a:picLocks noChangeAspect="1"/>
          </p:cNvPicPr>
          <p:nvPr/>
        </p:nvPicPr>
        <p:blipFill>
          <a:blip r:embed="rId3"/>
          <a:stretch>
            <a:fillRect/>
          </a:stretch>
        </p:blipFill>
        <p:spPr>
          <a:xfrm>
            <a:off x="610819" y="519379"/>
            <a:ext cx="241402" cy="241402"/>
          </a:xfrm>
          <a:prstGeom prst="rect">
            <a:avLst/>
          </a:prstGeom>
        </p:spPr>
      </p:pic>
      <p:sp>
        <p:nvSpPr>
          <p:cNvPr id="6" name="Text 2"/>
          <p:cNvSpPr/>
          <p:nvPr/>
        </p:nvSpPr>
        <p:spPr>
          <a:xfrm>
            <a:off x="1188720" y="292608"/>
            <a:ext cx="5669280" cy="457200"/>
          </a:xfrm>
          <a:prstGeom prst="rect">
            <a:avLst/>
          </a:prstGeom>
          <a:noFill/>
          <a:ln/>
        </p:spPr>
        <p:txBody>
          <a:bodyPr wrap="square" lIns="0" tIns="0" rIns="0" bIns="0" rtlCol="0" anchor="ctr"/>
          <a:lstStyle/>
          <a:p>
            <a:pPr indent="0" marL="0">
              <a:buNone/>
            </a:pPr>
            <a:r>
              <a:rPr lang="en-US" sz="2200" b="1" dirty="0">
                <a:solidFill>
                  <a:srgbClr val="002C7C"/>
                </a:solidFill>
                <a:latin typeface="Arial" pitchFamily="34" charset="0"/>
                <a:ea typeface="Arial" pitchFamily="34" charset="-122"/>
                <a:cs typeface="Arial" pitchFamily="34" charset="-120"/>
              </a:rPr>
              <a:t>S'orienter dans le domaine</a:t>
            </a:r>
            <a:endParaRPr lang="en-US" sz="2200" dirty="0"/>
          </a:p>
        </p:txBody>
      </p:sp>
      <p:sp>
        <p:nvSpPr>
          <p:cNvPr id="7" name="Shape 3"/>
          <p:cNvSpPr/>
          <p:nvPr/>
        </p:nvSpPr>
        <p:spPr>
          <a:xfrm>
            <a:off x="1216152" y="841248"/>
            <a:ext cx="1280160" cy="45720"/>
          </a:xfrm>
          <a:prstGeom prst="rect">
            <a:avLst/>
          </a:prstGeom>
          <a:solidFill>
            <a:srgbClr val="EEA901"/>
          </a:solidFill>
          <a:ln/>
        </p:spPr>
      </p:sp>
      <p:sp>
        <p:nvSpPr>
          <p:cNvPr id="8" name="Text 4"/>
          <p:cNvSpPr/>
          <p:nvPr/>
        </p:nvSpPr>
        <p:spPr>
          <a:xfrm>
            <a:off x="1188720" y="914400"/>
            <a:ext cx="5669280" cy="274320"/>
          </a:xfrm>
          <a:prstGeom prst="rect">
            <a:avLst/>
          </a:prstGeom>
          <a:noFill/>
          <a:ln/>
        </p:spPr>
        <p:txBody>
          <a:bodyPr wrap="square" lIns="0" tIns="0" rIns="0" bIns="0" rtlCol="0" anchor="ctr"/>
          <a:lstStyle/>
          <a:p>
            <a:pPr indent="0" marL="0">
              <a:buNone/>
            </a:pPr>
            <a:r>
              <a:rPr lang="en-US" sz="1200" i="1" dirty="0">
                <a:solidFill>
                  <a:srgbClr val="5B6675"/>
                </a:solidFill>
                <a:latin typeface="Arial" pitchFamily="34" charset="0"/>
                <a:ea typeface="Arial" pitchFamily="34" charset="-122"/>
                <a:cs typeface="Arial" pitchFamily="34" charset="-120"/>
              </a:rPr>
              <a:t>Orienting to the field — the roadmap</a:t>
            </a:r>
            <a:endParaRPr lang="en-US" sz="1200" dirty="0"/>
          </a:p>
        </p:txBody>
      </p:sp>
      <p:sp>
        <p:nvSpPr>
          <p:cNvPr id="9" name="Shape 5"/>
          <p:cNvSpPr/>
          <p:nvPr/>
        </p:nvSpPr>
        <p:spPr>
          <a:xfrm>
            <a:off x="6858000" y="384048"/>
            <a:ext cx="1828800" cy="384048"/>
          </a:xfrm>
          <a:prstGeom prst="roundRect">
            <a:avLst>
              <a:gd name="adj" fmla="val 19048"/>
            </a:avLst>
          </a:prstGeom>
          <a:solidFill>
            <a:srgbClr val="002C7C"/>
          </a:solidFill>
          <a:ln/>
        </p:spPr>
      </p:sp>
      <p:sp>
        <p:nvSpPr>
          <p:cNvPr id="10" name="Text 6"/>
          <p:cNvSpPr/>
          <p:nvPr/>
        </p:nvSpPr>
        <p:spPr>
          <a:xfrm>
            <a:off x="6858000" y="384048"/>
            <a:ext cx="1828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Claude Projects</a:t>
            </a:r>
            <a:endParaRPr lang="en-US" sz="1100" dirty="0"/>
          </a:p>
        </p:txBody>
      </p:sp>
      <p:sp>
        <p:nvSpPr>
          <p:cNvPr id="11" name="Text 7"/>
          <p:cNvSpPr/>
          <p:nvPr/>
        </p:nvSpPr>
        <p:spPr>
          <a:xfrm>
            <a:off x="5029200" y="877824"/>
            <a:ext cx="3657600" cy="237744"/>
          </a:xfrm>
          <a:prstGeom prst="rect">
            <a:avLst/>
          </a:prstGeom>
          <a:noFill/>
          <a:ln/>
        </p:spPr>
        <p:txBody>
          <a:bodyPr wrap="square" lIns="0" tIns="0" rIns="0" bIns="0" rtlCol="0" anchor="ctr"/>
          <a:lstStyle/>
          <a:p>
            <a:pPr algn="r" indent="0" marL="0">
              <a:buNone/>
            </a:pPr>
            <a:r>
              <a:rPr lang="en-US" sz="1050" i="1" dirty="0">
                <a:solidFill>
                  <a:srgbClr val="B07D08"/>
                </a:solidFill>
                <a:latin typeface="Arial" pitchFamily="34" charset="0"/>
                <a:ea typeface="Arial" pitchFamily="34" charset="-122"/>
                <a:cs typeface="Arial" pitchFamily="34" charset="-120"/>
              </a:rPr>
              <a:t>Yaoundé · Étapes 1–2 / 5</a:t>
            </a:r>
            <a:endParaRPr lang="en-US" sz="1050" dirty="0"/>
          </a:p>
        </p:txBody>
      </p:sp>
      <p:sp>
        <p:nvSpPr>
          <p:cNvPr id="12" name="Shape 8"/>
          <p:cNvSpPr/>
          <p:nvPr/>
        </p:nvSpPr>
        <p:spPr>
          <a:xfrm>
            <a:off x="457200" y="1417320"/>
            <a:ext cx="457200" cy="457200"/>
          </a:xfrm>
          <a:prstGeom prst="ellipse">
            <a:avLst/>
          </a:prstGeom>
          <a:solidFill>
            <a:srgbClr val="002C7C"/>
          </a:solidFill>
          <a:ln/>
        </p:spPr>
      </p:sp>
      <p:sp>
        <p:nvSpPr>
          <p:cNvPr id="13" name="Text 9"/>
          <p:cNvSpPr/>
          <p:nvPr/>
        </p:nvSpPr>
        <p:spPr>
          <a:xfrm>
            <a:off x="457200" y="14173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4" name="Text 10"/>
          <p:cNvSpPr/>
          <p:nvPr/>
        </p:nvSpPr>
        <p:spPr>
          <a:xfrm>
            <a:off x="1042416" y="1399032"/>
            <a:ext cx="3346704" cy="457200"/>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Configurer le Projet</a:t>
            </a:r>
            <a:endParaRPr lang="en-US" sz="1500" dirty="0"/>
          </a:p>
        </p:txBody>
      </p:sp>
      <p:sp>
        <p:nvSpPr>
          <p:cNvPr id="15" name="Text 11"/>
          <p:cNvSpPr/>
          <p:nvPr/>
        </p:nvSpPr>
        <p:spPr>
          <a:xfrm>
            <a:off x="1042416" y="1874520"/>
            <a:ext cx="3346704" cy="256032"/>
          </a:xfrm>
          <a:prstGeom prst="rect">
            <a:avLst/>
          </a:prstGeom>
          <a:noFill/>
          <a:ln/>
        </p:spPr>
        <p:txBody>
          <a:bodyPr wrap="square" lIns="0" tIns="0" rIns="0" bIns="0" rtlCol="0" anchor="ctr"/>
          <a:lstStyle/>
          <a:p>
            <a:pPr indent="0" marL="0">
              <a:buNone/>
            </a:pPr>
            <a:r>
              <a:rPr lang="en-US" sz="1000" i="1" dirty="0">
                <a:solidFill>
                  <a:srgbClr val="5B6675"/>
                </a:solidFill>
                <a:latin typeface="Arial" pitchFamily="34" charset="0"/>
                <a:ea typeface="Arial" pitchFamily="34" charset="-122"/>
                <a:cs typeface="Arial" pitchFamily="34" charset="-120"/>
              </a:rPr>
              <a:t>Set up the Project</a:t>
            </a:r>
            <a:endParaRPr lang="en-US" sz="1000" dirty="0"/>
          </a:p>
        </p:txBody>
      </p:sp>
      <p:sp>
        <p:nvSpPr>
          <p:cNvPr id="16" name="Text 12"/>
          <p:cNvSpPr/>
          <p:nvPr/>
        </p:nvSpPr>
        <p:spPr>
          <a:xfrm>
            <a:off x="457200" y="2249424"/>
            <a:ext cx="3931920" cy="777240"/>
          </a:xfrm>
          <a:prstGeom prst="rect">
            <a:avLst/>
          </a:prstGeom>
          <a:noFill/>
          <a:ln/>
        </p:spPr>
        <p:txBody>
          <a:bodyPr wrap="square" lIns="0" tIns="0" rIns="0" bIns="0" rtlCol="0" anchor="t"/>
          <a:lstStyle/>
          <a:p>
            <a:pPr indent="0" marL="0">
              <a:lnSpc>
                <a:spcPct val="108000"/>
              </a:lnSpc>
              <a:buNone/>
            </a:pPr>
            <a:r>
              <a:rPr lang="en-US" sz="1100" dirty="0">
                <a:solidFill>
                  <a:srgbClr val="1F2733"/>
                </a:solidFill>
                <a:latin typeface="Arial" pitchFamily="34" charset="0"/>
                <a:ea typeface="Arial" pitchFamily="34" charset="-122"/>
                <a:cs typeface="Arial" pitchFamily="34" charset="-120"/>
              </a:rPr>
              <a:t>Créez un seul Projet pour la thèse. Mettez la question et un court contexte dans les consignes — et dites à Claude comment se comporter.</a:t>
            </a:r>
            <a:endParaRPr lang="en-US" sz="1100" dirty="0"/>
          </a:p>
        </p:txBody>
      </p:sp>
      <p:sp>
        <p:nvSpPr>
          <p:cNvPr id="17" name="Shape 13"/>
          <p:cNvSpPr/>
          <p:nvPr/>
        </p:nvSpPr>
        <p:spPr>
          <a:xfrm>
            <a:off x="457200" y="3108960"/>
            <a:ext cx="3931920" cy="1371600"/>
          </a:xfrm>
          <a:prstGeom prst="roundRect">
            <a:avLst>
              <a:gd name="adj" fmla="val 6000"/>
            </a:avLst>
          </a:prstGeom>
          <a:solidFill>
            <a:srgbClr val="EAF0FA"/>
          </a:solidFill>
          <a:ln/>
          <a:effectLst>
            <a:outerShdw sx="100000" sy="100000" kx="0" ky="0" algn="bl" rotWithShape="0" blurRad="88900" dist="38100" dir="5400000">
              <a:srgbClr val="10213F">
                <a:alpha val="15000"/>
              </a:srgbClr>
            </a:outerShdw>
          </a:effectLst>
        </p:spPr>
      </p:sp>
      <p:sp>
        <p:nvSpPr>
          <p:cNvPr id="18" name="Text 14"/>
          <p:cNvSpPr/>
          <p:nvPr/>
        </p:nvSpPr>
        <p:spPr>
          <a:xfrm>
            <a:off x="640080" y="3200400"/>
            <a:ext cx="3566160" cy="237744"/>
          </a:xfrm>
          <a:prstGeom prst="rect">
            <a:avLst/>
          </a:prstGeom>
          <a:noFill/>
          <a:ln/>
        </p:spPr>
        <p:txBody>
          <a:bodyPr wrap="square" lIns="0" tIns="0" rIns="0" bIns="0" rtlCol="0" anchor="ctr"/>
          <a:lstStyle/>
          <a:p>
            <a:pPr indent="0" marL="0">
              <a:buNone/>
            </a:pPr>
            <a:r>
              <a:rPr lang="en-US" sz="900" b="1" spc="100" kern="0" dirty="0">
                <a:solidFill>
                  <a:srgbClr val="002C7C"/>
                </a:solidFill>
                <a:latin typeface="Arial" pitchFamily="34" charset="0"/>
                <a:ea typeface="Arial" pitchFamily="34" charset="-122"/>
                <a:cs typeface="Arial" pitchFamily="34" charset="-120"/>
              </a:rPr>
              <a:t>CONSIGNES DU PROJET · PROJECT INSTRUCTIONS</a:t>
            </a:r>
            <a:endParaRPr lang="en-US" sz="900" dirty="0"/>
          </a:p>
        </p:txBody>
      </p:sp>
      <p:sp>
        <p:nvSpPr>
          <p:cNvPr id="19" name="Text 15"/>
          <p:cNvSpPr/>
          <p:nvPr/>
        </p:nvSpPr>
        <p:spPr>
          <a:xfrm>
            <a:off x="640080" y="3456432"/>
            <a:ext cx="3566160" cy="932688"/>
          </a:xfrm>
          <a:prstGeom prst="rect">
            <a:avLst/>
          </a:prstGeom>
          <a:noFill/>
          <a:ln/>
        </p:spPr>
        <p:txBody>
          <a:bodyPr wrap="square" lIns="0" tIns="0" rIns="0" bIns="0" rtlCol="0" anchor="t"/>
          <a:lstStyle/>
          <a:p>
            <a:pPr indent="0" marL="0">
              <a:lnSpc>
                <a:spcPct val="106000"/>
              </a:lnSpc>
              <a:buNone/>
            </a:pPr>
            <a:r>
              <a:rPr lang="en-US" sz="1050" i="1" dirty="0">
                <a:solidFill>
                  <a:srgbClr val="1F2733"/>
                </a:solidFill>
                <a:latin typeface="Arial" pitchFamily="34" charset="0"/>
                <a:ea typeface="Arial" pitchFamily="34" charset="-122"/>
                <a:cs typeface="Arial" pitchFamily="34" charset="-120"/>
              </a:rPr>
              <a:t>« Ce projet porte sur ma thèse : [question]. Sois mon partenaire de lecture critique. Utilise seulement les sources que je téléverse — n'invente jamais de références. »</a:t>
            </a:r>
            <a:endParaRPr lang="en-US" sz="1050" dirty="0"/>
          </a:p>
        </p:txBody>
      </p:sp>
      <p:sp>
        <p:nvSpPr>
          <p:cNvPr id="20" name="Shape 16"/>
          <p:cNvSpPr/>
          <p:nvPr/>
        </p:nvSpPr>
        <p:spPr>
          <a:xfrm>
            <a:off x="4754880" y="1417320"/>
            <a:ext cx="457200" cy="457200"/>
          </a:xfrm>
          <a:prstGeom prst="ellipse">
            <a:avLst/>
          </a:prstGeom>
          <a:solidFill>
            <a:srgbClr val="002C7C"/>
          </a:solidFill>
          <a:ln/>
        </p:spPr>
      </p:sp>
      <p:sp>
        <p:nvSpPr>
          <p:cNvPr id="21" name="Text 17"/>
          <p:cNvSpPr/>
          <p:nvPr/>
        </p:nvSpPr>
        <p:spPr>
          <a:xfrm>
            <a:off x="4754880" y="14173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2" name="Text 18"/>
          <p:cNvSpPr/>
          <p:nvPr/>
        </p:nvSpPr>
        <p:spPr>
          <a:xfrm>
            <a:off x="5340096" y="1399032"/>
            <a:ext cx="3346704" cy="457200"/>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Cartographier les termes</a:t>
            </a:r>
            <a:endParaRPr lang="en-US" sz="1500" dirty="0"/>
          </a:p>
        </p:txBody>
      </p:sp>
      <p:sp>
        <p:nvSpPr>
          <p:cNvPr id="23" name="Text 19"/>
          <p:cNvSpPr/>
          <p:nvPr/>
        </p:nvSpPr>
        <p:spPr>
          <a:xfrm>
            <a:off x="5340096" y="1874520"/>
            <a:ext cx="3346704" cy="256032"/>
          </a:xfrm>
          <a:prstGeom prst="rect">
            <a:avLst/>
          </a:prstGeom>
          <a:noFill/>
          <a:ln/>
        </p:spPr>
        <p:txBody>
          <a:bodyPr wrap="square" lIns="0" tIns="0" rIns="0" bIns="0" rtlCol="0" anchor="ctr"/>
          <a:lstStyle/>
          <a:p>
            <a:pPr indent="0" marL="0">
              <a:buNone/>
            </a:pPr>
            <a:r>
              <a:rPr lang="en-US" sz="1000" i="1" dirty="0">
                <a:solidFill>
                  <a:srgbClr val="5B6675"/>
                </a:solidFill>
                <a:latin typeface="Arial" pitchFamily="34" charset="0"/>
                <a:ea typeface="Arial" pitchFamily="34" charset="-122"/>
                <a:cs typeface="Arial" pitchFamily="34" charset="-120"/>
              </a:rPr>
              <a:t>Map → search terms</a:t>
            </a:r>
            <a:endParaRPr lang="en-US" sz="1000" dirty="0"/>
          </a:p>
        </p:txBody>
      </p:sp>
      <p:sp>
        <p:nvSpPr>
          <p:cNvPr id="24" name="Text 20"/>
          <p:cNvSpPr/>
          <p:nvPr/>
        </p:nvSpPr>
        <p:spPr>
          <a:xfrm>
            <a:off x="4754880" y="2249424"/>
            <a:ext cx="3931920" cy="777240"/>
          </a:xfrm>
          <a:prstGeom prst="rect">
            <a:avLst/>
          </a:prstGeom>
          <a:noFill/>
          <a:ln/>
        </p:spPr>
        <p:txBody>
          <a:bodyPr wrap="square" lIns="0" tIns="0" rIns="0" bIns="0" rtlCol="0" anchor="t"/>
          <a:lstStyle/>
          <a:p>
            <a:pPr indent="0" marL="0">
              <a:lnSpc>
                <a:spcPct val="108000"/>
              </a:lnSpc>
              <a:buNone/>
            </a:pPr>
            <a:r>
              <a:rPr lang="en-US" sz="1100" dirty="0">
                <a:solidFill>
                  <a:srgbClr val="1F2733"/>
                </a:solidFill>
                <a:latin typeface="Arial" pitchFamily="34" charset="0"/>
                <a:ea typeface="Arial" pitchFamily="34" charset="-122"/>
                <a:cs typeface="Arial" pitchFamily="34" charset="-120"/>
              </a:rPr>
              <a:t>Demandez à Claude de décomposer la question en concepts et synonymes, des requêtes prêtes à coller, et les revues à consulter.</a:t>
            </a:r>
            <a:endParaRPr lang="en-US" sz="1100" dirty="0"/>
          </a:p>
        </p:txBody>
      </p:sp>
      <p:sp>
        <p:nvSpPr>
          <p:cNvPr id="25" name="Shape 21"/>
          <p:cNvSpPr/>
          <p:nvPr/>
        </p:nvSpPr>
        <p:spPr>
          <a:xfrm>
            <a:off x="4754880" y="3108960"/>
            <a:ext cx="3931920" cy="1371600"/>
          </a:xfrm>
          <a:prstGeom prst="roundRect">
            <a:avLst>
              <a:gd name="adj" fmla="val 6000"/>
            </a:avLst>
          </a:prstGeom>
          <a:solidFill>
            <a:srgbClr val="FCF3D8"/>
          </a:solidFill>
          <a:ln/>
          <a:effectLst>
            <a:outerShdw sx="100000" sy="100000" kx="0" ky="0" algn="bl" rotWithShape="0" blurRad="88900" dist="38100" dir="5400000">
              <a:srgbClr val="10213F">
                <a:alpha val="15000"/>
              </a:srgbClr>
            </a:outerShdw>
          </a:effectLst>
        </p:spPr>
      </p:sp>
      <p:sp>
        <p:nvSpPr>
          <p:cNvPr id="26" name="Text 22"/>
          <p:cNvSpPr/>
          <p:nvPr/>
        </p:nvSpPr>
        <p:spPr>
          <a:xfrm>
            <a:off x="4937760" y="3200400"/>
            <a:ext cx="3566160" cy="237744"/>
          </a:xfrm>
          <a:prstGeom prst="rect">
            <a:avLst/>
          </a:prstGeom>
          <a:noFill/>
          <a:ln/>
        </p:spPr>
        <p:txBody>
          <a:bodyPr wrap="square" lIns="0" tIns="0" rIns="0" bIns="0" rtlCol="0" anchor="ctr"/>
          <a:lstStyle/>
          <a:p>
            <a:pPr indent="0" marL="0">
              <a:buNone/>
            </a:pPr>
            <a:r>
              <a:rPr lang="en-US" sz="900" b="1" spc="100" kern="0" dirty="0">
                <a:solidFill>
                  <a:srgbClr val="B07D08"/>
                </a:solidFill>
                <a:latin typeface="Arial" pitchFamily="34" charset="0"/>
                <a:ea typeface="Arial" pitchFamily="34" charset="-122"/>
                <a:cs typeface="Arial" pitchFamily="34" charset="-120"/>
              </a:rPr>
              <a:t>CONSIGNE À ESSAYER · TRY THIS PROMPT</a:t>
            </a:r>
            <a:endParaRPr lang="en-US" sz="900" dirty="0"/>
          </a:p>
        </p:txBody>
      </p:sp>
      <p:sp>
        <p:nvSpPr>
          <p:cNvPr id="27" name="Text 23"/>
          <p:cNvSpPr/>
          <p:nvPr/>
        </p:nvSpPr>
        <p:spPr>
          <a:xfrm>
            <a:off x="4937760" y="3456432"/>
            <a:ext cx="3566160" cy="932688"/>
          </a:xfrm>
          <a:prstGeom prst="rect">
            <a:avLst/>
          </a:prstGeom>
          <a:noFill/>
          <a:ln/>
        </p:spPr>
        <p:txBody>
          <a:bodyPr wrap="square" lIns="0" tIns="0" rIns="0" bIns="0" rtlCol="0" anchor="t"/>
          <a:lstStyle/>
          <a:p>
            <a:pPr indent="0" marL="0">
              <a:lnSpc>
                <a:spcPct val="106000"/>
              </a:lnSpc>
              <a:buNone/>
            </a:pPr>
            <a:r>
              <a:rPr lang="en-US" sz="1050" i="1" dirty="0">
                <a:solidFill>
                  <a:srgbClr val="1F2733"/>
                </a:solidFill>
                <a:latin typeface="Arial" pitchFamily="34" charset="0"/>
                <a:ea typeface="Arial" pitchFamily="34" charset="-122"/>
                <a:cs typeface="Arial" pitchFamily="34" charset="-120"/>
              </a:rPr>
              <a:t>« Décompose ma question en concepts clés. Donne-moi des synonymes et 5 requêtes pour IEEE Xplore et Google Scholar, et les revues où paraît ce travail. »</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pic>
        <p:nvPicPr>
          <p:cNvPr id="5" name="Image 1" descr="preencoded.png">    </p:cNvPr>
          <p:cNvPicPr>
            <a:picLocks noChangeAspect="1"/>
          </p:cNvPicPr>
          <p:nvPr/>
        </p:nvPicPr>
        <p:blipFill>
          <a:blip r:embed="rId3"/>
          <a:stretch>
            <a:fillRect/>
          </a:stretch>
        </p:blipFill>
        <p:spPr>
          <a:xfrm>
            <a:off x="610819" y="519379"/>
            <a:ext cx="241402" cy="241402"/>
          </a:xfrm>
          <a:prstGeom prst="rect">
            <a:avLst/>
          </a:prstGeom>
        </p:spPr>
      </p:pic>
      <p:sp>
        <p:nvSpPr>
          <p:cNvPr id="6" name="Text 2"/>
          <p:cNvSpPr/>
          <p:nvPr/>
        </p:nvSpPr>
        <p:spPr>
          <a:xfrm>
            <a:off x="1188720" y="292608"/>
            <a:ext cx="5669280" cy="457200"/>
          </a:xfrm>
          <a:prstGeom prst="rect">
            <a:avLst/>
          </a:prstGeom>
          <a:noFill/>
          <a:ln/>
        </p:spPr>
        <p:txBody>
          <a:bodyPr wrap="square" lIns="0" tIns="0" rIns="0" bIns="0" rtlCol="0" anchor="ctr"/>
          <a:lstStyle/>
          <a:p>
            <a:pPr indent="0" marL="0">
              <a:buNone/>
            </a:pPr>
            <a:r>
              <a:rPr lang="en-US" sz="2200" b="1" dirty="0">
                <a:solidFill>
                  <a:srgbClr val="002C7C"/>
                </a:solidFill>
                <a:latin typeface="Arial" pitchFamily="34" charset="0"/>
                <a:ea typeface="Arial" pitchFamily="34" charset="-122"/>
                <a:cs typeface="Arial" pitchFamily="34" charset="-120"/>
              </a:rPr>
              <a:t>S'orienter dans le domaine</a:t>
            </a:r>
            <a:endParaRPr lang="en-US" sz="2200" dirty="0"/>
          </a:p>
        </p:txBody>
      </p:sp>
      <p:sp>
        <p:nvSpPr>
          <p:cNvPr id="7" name="Shape 3"/>
          <p:cNvSpPr/>
          <p:nvPr/>
        </p:nvSpPr>
        <p:spPr>
          <a:xfrm>
            <a:off x="1216152" y="841248"/>
            <a:ext cx="1280160" cy="45720"/>
          </a:xfrm>
          <a:prstGeom prst="rect">
            <a:avLst/>
          </a:prstGeom>
          <a:solidFill>
            <a:srgbClr val="EEA901"/>
          </a:solidFill>
          <a:ln/>
        </p:spPr>
      </p:sp>
      <p:sp>
        <p:nvSpPr>
          <p:cNvPr id="8" name="Text 4"/>
          <p:cNvSpPr/>
          <p:nvPr/>
        </p:nvSpPr>
        <p:spPr>
          <a:xfrm>
            <a:off x="1188720" y="914400"/>
            <a:ext cx="5669280" cy="274320"/>
          </a:xfrm>
          <a:prstGeom prst="rect">
            <a:avLst/>
          </a:prstGeom>
          <a:noFill/>
          <a:ln/>
        </p:spPr>
        <p:txBody>
          <a:bodyPr wrap="square" lIns="0" tIns="0" rIns="0" bIns="0" rtlCol="0" anchor="ctr"/>
          <a:lstStyle/>
          <a:p>
            <a:pPr indent="0" marL="0">
              <a:buNone/>
            </a:pPr>
            <a:r>
              <a:rPr lang="en-US" sz="1200" i="1" dirty="0">
                <a:solidFill>
                  <a:srgbClr val="5B6675"/>
                </a:solidFill>
                <a:latin typeface="Arial" pitchFamily="34" charset="0"/>
                <a:ea typeface="Arial" pitchFamily="34" charset="-122"/>
                <a:cs typeface="Arial" pitchFamily="34" charset="-120"/>
              </a:rPr>
              <a:t>Orienting to the field — the roadmap</a:t>
            </a:r>
            <a:endParaRPr lang="en-US" sz="1200" dirty="0"/>
          </a:p>
        </p:txBody>
      </p:sp>
      <p:sp>
        <p:nvSpPr>
          <p:cNvPr id="9" name="Shape 5"/>
          <p:cNvSpPr/>
          <p:nvPr/>
        </p:nvSpPr>
        <p:spPr>
          <a:xfrm>
            <a:off x="6858000" y="384048"/>
            <a:ext cx="1828800" cy="384048"/>
          </a:xfrm>
          <a:prstGeom prst="roundRect">
            <a:avLst>
              <a:gd name="adj" fmla="val 19048"/>
            </a:avLst>
          </a:prstGeom>
          <a:solidFill>
            <a:srgbClr val="002C7C"/>
          </a:solidFill>
          <a:ln/>
        </p:spPr>
      </p:sp>
      <p:sp>
        <p:nvSpPr>
          <p:cNvPr id="10" name="Text 6"/>
          <p:cNvSpPr/>
          <p:nvPr/>
        </p:nvSpPr>
        <p:spPr>
          <a:xfrm>
            <a:off x="6858000" y="384048"/>
            <a:ext cx="1828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Claude Projects</a:t>
            </a:r>
            <a:endParaRPr lang="en-US" sz="1100" dirty="0"/>
          </a:p>
        </p:txBody>
      </p:sp>
      <p:sp>
        <p:nvSpPr>
          <p:cNvPr id="11" name="Text 7"/>
          <p:cNvSpPr/>
          <p:nvPr/>
        </p:nvSpPr>
        <p:spPr>
          <a:xfrm>
            <a:off x="5029200" y="877824"/>
            <a:ext cx="3657600" cy="237744"/>
          </a:xfrm>
          <a:prstGeom prst="rect">
            <a:avLst/>
          </a:prstGeom>
          <a:noFill/>
          <a:ln/>
        </p:spPr>
        <p:txBody>
          <a:bodyPr wrap="square" lIns="0" tIns="0" rIns="0" bIns="0" rtlCol="0" anchor="ctr"/>
          <a:lstStyle/>
          <a:p>
            <a:pPr algn="r" indent="0" marL="0">
              <a:buNone/>
            </a:pPr>
            <a:r>
              <a:rPr lang="en-US" sz="1050" i="1" dirty="0">
                <a:solidFill>
                  <a:srgbClr val="B07D08"/>
                </a:solidFill>
                <a:latin typeface="Arial" pitchFamily="34" charset="0"/>
                <a:ea typeface="Arial" pitchFamily="34" charset="-122"/>
                <a:cs typeface="Arial" pitchFamily="34" charset="-120"/>
              </a:rPr>
              <a:t>Yaoundé · Étapes 3–4 / 5</a:t>
            </a:r>
            <a:endParaRPr lang="en-US" sz="1050" dirty="0"/>
          </a:p>
        </p:txBody>
      </p:sp>
      <p:sp>
        <p:nvSpPr>
          <p:cNvPr id="12" name="Shape 8"/>
          <p:cNvSpPr/>
          <p:nvPr/>
        </p:nvSpPr>
        <p:spPr>
          <a:xfrm>
            <a:off x="457200" y="1417320"/>
            <a:ext cx="457200" cy="457200"/>
          </a:xfrm>
          <a:prstGeom prst="ellipse">
            <a:avLst/>
          </a:prstGeom>
          <a:solidFill>
            <a:srgbClr val="002C7C"/>
          </a:solidFill>
          <a:ln/>
        </p:spPr>
      </p:sp>
      <p:sp>
        <p:nvSpPr>
          <p:cNvPr id="13" name="Text 9"/>
          <p:cNvSpPr/>
          <p:nvPr/>
        </p:nvSpPr>
        <p:spPr>
          <a:xfrm>
            <a:off x="457200" y="14173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4" name="Text 10"/>
          <p:cNvSpPr/>
          <p:nvPr/>
        </p:nvSpPr>
        <p:spPr>
          <a:xfrm>
            <a:off x="1042416" y="1399032"/>
            <a:ext cx="3346704" cy="457200"/>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Rassembler les sources</a:t>
            </a:r>
            <a:endParaRPr lang="en-US" sz="1500" dirty="0"/>
          </a:p>
        </p:txBody>
      </p:sp>
      <p:sp>
        <p:nvSpPr>
          <p:cNvPr id="15" name="Text 11"/>
          <p:cNvSpPr/>
          <p:nvPr/>
        </p:nvSpPr>
        <p:spPr>
          <a:xfrm>
            <a:off x="1042416" y="1874520"/>
            <a:ext cx="3346704" cy="256032"/>
          </a:xfrm>
          <a:prstGeom prst="rect">
            <a:avLst/>
          </a:prstGeom>
          <a:noFill/>
          <a:ln/>
        </p:spPr>
        <p:txBody>
          <a:bodyPr wrap="square" lIns="0" tIns="0" rIns="0" bIns="0" rtlCol="0" anchor="ctr"/>
          <a:lstStyle/>
          <a:p>
            <a:pPr indent="0" marL="0">
              <a:buNone/>
            </a:pPr>
            <a:r>
              <a:rPr lang="en-US" sz="1000" i="1" dirty="0">
                <a:solidFill>
                  <a:srgbClr val="5B6675"/>
                </a:solidFill>
                <a:latin typeface="Arial" pitchFamily="34" charset="0"/>
                <a:ea typeface="Arial" pitchFamily="34" charset="-122"/>
                <a:cs typeface="Arial" pitchFamily="34" charset="-120"/>
              </a:rPr>
              <a:t>Gather sources</a:t>
            </a:r>
            <a:endParaRPr lang="en-US" sz="1000" dirty="0"/>
          </a:p>
        </p:txBody>
      </p:sp>
      <p:sp>
        <p:nvSpPr>
          <p:cNvPr id="16" name="Text 12"/>
          <p:cNvSpPr/>
          <p:nvPr/>
        </p:nvSpPr>
        <p:spPr>
          <a:xfrm>
            <a:off x="457200" y="2249424"/>
            <a:ext cx="3931920" cy="777240"/>
          </a:xfrm>
          <a:prstGeom prst="rect">
            <a:avLst/>
          </a:prstGeom>
          <a:noFill/>
          <a:ln/>
        </p:spPr>
        <p:txBody>
          <a:bodyPr wrap="square" lIns="0" tIns="0" rIns="0" bIns="0" rtlCol="0" anchor="t"/>
          <a:lstStyle/>
          <a:p>
            <a:pPr indent="0" marL="0">
              <a:lnSpc>
                <a:spcPct val="108000"/>
              </a:lnSpc>
              <a:buNone/>
            </a:pPr>
            <a:r>
              <a:rPr lang="en-US" sz="1100" dirty="0">
                <a:solidFill>
                  <a:srgbClr val="1F2733"/>
                </a:solidFill>
                <a:latin typeface="Arial" pitchFamily="34" charset="0"/>
                <a:ea typeface="Arial" pitchFamily="34" charset="-122"/>
                <a:cs typeface="Arial" pitchFamily="34" charset="-120"/>
              </a:rPr>
              <a:t>Lancez ces requêtes dans IEEE Xplore, Google Scholar, ScienceDirect et la bibliothèque. Gardez les plus pertinentes ; suivez « cité par » pour élargir.</a:t>
            </a:r>
            <a:endParaRPr lang="en-US" sz="1100" dirty="0"/>
          </a:p>
        </p:txBody>
      </p:sp>
      <p:sp>
        <p:nvSpPr>
          <p:cNvPr id="17" name="Shape 13"/>
          <p:cNvSpPr/>
          <p:nvPr/>
        </p:nvSpPr>
        <p:spPr>
          <a:xfrm>
            <a:off x="457200" y="3108960"/>
            <a:ext cx="3931920" cy="1371600"/>
          </a:xfrm>
          <a:prstGeom prst="roundRect">
            <a:avLst>
              <a:gd name="adj" fmla="val 6000"/>
            </a:avLst>
          </a:prstGeom>
          <a:solidFill>
            <a:srgbClr val="EAF0FA"/>
          </a:solidFill>
          <a:ln/>
          <a:effectLst>
            <a:outerShdw sx="100000" sy="100000" kx="0" ky="0" algn="bl" rotWithShape="0" blurRad="88900" dist="38100" dir="5400000">
              <a:srgbClr val="10213F">
                <a:alpha val="15000"/>
              </a:srgbClr>
            </a:outerShdw>
          </a:effectLst>
        </p:spPr>
      </p:sp>
      <p:sp>
        <p:nvSpPr>
          <p:cNvPr id="18" name="Text 14"/>
          <p:cNvSpPr/>
          <p:nvPr/>
        </p:nvSpPr>
        <p:spPr>
          <a:xfrm>
            <a:off x="640080" y="3200400"/>
            <a:ext cx="3566160" cy="237744"/>
          </a:xfrm>
          <a:prstGeom prst="rect">
            <a:avLst/>
          </a:prstGeom>
          <a:noFill/>
          <a:ln/>
        </p:spPr>
        <p:txBody>
          <a:bodyPr wrap="square" lIns="0" tIns="0" rIns="0" bIns="0" rtlCol="0" anchor="ctr"/>
          <a:lstStyle/>
          <a:p>
            <a:pPr indent="0" marL="0">
              <a:buNone/>
            </a:pPr>
            <a:r>
              <a:rPr lang="en-US" sz="900" b="1" spc="100" kern="0" dirty="0">
                <a:solidFill>
                  <a:srgbClr val="002C7C"/>
                </a:solidFill>
                <a:latin typeface="Arial" pitchFamily="34" charset="0"/>
                <a:ea typeface="Arial" pitchFamily="34" charset="-122"/>
                <a:cs typeface="Arial" pitchFamily="34" charset="-120"/>
              </a:rPr>
              <a:t>À FAIRE VOUS-MÊME · DO THIS YOURSELF</a:t>
            </a:r>
            <a:endParaRPr lang="en-US" sz="900" dirty="0"/>
          </a:p>
        </p:txBody>
      </p:sp>
      <p:sp>
        <p:nvSpPr>
          <p:cNvPr id="19" name="Text 15"/>
          <p:cNvSpPr/>
          <p:nvPr/>
        </p:nvSpPr>
        <p:spPr>
          <a:xfrm>
            <a:off x="640080" y="3456432"/>
            <a:ext cx="3566160" cy="932688"/>
          </a:xfrm>
          <a:prstGeom prst="rect">
            <a:avLst/>
          </a:prstGeom>
          <a:noFill/>
          <a:ln/>
        </p:spPr>
        <p:txBody>
          <a:bodyPr wrap="square" lIns="0" tIns="0" rIns="0" bIns="0" rtlCol="0" anchor="t"/>
          <a:lstStyle/>
          <a:p>
            <a:pPr indent="0" marL="0">
              <a:lnSpc>
                <a:spcPct val="106000"/>
              </a:lnSpc>
              <a:buNone/>
            </a:pPr>
            <a:r>
              <a:rPr lang="en-US" sz="1050" dirty="0">
                <a:solidFill>
                  <a:srgbClr val="1F2733"/>
                </a:solidFill>
                <a:latin typeface="Arial" pitchFamily="34" charset="0"/>
                <a:ea typeface="Arial" pitchFamily="34" charset="-122"/>
                <a:cs typeface="Arial" pitchFamily="34" charset="-120"/>
              </a:rPr>
              <a:t>Claude ne récupère pas les articles — et ne doit pas faire semblant. Trouver les sources et juger leur pertinence reste votre travail.</a:t>
            </a:r>
            <a:endParaRPr lang="en-US" sz="1050" dirty="0"/>
          </a:p>
        </p:txBody>
      </p:sp>
      <p:sp>
        <p:nvSpPr>
          <p:cNvPr id="20" name="Shape 16"/>
          <p:cNvSpPr/>
          <p:nvPr/>
        </p:nvSpPr>
        <p:spPr>
          <a:xfrm>
            <a:off x="4754880" y="1417320"/>
            <a:ext cx="457200" cy="457200"/>
          </a:xfrm>
          <a:prstGeom prst="ellipse">
            <a:avLst/>
          </a:prstGeom>
          <a:solidFill>
            <a:srgbClr val="002C7C"/>
          </a:solidFill>
          <a:ln/>
        </p:spPr>
      </p:sp>
      <p:sp>
        <p:nvSpPr>
          <p:cNvPr id="21" name="Text 17"/>
          <p:cNvSpPr/>
          <p:nvPr/>
        </p:nvSpPr>
        <p:spPr>
          <a:xfrm>
            <a:off x="4754880" y="141732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2" name="Text 18"/>
          <p:cNvSpPr/>
          <p:nvPr/>
        </p:nvSpPr>
        <p:spPr>
          <a:xfrm>
            <a:off x="5340096" y="1399032"/>
            <a:ext cx="3346704" cy="457200"/>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Constituer le corpus</a:t>
            </a:r>
            <a:endParaRPr lang="en-US" sz="1500" dirty="0"/>
          </a:p>
        </p:txBody>
      </p:sp>
      <p:sp>
        <p:nvSpPr>
          <p:cNvPr id="23" name="Text 19"/>
          <p:cNvSpPr/>
          <p:nvPr/>
        </p:nvSpPr>
        <p:spPr>
          <a:xfrm>
            <a:off x="5340096" y="1874520"/>
            <a:ext cx="3346704" cy="256032"/>
          </a:xfrm>
          <a:prstGeom prst="rect">
            <a:avLst/>
          </a:prstGeom>
          <a:noFill/>
          <a:ln/>
        </p:spPr>
        <p:txBody>
          <a:bodyPr wrap="square" lIns="0" tIns="0" rIns="0" bIns="0" rtlCol="0" anchor="ctr"/>
          <a:lstStyle/>
          <a:p>
            <a:pPr indent="0" marL="0">
              <a:buNone/>
            </a:pPr>
            <a:r>
              <a:rPr lang="en-US" sz="1000" i="1" dirty="0">
                <a:solidFill>
                  <a:srgbClr val="5B6675"/>
                </a:solidFill>
                <a:latin typeface="Arial" pitchFamily="34" charset="0"/>
                <a:ea typeface="Arial" pitchFamily="34" charset="-122"/>
                <a:cs typeface="Arial" pitchFamily="34" charset="-120"/>
              </a:rPr>
              <a:t>Build the set</a:t>
            </a:r>
            <a:endParaRPr lang="en-US" sz="1000" dirty="0"/>
          </a:p>
        </p:txBody>
      </p:sp>
      <p:sp>
        <p:nvSpPr>
          <p:cNvPr id="24" name="Text 20"/>
          <p:cNvSpPr/>
          <p:nvPr/>
        </p:nvSpPr>
        <p:spPr>
          <a:xfrm>
            <a:off x="4754880" y="2249424"/>
            <a:ext cx="3931920" cy="777240"/>
          </a:xfrm>
          <a:prstGeom prst="rect">
            <a:avLst/>
          </a:prstGeom>
          <a:noFill/>
          <a:ln/>
        </p:spPr>
        <p:txBody>
          <a:bodyPr wrap="square" lIns="0" tIns="0" rIns="0" bIns="0" rtlCol="0" anchor="t"/>
          <a:lstStyle/>
          <a:p>
            <a:pPr indent="0" marL="0">
              <a:lnSpc>
                <a:spcPct val="108000"/>
              </a:lnSpc>
              <a:buNone/>
            </a:pPr>
            <a:r>
              <a:rPr lang="en-US" sz="1100" dirty="0">
                <a:solidFill>
                  <a:srgbClr val="1F2733"/>
                </a:solidFill>
                <a:latin typeface="Arial" pitchFamily="34" charset="0"/>
                <a:ea typeface="Arial" pitchFamily="34" charset="-122"/>
                <a:cs typeface="Arial" pitchFamily="34" charset="-120"/>
              </a:rPr>
              <a:t>Téléversez ce que vous avez rassemblé dans le Projet. Claude s'appuie alors sur vos vraies sources — pas sur sa mémoire.</a:t>
            </a:r>
            <a:endParaRPr lang="en-US" sz="1100" dirty="0"/>
          </a:p>
        </p:txBody>
      </p:sp>
      <p:sp>
        <p:nvSpPr>
          <p:cNvPr id="25" name="Shape 21"/>
          <p:cNvSpPr/>
          <p:nvPr/>
        </p:nvSpPr>
        <p:spPr>
          <a:xfrm>
            <a:off x="4754880" y="3108960"/>
            <a:ext cx="3931920" cy="1371600"/>
          </a:xfrm>
          <a:prstGeom prst="roundRect">
            <a:avLst>
              <a:gd name="adj" fmla="val 6000"/>
            </a:avLst>
          </a:prstGeom>
          <a:solidFill>
            <a:srgbClr val="FCF3D8"/>
          </a:solidFill>
          <a:ln/>
          <a:effectLst>
            <a:outerShdw sx="100000" sy="100000" kx="0" ky="0" algn="bl" rotWithShape="0" blurRad="88900" dist="38100" dir="5400000">
              <a:srgbClr val="10213F">
                <a:alpha val="15000"/>
              </a:srgbClr>
            </a:outerShdw>
          </a:effectLst>
        </p:spPr>
      </p:sp>
      <p:sp>
        <p:nvSpPr>
          <p:cNvPr id="26" name="Text 22"/>
          <p:cNvSpPr/>
          <p:nvPr/>
        </p:nvSpPr>
        <p:spPr>
          <a:xfrm>
            <a:off x="4937760" y="3200400"/>
            <a:ext cx="3566160" cy="237744"/>
          </a:xfrm>
          <a:prstGeom prst="rect">
            <a:avLst/>
          </a:prstGeom>
          <a:noFill/>
          <a:ln/>
        </p:spPr>
        <p:txBody>
          <a:bodyPr wrap="square" lIns="0" tIns="0" rIns="0" bIns="0" rtlCol="0" anchor="ctr"/>
          <a:lstStyle/>
          <a:p>
            <a:pPr indent="0" marL="0">
              <a:buNone/>
            </a:pPr>
            <a:r>
              <a:rPr lang="en-US" sz="900" b="1" spc="100" kern="0" dirty="0">
                <a:solidFill>
                  <a:srgbClr val="B07D08"/>
                </a:solidFill>
                <a:latin typeface="Arial" pitchFamily="34" charset="0"/>
                <a:ea typeface="Arial" pitchFamily="34" charset="-122"/>
                <a:cs typeface="Arial" pitchFamily="34" charset="-120"/>
              </a:rPr>
              <a:t>CONSIGNE À ESSAYER · TRY THIS PROMPT</a:t>
            </a:r>
            <a:endParaRPr lang="en-US" sz="900" dirty="0"/>
          </a:p>
        </p:txBody>
      </p:sp>
      <p:sp>
        <p:nvSpPr>
          <p:cNvPr id="27" name="Text 23"/>
          <p:cNvSpPr/>
          <p:nvPr/>
        </p:nvSpPr>
        <p:spPr>
          <a:xfrm>
            <a:off x="4937760" y="3456432"/>
            <a:ext cx="3566160" cy="932688"/>
          </a:xfrm>
          <a:prstGeom prst="rect">
            <a:avLst/>
          </a:prstGeom>
          <a:noFill/>
          <a:ln/>
        </p:spPr>
        <p:txBody>
          <a:bodyPr wrap="square" lIns="0" tIns="0" rIns="0" bIns="0" rtlCol="0" anchor="t"/>
          <a:lstStyle/>
          <a:p>
            <a:pPr indent="0" marL="0">
              <a:lnSpc>
                <a:spcPct val="106000"/>
              </a:lnSpc>
              <a:buNone/>
            </a:pPr>
            <a:r>
              <a:rPr lang="en-US" sz="1050" i="1" dirty="0">
                <a:solidFill>
                  <a:srgbClr val="1F2733"/>
                </a:solidFill>
                <a:latin typeface="Arial" pitchFamily="34" charset="0"/>
                <a:ea typeface="Arial" pitchFamily="34" charset="-122"/>
                <a:cs typeface="Arial" pitchFamily="34" charset="-120"/>
              </a:rPr>
              <a:t>« Voici les articles rassemblés. Pour chacun : problème, méthode, résultat clé, limite, en 3 lignes. Puis indique les 5 plus centraux pour ma question, et pourquoi. »</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pic>
        <p:nvPicPr>
          <p:cNvPr id="5" name="Image 1" descr="preencoded.png">    </p:cNvPr>
          <p:cNvPicPr>
            <a:picLocks noChangeAspect="1"/>
          </p:cNvPicPr>
          <p:nvPr/>
        </p:nvPicPr>
        <p:blipFill>
          <a:blip r:embed="rId3"/>
          <a:stretch>
            <a:fillRect/>
          </a:stretch>
        </p:blipFill>
        <p:spPr>
          <a:xfrm>
            <a:off x="610819" y="519379"/>
            <a:ext cx="241402" cy="241402"/>
          </a:xfrm>
          <a:prstGeom prst="rect">
            <a:avLst/>
          </a:prstGeom>
        </p:spPr>
      </p:pic>
      <p:sp>
        <p:nvSpPr>
          <p:cNvPr id="6" name="Text 2"/>
          <p:cNvSpPr/>
          <p:nvPr/>
        </p:nvSpPr>
        <p:spPr>
          <a:xfrm>
            <a:off x="1188720" y="292608"/>
            <a:ext cx="5669280" cy="457200"/>
          </a:xfrm>
          <a:prstGeom prst="rect">
            <a:avLst/>
          </a:prstGeom>
          <a:noFill/>
          <a:ln/>
        </p:spPr>
        <p:txBody>
          <a:bodyPr wrap="square" lIns="0" tIns="0" rIns="0" bIns="0" rtlCol="0" anchor="ctr"/>
          <a:lstStyle/>
          <a:p>
            <a:pPr indent="0" marL="0">
              <a:buNone/>
            </a:pPr>
            <a:r>
              <a:rPr lang="en-US" sz="2200" b="1" dirty="0">
                <a:solidFill>
                  <a:srgbClr val="002C7C"/>
                </a:solidFill>
                <a:latin typeface="Arial" pitchFamily="34" charset="0"/>
                <a:ea typeface="Arial" pitchFamily="34" charset="-122"/>
                <a:cs typeface="Arial" pitchFamily="34" charset="-120"/>
              </a:rPr>
              <a:t>S'orienter dans le domaine</a:t>
            </a:r>
            <a:endParaRPr lang="en-US" sz="2200" dirty="0"/>
          </a:p>
        </p:txBody>
      </p:sp>
      <p:sp>
        <p:nvSpPr>
          <p:cNvPr id="7" name="Shape 3"/>
          <p:cNvSpPr/>
          <p:nvPr/>
        </p:nvSpPr>
        <p:spPr>
          <a:xfrm>
            <a:off x="1216152" y="841248"/>
            <a:ext cx="1280160" cy="45720"/>
          </a:xfrm>
          <a:prstGeom prst="rect">
            <a:avLst/>
          </a:prstGeom>
          <a:solidFill>
            <a:srgbClr val="EEA901"/>
          </a:solidFill>
          <a:ln/>
        </p:spPr>
      </p:sp>
      <p:sp>
        <p:nvSpPr>
          <p:cNvPr id="8" name="Text 4"/>
          <p:cNvSpPr/>
          <p:nvPr/>
        </p:nvSpPr>
        <p:spPr>
          <a:xfrm>
            <a:off x="1188720" y="914400"/>
            <a:ext cx="5669280" cy="274320"/>
          </a:xfrm>
          <a:prstGeom prst="rect">
            <a:avLst/>
          </a:prstGeom>
          <a:noFill/>
          <a:ln/>
        </p:spPr>
        <p:txBody>
          <a:bodyPr wrap="square" lIns="0" tIns="0" rIns="0" bIns="0" rtlCol="0" anchor="ctr"/>
          <a:lstStyle/>
          <a:p>
            <a:pPr indent="0" marL="0">
              <a:buNone/>
            </a:pPr>
            <a:r>
              <a:rPr lang="en-US" sz="1200" i="1" dirty="0">
                <a:solidFill>
                  <a:srgbClr val="5B6675"/>
                </a:solidFill>
                <a:latin typeface="Arial" pitchFamily="34" charset="0"/>
                <a:ea typeface="Arial" pitchFamily="34" charset="-122"/>
                <a:cs typeface="Arial" pitchFamily="34" charset="-120"/>
              </a:rPr>
              <a:t>Orienting to the field — the roadmap</a:t>
            </a:r>
            <a:endParaRPr lang="en-US" sz="1200" dirty="0"/>
          </a:p>
        </p:txBody>
      </p:sp>
      <p:sp>
        <p:nvSpPr>
          <p:cNvPr id="9" name="Shape 5"/>
          <p:cNvSpPr/>
          <p:nvPr/>
        </p:nvSpPr>
        <p:spPr>
          <a:xfrm>
            <a:off x="6858000" y="384048"/>
            <a:ext cx="1828800" cy="384048"/>
          </a:xfrm>
          <a:prstGeom prst="roundRect">
            <a:avLst>
              <a:gd name="adj" fmla="val 19048"/>
            </a:avLst>
          </a:prstGeom>
          <a:solidFill>
            <a:srgbClr val="002C7C"/>
          </a:solidFill>
          <a:ln/>
        </p:spPr>
      </p:sp>
      <p:sp>
        <p:nvSpPr>
          <p:cNvPr id="10" name="Text 6"/>
          <p:cNvSpPr/>
          <p:nvPr/>
        </p:nvSpPr>
        <p:spPr>
          <a:xfrm>
            <a:off x="6858000" y="384048"/>
            <a:ext cx="182880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Claude Projects</a:t>
            </a:r>
            <a:endParaRPr lang="en-US" sz="1100" dirty="0"/>
          </a:p>
        </p:txBody>
      </p:sp>
      <p:sp>
        <p:nvSpPr>
          <p:cNvPr id="11" name="Text 7"/>
          <p:cNvSpPr/>
          <p:nvPr/>
        </p:nvSpPr>
        <p:spPr>
          <a:xfrm>
            <a:off x="5029200" y="877824"/>
            <a:ext cx="3657600" cy="237744"/>
          </a:xfrm>
          <a:prstGeom prst="rect">
            <a:avLst/>
          </a:prstGeom>
          <a:noFill/>
          <a:ln/>
        </p:spPr>
        <p:txBody>
          <a:bodyPr wrap="square" lIns="0" tIns="0" rIns="0" bIns="0" rtlCol="0" anchor="ctr"/>
          <a:lstStyle/>
          <a:p>
            <a:pPr algn="r" indent="0" marL="0">
              <a:buNone/>
            </a:pPr>
            <a:r>
              <a:rPr lang="en-US" sz="1050" i="1" dirty="0">
                <a:solidFill>
                  <a:srgbClr val="B07D08"/>
                </a:solidFill>
                <a:latin typeface="Arial" pitchFamily="34" charset="0"/>
                <a:ea typeface="Arial" pitchFamily="34" charset="-122"/>
                <a:cs typeface="Arial" pitchFamily="34" charset="-120"/>
              </a:rPr>
              <a:t>Yaoundé · Étape 5 + garde-fous</a:t>
            </a:r>
            <a:endParaRPr lang="en-US" sz="1050" dirty="0"/>
          </a:p>
        </p:txBody>
      </p:sp>
      <p:sp>
        <p:nvSpPr>
          <p:cNvPr id="12" name="Shape 8"/>
          <p:cNvSpPr/>
          <p:nvPr/>
        </p:nvSpPr>
        <p:spPr>
          <a:xfrm>
            <a:off x="457200" y="1371600"/>
            <a:ext cx="457200" cy="457200"/>
          </a:xfrm>
          <a:prstGeom prst="ellipse">
            <a:avLst/>
          </a:prstGeom>
          <a:solidFill>
            <a:srgbClr val="002C7C"/>
          </a:solidFill>
          <a:ln/>
        </p:spPr>
      </p:sp>
      <p:sp>
        <p:nvSpPr>
          <p:cNvPr id="13" name="Text 9"/>
          <p:cNvSpPr/>
          <p:nvPr/>
        </p:nvSpPr>
        <p:spPr>
          <a:xfrm>
            <a:off x="457200" y="137160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14" name="Text 10"/>
          <p:cNvSpPr/>
          <p:nvPr/>
        </p:nvSpPr>
        <p:spPr>
          <a:xfrm>
            <a:off x="1042416" y="1353312"/>
            <a:ext cx="7589520" cy="310896"/>
          </a:xfrm>
          <a:prstGeom prst="rect">
            <a:avLst/>
          </a:prstGeom>
          <a:noFill/>
          <a:ln/>
        </p:spPr>
        <p:txBody>
          <a:bodyPr wrap="square" lIns="0" tIns="0" rIns="0" bIns="0" rtlCol="0" anchor="ctr"/>
          <a:lstStyle/>
          <a:p>
            <a:pPr indent="0" marL="0">
              <a:buNone/>
            </a:pPr>
            <a:r>
              <a:rPr lang="en-US" sz="1500" b="1" dirty="0">
                <a:solidFill>
                  <a:srgbClr val="002C7C"/>
                </a:solidFill>
                <a:latin typeface="Arial" pitchFamily="34" charset="0"/>
                <a:ea typeface="Arial" pitchFamily="34" charset="-122"/>
                <a:cs typeface="Arial" pitchFamily="34" charset="-120"/>
              </a:rPr>
              <a:t>Interroger et tenir un journal</a:t>
            </a:r>
            <a:endParaRPr lang="en-US" sz="1500" dirty="0"/>
          </a:p>
        </p:txBody>
      </p:sp>
      <p:sp>
        <p:nvSpPr>
          <p:cNvPr id="15" name="Text 11"/>
          <p:cNvSpPr/>
          <p:nvPr/>
        </p:nvSpPr>
        <p:spPr>
          <a:xfrm>
            <a:off x="1042416" y="1664208"/>
            <a:ext cx="7589520" cy="237744"/>
          </a:xfrm>
          <a:prstGeom prst="rect">
            <a:avLst/>
          </a:prstGeom>
          <a:noFill/>
          <a:ln/>
        </p:spPr>
        <p:txBody>
          <a:bodyPr wrap="square" lIns="0" tIns="0" rIns="0" bIns="0" rtlCol="0" anchor="ctr"/>
          <a:lstStyle/>
          <a:p>
            <a:pPr indent="0" marL="0">
              <a:buNone/>
            </a:pPr>
            <a:r>
              <a:rPr lang="en-US" sz="1000" i="1" dirty="0">
                <a:solidFill>
                  <a:srgbClr val="5B6675"/>
                </a:solidFill>
                <a:latin typeface="Arial" pitchFamily="34" charset="0"/>
                <a:ea typeface="Arial" pitchFamily="34" charset="-122"/>
                <a:cs typeface="Arial" pitchFamily="34" charset="-120"/>
              </a:rPr>
              <a:t>Interrogate &amp; keep a living log</a:t>
            </a:r>
            <a:endParaRPr lang="en-US" sz="1000" dirty="0"/>
          </a:p>
        </p:txBody>
      </p:sp>
      <p:sp>
        <p:nvSpPr>
          <p:cNvPr id="16" name="Text 12"/>
          <p:cNvSpPr/>
          <p:nvPr/>
        </p:nvSpPr>
        <p:spPr>
          <a:xfrm>
            <a:off x="457200" y="1975104"/>
            <a:ext cx="8229600" cy="310896"/>
          </a:xfrm>
          <a:prstGeom prst="rect">
            <a:avLst/>
          </a:prstGeom>
          <a:noFill/>
          <a:ln/>
        </p:spPr>
        <p:txBody>
          <a:bodyPr wrap="square" lIns="0" tIns="0" rIns="0" bIns="0" rtlCol="0" anchor="ctr"/>
          <a:lstStyle/>
          <a:p>
            <a:pPr indent="0" marL="0">
              <a:buNone/>
            </a:pPr>
            <a:r>
              <a:rPr lang="en-US" sz="1100" dirty="0">
                <a:solidFill>
                  <a:srgbClr val="1F2733"/>
                </a:solidFill>
                <a:latin typeface="Arial" pitchFamily="34" charset="0"/>
                <a:ea typeface="Arial" pitchFamily="34" charset="-122"/>
                <a:cs typeface="Arial" pitchFamily="34" charset="-120"/>
              </a:rPr>
              <a:t>Faites comparer vos sources par Claude et faites ressortir les manques ; tenez un journal dans le Projet, à mettre à jour à chaque nouvel article.</a:t>
            </a:r>
            <a:endParaRPr lang="en-US" sz="1100" dirty="0"/>
          </a:p>
        </p:txBody>
      </p:sp>
      <p:sp>
        <p:nvSpPr>
          <p:cNvPr id="17" name="Shape 13"/>
          <p:cNvSpPr/>
          <p:nvPr/>
        </p:nvSpPr>
        <p:spPr>
          <a:xfrm>
            <a:off x="457200" y="2340864"/>
            <a:ext cx="8229600" cy="877824"/>
          </a:xfrm>
          <a:prstGeom prst="roundRect">
            <a:avLst>
              <a:gd name="adj" fmla="val 9375"/>
            </a:avLst>
          </a:prstGeom>
          <a:solidFill>
            <a:srgbClr val="FCF3D8"/>
          </a:solidFill>
          <a:ln/>
          <a:effectLst>
            <a:outerShdw sx="100000" sy="100000" kx="0" ky="0" algn="bl" rotWithShape="0" blurRad="88900" dist="38100" dir="5400000">
              <a:srgbClr val="10213F">
                <a:alpha val="15000"/>
              </a:srgbClr>
            </a:outerShdw>
          </a:effectLst>
        </p:spPr>
      </p:sp>
      <p:sp>
        <p:nvSpPr>
          <p:cNvPr id="18" name="Text 14"/>
          <p:cNvSpPr/>
          <p:nvPr/>
        </p:nvSpPr>
        <p:spPr>
          <a:xfrm>
            <a:off x="640080" y="2414016"/>
            <a:ext cx="7863840" cy="219456"/>
          </a:xfrm>
          <a:prstGeom prst="rect">
            <a:avLst/>
          </a:prstGeom>
          <a:noFill/>
          <a:ln/>
        </p:spPr>
        <p:txBody>
          <a:bodyPr wrap="square" lIns="0" tIns="0" rIns="0" bIns="0" rtlCol="0" anchor="ctr"/>
          <a:lstStyle/>
          <a:p>
            <a:pPr indent="0" marL="0">
              <a:buNone/>
            </a:pPr>
            <a:r>
              <a:rPr lang="en-US" sz="900" b="1" spc="100" kern="0" dirty="0">
                <a:solidFill>
                  <a:srgbClr val="B07D08"/>
                </a:solidFill>
                <a:latin typeface="Arial" pitchFamily="34" charset="0"/>
                <a:ea typeface="Arial" pitchFamily="34" charset="-122"/>
                <a:cs typeface="Arial" pitchFamily="34" charset="-120"/>
              </a:rPr>
              <a:t>CONSIGNE À ESSAYER · TRY THIS PROMPT</a:t>
            </a:r>
            <a:endParaRPr lang="en-US" sz="900" dirty="0"/>
          </a:p>
        </p:txBody>
      </p:sp>
      <p:sp>
        <p:nvSpPr>
          <p:cNvPr id="19" name="Text 15"/>
          <p:cNvSpPr/>
          <p:nvPr/>
        </p:nvSpPr>
        <p:spPr>
          <a:xfrm>
            <a:off x="640080" y="2651760"/>
            <a:ext cx="7863840" cy="512064"/>
          </a:xfrm>
          <a:prstGeom prst="rect">
            <a:avLst/>
          </a:prstGeom>
          <a:noFill/>
          <a:ln/>
        </p:spPr>
        <p:txBody>
          <a:bodyPr wrap="square" lIns="0" tIns="0" rIns="0" bIns="0" rtlCol="0" anchor="ctr"/>
          <a:lstStyle/>
          <a:p>
            <a:pPr indent="0" marL="0">
              <a:lnSpc>
                <a:spcPct val="104000"/>
              </a:lnSpc>
              <a:buNone/>
            </a:pPr>
            <a:r>
              <a:rPr lang="en-US" sz="1050" i="1" dirty="0">
                <a:solidFill>
                  <a:srgbClr val="1F2733"/>
                </a:solidFill>
                <a:latin typeface="Arial" pitchFamily="34" charset="0"/>
                <a:ea typeface="Arial" pitchFamily="34" charset="-122"/>
                <a:cs typeface="Arial" pitchFamily="34" charset="-120"/>
              </a:rPr>
              <a:t>« Construis un tableau comparant ces articles par méthode, modèle de réseau, métrique et limite. Où sont les désaccords ? Qu'est-ce qui n'a pas été testé pour l'interconnexion RIS–RIN ? »</a:t>
            </a:r>
            <a:endParaRPr lang="en-US" sz="1050" dirty="0"/>
          </a:p>
        </p:txBody>
      </p:sp>
      <p:sp>
        <p:nvSpPr>
          <p:cNvPr id="20" name="Shape 16"/>
          <p:cNvSpPr/>
          <p:nvPr/>
        </p:nvSpPr>
        <p:spPr>
          <a:xfrm>
            <a:off x="457200" y="3346704"/>
            <a:ext cx="8229600" cy="1298448"/>
          </a:xfrm>
          <a:prstGeom prst="roundRect">
            <a:avLst>
              <a:gd name="adj" fmla="val 6338"/>
            </a:avLst>
          </a:prstGeom>
          <a:solidFill>
            <a:srgbClr val="002C7C"/>
          </a:solidFill>
          <a:ln/>
          <a:effectLst>
            <a:outerShdw sx="100000" sy="100000" kx="0" ky="0" algn="bl" rotWithShape="0" blurRad="88900" dist="38100" dir="5400000">
              <a:srgbClr val="10213F">
                <a:alpha val="15000"/>
              </a:srgbClr>
            </a:outerShdw>
          </a:effectLst>
        </p:spPr>
      </p:sp>
      <p:sp>
        <p:nvSpPr>
          <p:cNvPr id="21" name="Shape 17"/>
          <p:cNvSpPr/>
          <p:nvPr/>
        </p:nvSpPr>
        <p:spPr>
          <a:xfrm>
            <a:off x="713232" y="3621024"/>
            <a:ext cx="548640" cy="548640"/>
          </a:xfrm>
          <a:prstGeom prst="ellipse">
            <a:avLst/>
          </a:prstGeom>
          <a:solidFill>
            <a:srgbClr val="EEA901"/>
          </a:solidFill>
          <a:ln/>
        </p:spPr>
      </p:sp>
      <p:pic>
        <p:nvPicPr>
          <p:cNvPr id="22" name="Image 2" descr="preencoded.png">    </p:cNvPr>
          <p:cNvPicPr>
            <a:picLocks noChangeAspect="1"/>
          </p:cNvPicPr>
          <p:nvPr/>
        </p:nvPicPr>
        <p:blipFill>
          <a:blip r:embed="rId4"/>
          <a:stretch>
            <a:fillRect/>
          </a:stretch>
        </p:blipFill>
        <p:spPr>
          <a:xfrm>
            <a:off x="866851" y="3774643"/>
            <a:ext cx="241402" cy="241402"/>
          </a:xfrm>
          <a:prstGeom prst="rect">
            <a:avLst/>
          </a:prstGeom>
        </p:spPr>
      </p:pic>
      <p:sp>
        <p:nvSpPr>
          <p:cNvPr id="23" name="Text 18"/>
          <p:cNvSpPr/>
          <p:nvPr/>
        </p:nvSpPr>
        <p:spPr>
          <a:xfrm>
            <a:off x="1481328" y="3438144"/>
            <a:ext cx="7040880" cy="237744"/>
          </a:xfrm>
          <a:prstGeom prst="rect">
            <a:avLst/>
          </a:prstGeom>
          <a:noFill/>
          <a:ln/>
        </p:spPr>
        <p:txBody>
          <a:bodyPr wrap="square" lIns="0" tIns="0" rIns="0" bIns="0" rtlCol="0" anchor="ctr"/>
          <a:lstStyle/>
          <a:p>
            <a:pPr indent="0" marL="0">
              <a:buNone/>
            </a:pPr>
            <a:r>
              <a:rPr lang="en-US" sz="950" b="1" spc="100" kern="0" dirty="0">
                <a:solidFill>
                  <a:srgbClr val="EEA901"/>
                </a:solidFill>
                <a:latin typeface="Arial" pitchFamily="34" charset="0"/>
                <a:ea typeface="Arial" pitchFamily="34" charset="-122"/>
                <a:cs typeface="Arial" pitchFamily="34" charset="-120"/>
              </a:rPr>
              <a:t>GARDEZ LA RÉFLEXION · KEEP THE THINKING YOURS</a:t>
            </a:r>
            <a:endParaRPr lang="en-US" sz="950" dirty="0"/>
          </a:p>
        </p:txBody>
      </p:sp>
      <p:sp>
        <p:nvSpPr>
          <p:cNvPr id="24" name="Text 19"/>
          <p:cNvSpPr/>
          <p:nvPr/>
        </p:nvSpPr>
        <p:spPr>
          <a:xfrm>
            <a:off x="1481328" y="3694176"/>
            <a:ext cx="7040880" cy="640080"/>
          </a:xfrm>
          <a:prstGeom prst="rect">
            <a:avLst/>
          </a:prstGeom>
          <a:noFill/>
          <a:ln/>
        </p:spPr>
        <p:txBody>
          <a:bodyPr wrap="square" lIns="0" tIns="0" rIns="0" bIns="0" rtlCol="0" anchor="ctr"/>
          <a:lstStyle/>
          <a:p>
            <a:pPr marL="177800" indent="-177800">
              <a:lnSpc>
                <a:spcPct val="102000"/>
              </a:lnSpc>
              <a:buSzPct val="100000"/>
              <a:buChar char="•"/>
            </a:pPr>
            <a:r>
              <a:rPr lang="en-US" sz="1050" dirty="0">
                <a:solidFill>
                  <a:srgbClr val="FFFFFF"/>
                </a:solidFill>
                <a:latin typeface="Arial" pitchFamily="34" charset="0"/>
                <a:ea typeface="Arial" pitchFamily="34" charset="-122"/>
                <a:cs typeface="Arial" pitchFamily="34" charset="-120"/>
              </a:rPr>
              <a:t>Claude peut inventer des références — ne faites confiance qu'aux sources téléversées ou vérifiées.</a:t>
            </a:r>
            <a:endParaRPr lang="en-US" sz="1050" dirty="0"/>
          </a:p>
          <a:p>
            <a:pPr marL="177800" indent="-177800">
              <a:lnSpc>
                <a:spcPct val="102000"/>
              </a:lnSpc>
              <a:buSzPct val="100000"/>
              <a:buChar char="•"/>
            </a:pPr>
            <a:r>
              <a:rPr lang="en-US" sz="1050" dirty="0">
                <a:solidFill>
                  <a:srgbClr val="FFFFFF"/>
                </a:solidFill>
                <a:latin typeface="Arial" pitchFamily="34" charset="0"/>
                <a:ea typeface="Arial" pitchFamily="34" charset="-122"/>
                <a:cs typeface="Arial" pitchFamily="34" charset="-120"/>
              </a:rPr>
              <a:t>C'est vous qui décidez ce qui est pertinent et où est la lacune.</a:t>
            </a:r>
            <a:endParaRPr lang="en-US" sz="1050" dirty="0"/>
          </a:p>
          <a:p>
            <a:pPr marL="177800" indent="-177800">
              <a:lnSpc>
                <a:spcPct val="102000"/>
              </a:lnSpc>
              <a:buSzPct val="100000"/>
              <a:buChar char="•"/>
            </a:pPr>
            <a:r>
              <a:rPr lang="en-US" sz="1050" dirty="0">
                <a:solidFill>
                  <a:srgbClr val="FFFFFF"/>
                </a:solidFill>
                <a:latin typeface="Arial" pitchFamily="34" charset="0"/>
                <a:ea typeface="Arial" pitchFamily="34" charset="-122"/>
                <a:cs typeface="Arial" pitchFamily="34" charset="-120"/>
              </a:rPr>
              <a:t>Vérifiez chaque affirmation dans l'article lui-même.</a:t>
            </a:r>
            <a:endParaRPr lang="en-US" sz="1050" dirty="0"/>
          </a:p>
        </p:txBody>
      </p:sp>
      <p:sp>
        <p:nvSpPr>
          <p:cNvPr id="25" name="Text 20"/>
          <p:cNvSpPr/>
          <p:nvPr/>
        </p:nvSpPr>
        <p:spPr>
          <a:xfrm>
            <a:off x="1481328" y="4334256"/>
            <a:ext cx="7040880" cy="256032"/>
          </a:xfrm>
          <a:prstGeom prst="rect">
            <a:avLst/>
          </a:prstGeom>
          <a:noFill/>
          <a:ln/>
        </p:spPr>
        <p:txBody>
          <a:bodyPr wrap="square" lIns="0" tIns="0" rIns="0" bIns="0" rtlCol="0" anchor="ctr"/>
          <a:lstStyle/>
          <a:p>
            <a:pPr indent="0" marL="0">
              <a:buNone/>
            </a:pPr>
            <a:r>
              <a:rPr lang="en-US" sz="1050" i="1" dirty="0">
                <a:solidFill>
                  <a:srgbClr val="C7D3EA"/>
                </a:solidFill>
                <a:latin typeface="Arial" pitchFamily="34" charset="0"/>
                <a:ea typeface="Arial" pitchFamily="34" charset="-122"/>
                <a:cs typeface="Arial" pitchFamily="34" charset="-120"/>
              </a:rPr>
              <a:t>Pouvez-vous expliquer et défendre cette cartographie comme votre propre compréhension ?</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5" name="Text 2"/>
          <p:cNvSpPr/>
          <p:nvPr/>
        </p:nvSpPr>
        <p:spPr>
          <a:xfrm>
            <a:off x="457200" y="365760"/>
            <a:ext cx="548640" cy="548640"/>
          </a:xfrm>
          <a:prstGeom prst="rect">
            <a:avLst/>
          </a:prstGeom>
          <a:noFill/>
          <a:ln/>
        </p:spPr>
        <p:txBody>
          <a:bodyPr wrap="square" lIns="0" tIns="0" rIns="0" bIns="0" rtlCol="0" anchor="ctr"/>
          <a:lstStyle/>
          <a:p>
            <a:pPr algn="ctr" indent="0" marL="0">
              <a:buNone/>
            </a:pPr>
            <a:r>
              <a:rPr lang="en-US" sz="2400" b="1" dirty="0">
                <a:solidFill>
                  <a:srgbClr val="002C7C"/>
                </a:solidFill>
                <a:latin typeface="Arial" pitchFamily="34" charset="0"/>
                <a:ea typeface="Arial" pitchFamily="34" charset="-122"/>
                <a:cs typeface="Arial" pitchFamily="34" charset="-120"/>
              </a:rPr>
              <a:t>3</a:t>
            </a:r>
            <a:endParaRPr lang="en-US" sz="2400" dirty="0"/>
          </a:p>
        </p:txBody>
      </p:sp>
      <p:sp>
        <p:nvSpPr>
          <p:cNvPr id="6" name="Text 3"/>
          <p:cNvSpPr/>
          <p:nvPr/>
        </p:nvSpPr>
        <p:spPr>
          <a:xfrm>
            <a:off x="1188720" y="310896"/>
            <a:ext cx="530352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Identifying the gap</a:t>
            </a:r>
            <a:endParaRPr lang="en-US" sz="2400" dirty="0"/>
          </a:p>
        </p:txBody>
      </p:sp>
      <p:sp>
        <p:nvSpPr>
          <p:cNvPr id="7" name="Shape 4"/>
          <p:cNvSpPr/>
          <p:nvPr/>
        </p:nvSpPr>
        <p:spPr>
          <a:xfrm>
            <a:off x="1216152" y="850392"/>
            <a:ext cx="1280160" cy="45720"/>
          </a:xfrm>
          <a:prstGeom prst="rect">
            <a:avLst/>
          </a:prstGeom>
          <a:solidFill>
            <a:srgbClr val="EEA901"/>
          </a:solidFill>
          <a:ln/>
        </p:spPr>
      </p:sp>
      <p:sp>
        <p:nvSpPr>
          <p:cNvPr id="8" name="Text 5"/>
          <p:cNvSpPr/>
          <p:nvPr/>
        </p:nvSpPr>
        <p:spPr>
          <a:xfrm>
            <a:off x="1188720" y="950976"/>
            <a:ext cx="5303520" cy="292608"/>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Identifier la lacune</a:t>
            </a:r>
            <a:endParaRPr lang="en-US" sz="1250" dirty="0"/>
          </a:p>
        </p:txBody>
      </p:sp>
      <p:sp>
        <p:nvSpPr>
          <p:cNvPr id="9" name="Shape 6"/>
          <p:cNvSpPr/>
          <p:nvPr/>
        </p:nvSpPr>
        <p:spPr>
          <a:xfrm>
            <a:off x="6858000" y="420624"/>
            <a:ext cx="1828800" cy="420624"/>
          </a:xfrm>
          <a:prstGeom prst="roundRect">
            <a:avLst>
              <a:gd name="adj" fmla="val 17391"/>
            </a:avLst>
          </a:prstGeom>
          <a:solidFill>
            <a:srgbClr val="002C7C"/>
          </a:solidFill>
          <a:ln/>
        </p:spPr>
      </p:sp>
      <p:sp>
        <p:nvSpPr>
          <p:cNvPr id="10" name="Text 7"/>
          <p:cNvSpPr/>
          <p:nvPr/>
        </p:nvSpPr>
        <p:spPr>
          <a:xfrm>
            <a:off x="6858000" y="420624"/>
            <a:ext cx="182880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Claude Projects</a:t>
            </a:r>
            <a:endParaRPr lang="en-US" sz="1150" dirty="0"/>
          </a:p>
        </p:txBody>
      </p:sp>
      <p:sp>
        <p:nvSpPr>
          <p:cNvPr id="11" name="Shape 8"/>
          <p:cNvSpPr/>
          <p:nvPr/>
        </p:nvSpPr>
        <p:spPr>
          <a:xfrm>
            <a:off x="566928" y="1554480"/>
            <a:ext cx="1280160" cy="1280160"/>
          </a:xfrm>
          <a:prstGeom prst="ellipse">
            <a:avLst/>
          </a:prstGeom>
          <a:solidFill>
            <a:srgbClr val="002C7C"/>
          </a:solidFill>
          <a:ln/>
        </p:spPr>
      </p:sp>
      <p:pic>
        <p:nvPicPr>
          <p:cNvPr id="12" name="Image 1" descr="preencoded.png">    </p:cNvPr>
          <p:cNvPicPr>
            <a:picLocks noChangeAspect="1"/>
          </p:cNvPicPr>
          <p:nvPr/>
        </p:nvPicPr>
        <p:blipFill>
          <a:blip r:embed="rId3"/>
          <a:stretch>
            <a:fillRect/>
          </a:stretch>
        </p:blipFill>
        <p:spPr>
          <a:xfrm>
            <a:off x="912571" y="1900123"/>
            <a:ext cx="588874" cy="588874"/>
          </a:xfrm>
          <a:prstGeom prst="rect">
            <a:avLst/>
          </a:prstGeom>
        </p:spPr>
      </p:pic>
      <p:sp>
        <p:nvSpPr>
          <p:cNvPr id="13" name="Text 9"/>
          <p:cNvSpPr/>
          <p:nvPr/>
        </p:nvSpPr>
        <p:spPr>
          <a:xfrm>
            <a:off x="2286000" y="1463040"/>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AI maps the landscape — competing methods, contradictions.</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L'IA cartographie le domaine — méthodes rivales, contradictions.</a:t>
            </a:r>
            <a:endParaRPr lang="en-US" sz="1300" dirty="0"/>
          </a:p>
        </p:txBody>
      </p:sp>
      <p:sp>
        <p:nvSpPr>
          <p:cNvPr id="14" name="Shape 10"/>
          <p:cNvSpPr/>
          <p:nvPr/>
        </p:nvSpPr>
        <p:spPr>
          <a:xfrm>
            <a:off x="2029968" y="1517904"/>
            <a:ext cx="118872" cy="118872"/>
          </a:xfrm>
          <a:prstGeom prst="ellipse">
            <a:avLst/>
          </a:prstGeom>
          <a:solidFill>
            <a:srgbClr val="EEA901"/>
          </a:solidFill>
          <a:ln/>
        </p:spPr>
      </p:sp>
      <p:sp>
        <p:nvSpPr>
          <p:cNvPr id="15" name="Text 11"/>
          <p:cNvSpPr/>
          <p:nvPr/>
        </p:nvSpPr>
        <p:spPr>
          <a:xfrm>
            <a:off x="2286000" y="2121408"/>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You judge where the real, worthwhile gap sits.</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C'est vous qui jugez où se trouve la vraie lacune.</a:t>
            </a:r>
            <a:endParaRPr lang="en-US" sz="1300" dirty="0"/>
          </a:p>
        </p:txBody>
      </p:sp>
      <p:sp>
        <p:nvSpPr>
          <p:cNvPr id="16" name="Shape 12"/>
          <p:cNvSpPr/>
          <p:nvPr/>
        </p:nvSpPr>
        <p:spPr>
          <a:xfrm>
            <a:off x="2029968" y="2176272"/>
            <a:ext cx="118872" cy="118872"/>
          </a:xfrm>
          <a:prstGeom prst="ellipse">
            <a:avLst/>
          </a:prstGeom>
          <a:solidFill>
            <a:srgbClr val="EEA901"/>
          </a:solidFill>
          <a:ln/>
        </p:spPr>
      </p:sp>
      <p:sp>
        <p:nvSpPr>
          <p:cNvPr id="17" name="Text 13"/>
          <p:cNvSpPr/>
          <p:nvPr/>
        </p:nvSpPr>
        <p:spPr>
          <a:xfrm>
            <a:off x="2286000" y="2779776"/>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The reasoning is yours — that is the assessment.</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Le raisonnement est le vôtre — c'est cela l'évaluation.</a:t>
            </a:r>
            <a:endParaRPr lang="en-US" sz="1300" dirty="0"/>
          </a:p>
        </p:txBody>
      </p:sp>
      <p:sp>
        <p:nvSpPr>
          <p:cNvPr id="18" name="Shape 14"/>
          <p:cNvSpPr/>
          <p:nvPr/>
        </p:nvSpPr>
        <p:spPr>
          <a:xfrm>
            <a:off x="2029968" y="2834640"/>
            <a:ext cx="118872" cy="118872"/>
          </a:xfrm>
          <a:prstGeom prst="ellipse">
            <a:avLst/>
          </a:prstGeom>
          <a:solidFill>
            <a:srgbClr val="EEA901"/>
          </a:solidFill>
          <a:ln/>
        </p:spPr>
      </p:sp>
      <p:sp>
        <p:nvSpPr>
          <p:cNvPr id="19" name="Shape 15"/>
          <p:cNvSpPr/>
          <p:nvPr/>
        </p:nvSpPr>
        <p:spPr>
          <a:xfrm>
            <a:off x="457200" y="3584448"/>
            <a:ext cx="8229600" cy="1024128"/>
          </a:xfrm>
          <a:prstGeom prst="roundRect">
            <a:avLst>
              <a:gd name="adj" fmla="val 8036"/>
            </a:avLst>
          </a:prstGeom>
          <a:solidFill>
            <a:srgbClr val="FCF3D8"/>
          </a:solidFill>
          <a:ln/>
          <a:effectLst>
            <a:outerShdw sx="100000" sy="100000" kx="0" ky="0" algn="bl" rotWithShape="0" blurRad="88900" dist="38100" dir="5400000">
              <a:srgbClr val="10213F">
                <a:alpha val="15000"/>
              </a:srgbClr>
            </a:outerShdw>
          </a:effectLst>
        </p:spPr>
      </p:sp>
      <p:sp>
        <p:nvSpPr>
          <p:cNvPr id="20" name="Shape 16"/>
          <p:cNvSpPr/>
          <p:nvPr/>
        </p:nvSpPr>
        <p:spPr>
          <a:xfrm>
            <a:off x="676656" y="3767328"/>
            <a:ext cx="457200" cy="457200"/>
          </a:xfrm>
          <a:prstGeom prst="ellipse">
            <a:avLst/>
          </a:prstGeom>
          <a:solidFill>
            <a:srgbClr val="002C7C"/>
          </a:solidFill>
          <a:ln/>
        </p:spPr>
      </p:sp>
      <p:pic>
        <p:nvPicPr>
          <p:cNvPr id="21" name="Image 2" descr="preencoded.png">    </p:cNvPr>
          <p:cNvPicPr>
            <a:picLocks noChangeAspect="1"/>
          </p:cNvPicPr>
          <p:nvPr/>
        </p:nvPicPr>
        <p:blipFill>
          <a:blip r:embed="rId4"/>
          <a:stretch>
            <a:fillRect/>
          </a:stretch>
        </p:blipFill>
        <p:spPr>
          <a:xfrm>
            <a:off x="800100" y="3890772"/>
            <a:ext cx="210312" cy="210312"/>
          </a:xfrm>
          <a:prstGeom prst="rect">
            <a:avLst/>
          </a:prstGeom>
        </p:spPr>
      </p:pic>
      <p:sp>
        <p:nvSpPr>
          <p:cNvPr id="22" name="Text 17"/>
          <p:cNvSpPr/>
          <p:nvPr/>
        </p:nvSpPr>
        <p:spPr>
          <a:xfrm>
            <a:off x="1325880" y="3703320"/>
            <a:ext cx="7132320" cy="274320"/>
          </a:xfrm>
          <a:prstGeom prst="rect">
            <a:avLst/>
          </a:prstGeom>
          <a:noFill/>
          <a:ln/>
        </p:spPr>
        <p:txBody>
          <a:bodyPr wrap="square" lIns="0" tIns="0" rIns="0" bIns="0" rtlCol="0" anchor="ctr"/>
          <a:lstStyle/>
          <a:p>
            <a:pPr indent="0" marL="0">
              <a:buNone/>
            </a:pPr>
            <a:r>
              <a:rPr lang="en-US" sz="1000" b="1" spc="150" kern="0" dirty="0">
                <a:solidFill>
                  <a:srgbClr val="002C7C"/>
                </a:solidFill>
                <a:latin typeface="Arial" pitchFamily="34" charset="0"/>
                <a:ea typeface="Arial" pitchFamily="34" charset="-122"/>
                <a:cs typeface="Arial" pitchFamily="34" charset="-120"/>
              </a:rPr>
              <a:t>TRY THIS PROMPT  ·  ESSAYEZ CETTE CONSIGNE</a:t>
            </a:r>
            <a:endParaRPr lang="en-US" sz="1000" dirty="0"/>
          </a:p>
        </p:txBody>
      </p:sp>
      <p:sp>
        <p:nvSpPr>
          <p:cNvPr id="23" name="Text 18"/>
          <p:cNvSpPr/>
          <p:nvPr/>
        </p:nvSpPr>
        <p:spPr>
          <a:xfrm>
            <a:off x="1325880" y="3968496"/>
            <a:ext cx="7178040" cy="566928"/>
          </a:xfrm>
          <a:prstGeom prst="rect">
            <a:avLst/>
          </a:prstGeom>
          <a:noFill/>
          <a:ln/>
        </p:spPr>
        <p:txBody>
          <a:bodyPr wrap="square" lIns="0" tIns="0" rIns="0" bIns="0" rtlCol="0" anchor="ctr"/>
          <a:lstStyle/>
          <a:p>
            <a:pPr indent="0" marL="0">
              <a:lnSpc>
                <a:spcPct val="105000"/>
              </a:lnSpc>
              <a:buNone/>
            </a:pPr>
            <a:r>
              <a:rPr lang="en-US" sz="1150" i="1" dirty="0">
                <a:solidFill>
                  <a:srgbClr val="1F2733"/>
                </a:solidFill>
                <a:latin typeface="Arial" pitchFamily="34" charset="0"/>
                <a:ea typeface="Arial" pitchFamily="34" charset="-122"/>
                <a:cs typeface="Arial" pitchFamily="34" charset="-120"/>
              </a:rPr>
              <a:t>"Map the contending approaches and where they disagree. Do not tell me my gap — just lay out the landscape."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5" name="Text 2"/>
          <p:cNvSpPr/>
          <p:nvPr/>
        </p:nvSpPr>
        <p:spPr>
          <a:xfrm>
            <a:off x="457200" y="365760"/>
            <a:ext cx="548640" cy="548640"/>
          </a:xfrm>
          <a:prstGeom prst="rect">
            <a:avLst/>
          </a:prstGeom>
          <a:noFill/>
          <a:ln/>
        </p:spPr>
        <p:txBody>
          <a:bodyPr wrap="square" lIns="0" tIns="0" rIns="0" bIns="0" rtlCol="0" anchor="ctr"/>
          <a:lstStyle/>
          <a:p>
            <a:pPr algn="ctr" indent="0" marL="0">
              <a:buNone/>
            </a:pPr>
            <a:r>
              <a:rPr lang="en-US" sz="2400" b="1" dirty="0">
                <a:solidFill>
                  <a:srgbClr val="002C7C"/>
                </a:solidFill>
                <a:latin typeface="Arial" pitchFamily="34" charset="0"/>
                <a:ea typeface="Arial" pitchFamily="34" charset="-122"/>
                <a:cs typeface="Arial" pitchFamily="34" charset="-120"/>
              </a:rPr>
              <a:t>4</a:t>
            </a:r>
            <a:endParaRPr lang="en-US" sz="2400" dirty="0"/>
          </a:p>
        </p:txBody>
      </p:sp>
      <p:sp>
        <p:nvSpPr>
          <p:cNvPr id="6" name="Text 3"/>
          <p:cNvSpPr/>
          <p:nvPr/>
        </p:nvSpPr>
        <p:spPr>
          <a:xfrm>
            <a:off x="1188720" y="310896"/>
            <a:ext cx="530352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Scoping &amp; feasibility</a:t>
            </a:r>
            <a:endParaRPr lang="en-US" sz="2400" dirty="0"/>
          </a:p>
        </p:txBody>
      </p:sp>
      <p:sp>
        <p:nvSpPr>
          <p:cNvPr id="7" name="Shape 4"/>
          <p:cNvSpPr/>
          <p:nvPr/>
        </p:nvSpPr>
        <p:spPr>
          <a:xfrm>
            <a:off x="1216152" y="850392"/>
            <a:ext cx="1280160" cy="45720"/>
          </a:xfrm>
          <a:prstGeom prst="rect">
            <a:avLst/>
          </a:prstGeom>
          <a:solidFill>
            <a:srgbClr val="EEA901"/>
          </a:solidFill>
          <a:ln/>
        </p:spPr>
      </p:sp>
      <p:sp>
        <p:nvSpPr>
          <p:cNvPr id="8" name="Text 5"/>
          <p:cNvSpPr/>
          <p:nvPr/>
        </p:nvSpPr>
        <p:spPr>
          <a:xfrm>
            <a:off x="1188720" y="950976"/>
            <a:ext cx="5303520" cy="292608"/>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Cadrage et faisabilité</a:t>
            </a:r>
            <a:endParaRPr lang="en-US" sz="1250" dirty="0"/>
          </a:p>
        </p:txBody>
      </p:sp>
      <p:sp>
        <p:nvSpPr>
          <p:cNvPr id="9" name="Shape 6"/>
          <p:cNvSpPr/>
          <p:nvPr/>
        </p:nvSpPr>
        <p:spPr>
          <a:xfrm>
            <a:off x="6858000" y="420624"/>
            <a:ext cx="1828800" cy="420624"/>
          </a:xfrm>
          <a:prstGeom prst="roundRect">
            <a:avLst>
              <a:gd name="adj" fmla="val 17391"/>
            </a:avLst>
          </a:prstGeom>
          <a:solidFill>
            <a:srgbClr val="002C7C"/>
          </a:solidFill>
          <a:ln/>
        </p:spPr>
      </p:sp>
      <p:sp>
        <p:nvSpPr>
          <p:cNvPr id="10" name="Text 7"/>
          <p:cNvSpPr/>
          <p:nvPr/>
        </p:nvSpPr>
        <p:spPr>
          <a:xfrm>
            <a:off x="6858000" y="420624"/>
            <a:ext cx="182880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Claude Projects</a:t>
            </a:r>
            <a:endParaRPr lang="en-US" sz="1150" dirty="0"/>
          </a:p>
        </p:txBody>
      </p:sp>
      <p:sp>
        <p:nvSpPr>
          <p:cNvPr id="11" name="Shape 8"/>
          <p:cNvSpPr/>
          <p:nvPr/>
        </p:nvSpPr>
        <p:spPr>
          <a:xfrm>
            <a:off x="566928" y="1554480"/>
            <a:ext cx="1280160" cy="1280160"/>
          </a:xfrm>
          <a:prstGeom prst="ellipse">
            <a:avLst/>
          </a:prstGeom>
          <a:solidFill>
            <a:srgbClr val="002C7C"/>
          </a:solidFill>
          <a:ln/>
        </p:spPr>
      </p:sp>
      <p:pic>
        <p:nvPicPr>
          <p:cNvPr id="12" name="Image 1" descr="preencoded.png">    </p:cNvPr>
          <p:cNvPicPr>
            <a:picLocks noChangeAspect="1"/>
          </p:cNvPicPr>
          <p:nvPr/>
        </p:nvPicPr>
        <p:blipFill>
          <a:blip r:embed="rId3"/>
          <a:stretch>
            <a:fillRect/>
          </a:stretch>
        </p:blipFill>
        <p:spPr>
          <a:xfrm>
            <a:off x="912571" y="1900123"/>
            <a:ext cx="588874" cy="588874"/>
          </a:xfrm>
          <a:prstGeom prst="rect">
            <a:avLst/>
          </a:prstGeom>
        </p:spPr>
      </p:pic>
      <p:sp>
        <p:nvSpPr>
          <p:cNvPr id="13" name="Text 9"/>
          <p:cNvSpPr/>
          <p:nvPr/>
        </p:nvSpPr>
        <p:spPr>
          <a:xfrm>
            <a:off x="2286000" y="1463040"/>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A thinking partner for what is realistic.</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Un partenaire de réflexion sur ce qui est réaliste.</a:t>
            </a:r>
            <a:endParaRPr lang="en-US" sz="1300" dirty="0"/>
          </a:p>
        </p:txBody>
      </p:sp>
      <p:sp>
        <p:nvSpPr>
          <p:cNvPr id="14" name="Shape 10"/>
          <p:cNvSpPr/>
          <p:nvPr/>
        </p:nvSpPr>
        <p:spPr>
          <a:xfrm>
            <a:off x="2029968" y="1517904"/>
            <a:ext cx="118872" cy="118872"/>
          </a:xfrm>
          <a:prstGeom prst="ellipse">
            <a:avLst/>
          </a:prstGeom>
          <a:solidFill>
            <a:srgbClr val="EEA901"/>
          </a:solidFill>
          <a:ln/>
        </p:spPr>
      </p:sp>
      <p:sp>
        <p:nvSpPr>
          <p:cNvPr id="15" name="Text 11"/>
          <p:cNvSpPr/>
          <p:nvPr/>
        </p:nvSpPr>
        <p:spPr>
          <a:xfrm>
            <a:off x="2286000" y="2121408"/>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What data exists? What tools and time do you have?</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Quelles données ? Quels outils et quel temps avez-vous ?</a:t>
            </a:r>
            <a:endParaRPr lang="en-US" sz="1300" dirty="0"/>
          </a:p>
        </p:txBody>
      </p:sp>
      <p:sp>
        <p:nvSpPr>
          <p:cNvPr id="16" name="Shape 12"/>
          <p:cNvSpPr/>
          <p:nvPr/>
        </p:nvSpPr>
        <p:spPr>
          <a:xfrm>
            <a:off x="2029968" y="2176272"/>
            <a:ext cx="118872" cy="118872"/>
          </a:xfrm>
          <a:prstGeom prst="ellipse">
            <a:avLst/>
          </a:prstGeom>
          <a:solidFill>
            <a:srgbClr val="EEA901"/>
          </a:solidFill>
          <a:ln/>
        </p:spPr>
      </p:sp>
      <p:sp>
        <p:nvSpPr>
          <p:cNvPr id="17" name="Text 13"/>
          <p:cNvSpPr/>
          <p:nvPr/>
        </p:nvSpPr>
        <p:spPr>
          <a:xfrm>
            <a:off x="2286000" y="2779776"/>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Ask it to probe your constraints before it suggests.</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Lui demander de sonder vos contraintes avant de proposer.</a:t>
            </a:r>
            <a:endParaRPr lang="en-US" sz="1300" dirty="0"/>
          </a:p>
        </p:txBody>
      </p:sp>
      <p:sp>
        <p:nvSpPr>
          <p:cNvPr id="18" name="Shape 14"/>
          <p:cNvSpPr/>
          <p:nvPr/>
        </p:nvSpPr>
        <p:spPr>
          <a:xfrm>
            <a:off x="2029968" y="2834640"/>
            <a:ext cx="118872" cy="118872"/>
          </a:xfrm>
          <a:prstGeom prst="ellipse">
            <a:avLst/>
          </a:prstGeom>
          <a:solidFill>
            <a:srgbClr val="EEA901"/>
          </a:solidFill>
          <a:ln/>
        </p:spPr>
      </p:sp>
      <p:sp>
        <p:nvSpPr>
          <p:cNvPr id="19" name="Shape 15"/>
          <p:cNvSpPr/>
          <p:nvPr/>
        </p:nvSpPr>
        <p:spPr>
          <a:xfrm>
            <a:off x="457200" y="3584448"/>
            <a:ext cx="8229600" cy="1024128"/>
          </a:xfrm>
          <a:prstGeom prst="roundRect">
            <a:avLst>
              <a:gd name="adj" fmla="val 8036"/>
            </a:avLst>
          </a:prstGeom>
          <a:solidFill>
            <a:srgbClr val="FCF3D8"/>
          </a:solidFill>
          <a:ln/>
          <a:effectLst>
            <a:outerShdw sx="100000" sy="100000" kx="0" ky="0" algn="bl" rotWithShape="0" blurRad="88900" dist="38100" dir="5400000">
              <a:srgbClr val="10213F">
                <a:alpha val="15000"/>
              </a:srgbClr>
            </a:outerShdw>
          </a:effectLst>
        </p:spPr>
      </p:sp>
      <p:sp>
        <p:nvSpPr>
          <p:cNvPr id="20" name="Shape 16"/>
          <p:cNvSpPr/>
          <p:nvPr/>
        </p:nvSpPr>
        <p:spPr>
          <a:xfrm>
            <a:off x="676656" y="3767328"/>
            <a:ext cx="457200" cy="457200"/>
          </a:xfrm>
          <a:prstGeom prst="ellipse">
            <a:avLst/>
          </a:prstGeom>
          <a:solidFill>
            <a:srgbClr val="002C7C"/>
          </a:solidFill>
          <a:ln/>
        </p:spPr>
      </p:sp>
      <p:pic>
        <p:nvPicPr>
          <p:cNvPr id="21" name="Image 2" descr="preencoded.png">    </p:cNvPr>
          <p:cNvPicPr>
            <a:picLocks noChangeAspect="1"/>
          </p:cNvPicPr>
          <p:nvPr/>
        </p:nvPicPr>
        <p:blipFill>
          <a:blip r:embed="rId4"/>
          <a:stretch>
            <a:fillRect/>
          </a:stretch>
        </p:blipFill>
        <p:spPr>
          <a:xfrm>
            <a:off x="800100" y="3890772"/>
            <a:ext cx="210312" cy="210312"/>
          </a:xfrm>
          <a:prstGeom prst="rect">
            <a:avLst/>
          </a:prstGeom>
        </p:spPr>
      </p:pic>
      <p:sp>
        <p:nvSpPr>
          <p:cNvPr id="22" name="Text 17"/>
          <p:cNvSpPr/>
          <p:nvPr/>
        </p:nvSpPr>
        <p:spPr>
          <a:xfrm>
            <a:off x="1325880" y="3703320"/>
            <a:ext cx="7132320" cy="274320"/>
          </a:xfrm>
          <a:prstGeom prst="rect">
            <a:avLst/>
          </a:prstGeom>
          <a:noFill/>
          <a:ln/>
        </p:spPr>
        <p:txBody>
          <a:bodyPr wrap="square" lIns="0" tIns="0" rIns="0" bIns="0" rtlCol="0" anchor="ctr"/>
          <a:lstStyle/>
          <a:p>
            <a:pPr indent="0" marL="0">
              <a:buNone/>
            </a:pPr>
            <a:r>
              <a:rPr lang="en-US" sz="1000" b="1" spc="150" kern="0" dirty="0">
                <a:solidFill>
                  <a:srgbClr val="002C7C"/>
                </a:solidFill>
                <a:latin typeface="Arial" pitchFamily="34" charset="0"/>
                <a:ea typeface="Arial" pitchFamily="34" charset="-122"/>
                <a:cs typeface="Arial" pitchFamily="34" charset="-120"/>
              </a:rPr>
              <a:t>TRY THIS PROMPT  ·  ESSAYEZ CETTE CONSIGNE</a:t>
            </a:r>
            <a:endParaRPr lang="en-US" sz="1000" dirty="0"/>
          </a:p>
        </p:txBody>
      </p:sp>
      <p:sp>
        <p:nvSpPr>
          <p:cNvPr id="23" name="Text 18"/>
          <p:cNvSpPr/>
          <p:nvPr/>
        </p:nvSpPr>
        <p:spPr>
          <a:xfrm>
            <a:off x="1325880" y="3968496"/>
            <a:ext cx="7178040" cy="566928"/>
          </a:xfrm>
          <a:prstGeom prst="rect">
            <a:avLst/>
          </a:prstGeom>
          <a:noFill/>
          <a:ln/>
        </p:spPr>
        <p:txBody>
          <a:bodyPr wrap="square" lIns="0" tIns="0" rIns="0" bIns="0" rtlCol="0" anchor="ctr"/>
          <a:lstStyle/>
          <a:p>
            <a:pPr indent="0" marL="0">
              <a:lnSpc>
                <a:spcPct val="105000"/>
              </a:lnSpc>
              <a:buNone/>
            </a:pPr>
            <a:r>
              <a:rPr lang="en-US" sz="1150" i="1" dirty="0">
                <a:solidFill>
                  <a:srgbClr val="1F2733"/>
                </a:solidFill>
                <a:latin typeface="Arial" pitchFamily="34" charset="0"/>
                <a:ea typeface="Arial" pitchFamily="34" charset="-122"/>
                <a:cs typeface="Arial" pitchFamily="34" charset="-120"/>
              </a:rPr>
              <a:t>"Ask me about my data, tools and time before suggesting anything, then help me judge what is realistic."</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5" name="Text 2"/>
          <p:cNvSpPr/>
          <p:nvPr/>
        </p:nvSpPr>
        <p:spPr>
          <a:xfrm>
            <a:off x="457200" y="365760"/>
            <a:ext cx="548640" cy="548640"/>
          </a:xfrm>
          <a:prstGeom prst="rect">
            <a:avLst/>
          </a:prstGeom>
          <a:noFill/>
          <a:ln/>
        </p:spPr>
        <p:txBody>
          <a:bodyPr wrap="square" lIns="0" tIns="0" rIns="0" bIns="0" rtlCol="0" anchor="ctr"/>
          <a:lstStyle/>
          <a:p>
            <a:pPr algn="ctr" indent="0" marL="0">
              <a:buNone/>
            </a:pPr>
            <a:r>
              <a:rPr lang="en-US" sz="2400" b="1" dirty="0">
                <a:solidFill>
                  <a:srgbClr val="002C7C"/>
                </a:solidFill>
                <a:latin typeface="Arial" pitchFamily="34" charset="0"/>
                <a:ea typeface="Arial" pitchFamily="34" charset="-122"/>
                <a:cs typeface="Arial" pitchFamily="34" charset="-120"/>
              </a:rPr>
              <a:t>5</a:t>
            </a:r>
            <a:endParaRPr lang="en-US" sz="2400" dirty="0"/>
          </a:p>
        </p:txBody>
      </p:sp>
      <p:sp>
        <p:nvSpPr>
          <p:cNvPr id="6" name="Text 3"/>
          <p:cNvSpPr/>
          <p:nvPr/>
        </p:nvSpPr>
        <p:spPr>
          <a:xfrm>
            <a:off x="1188720" y="310896"/>
            <a:ext cx="530352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Workspace &amp; habits</a:t>
            </a:r>
            <a:endParaRPr lang="en-US" sz="2400" dirty="0"/>
          </a:p>
        </p:txBody>
      </p:sp>
      <p:sp>
        <p:nvSpPr>
          <p:cNvPr id="7" name="Shape 4"/>
          <p:cNvSpPr/>
          <p:nvPr/>
        </p:nvSpPr>
        <p:spPr>
          <a:xfrm>
            <a:off x="1216152" y="850392"/>
            <a:ext cx="1280160" cy="45720"/>
          </a:xfrm>
          <a:prstGeom prst="rect">
            <a:avLst/>
          </a:prstGeom>
          <a:solidFill>
            <a:srgbClr val="EEA901"/>
          </a:solidFill>
          <a:ln/>
        </p:spPr>
      </p:sp>
      <p:sp>
        <p:nvSpPr>
          <p:cNvPr id="8" name="Text 5"/>
          <p:cNvSpPr/>
          <p:nvPr/>
        </p:nvSpPr>
        <p:spPr>
          <a:xfrm>
            <a:off x="1188720" y="950976"/>
            <a:ext cx="5303520" cy="292608"/>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Espace de travail et habitudes</a:t>
            </a:r>
            <a:endParaRPr lang="en-US" sz="1250" dirty="0"/>
          </a:p>
        </p:txBody>
      </p:sp>
      <p:sp>
        <p:nvSpPr>
          <p:cNvPr id="9" name="Shape 6"/>
          <p:cNvSpPr/>
          <p:nvPr/>
        </p:nvSpPr>
        <p:spPr>
          <a:xfrm>
            <a:off x="6858000" y="420624"/>
            <a:ext cx="1828800" cy="420624"/>
          </a:xfrm>
          <a:prstGeom prst="roundRect">
            <a:avLst>
              <a:gd name="adj" fmla="val 17391"/>
            </a:avLst>
          </a:prstGeom>
          <a:solidFill>
            <a:srgbClr val="002C7C"/>
          </a:solidFill>
          <a:ln/>
        </p:spPr>
      </p:sp>
      <p:sp>
        <p:nvSpPr>
          <p:cNvPr id="10" name="Text 7"/>
          <p:cNvSpPr/>
          <p:nvPr/>
        </p:nvSpPr>
        <p:spPr>
          <a:xfrm>
            <a:off x="6858000" y="420624"/>
            <a:ext cx="1828800"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Claude Projects</a:t>
            </a:r>
            <a:endParaRPr lang="en-US" sz="1150" dirty="0"/>
          </a:p>
        </p:txBody>
      </p:sp>
      <p:sp>
        <p:nvSpPr>
          <p:cNvPr id="11" name="Shape 8"/>
          <p:cNvSpPr/>
          <p:nvPr/>
        </p:nvSpPr>
        <p:spPr>
          <a:xfrm>
            <a:off x="566928" y="1554480"/>
            <a:ext cx="1280160" cy="1280160"/>
          </a:xfrm>
          <a:prstGeom prst="ellipse">
            <a:avLst/>
          </a:prstGeom>
          <a:solidFill>
            <a:srgbClr val="002C7C"/>
          </a:solidFill>
          <a:ln/>
        </p:spPr>
      </p:sp>
      <p:pic>
        <p:nvPicPr>
          <p:cNvPr id="12" name="Image 1" descr="preencoded.png">    </p:cNvPr>
          <p:cNvPicPr>
            <a:picLocks noChangeAspect="1"/>
          </p:cNvPicPr>
          <p:nvPr/>
        </p:nvPicPr>
        <p:blipFill>
          <a:blip r:embed="rId3"/>
          <a:stretch>
            <a:fillRect/>
          </a:stretch>
        </p:blipFill>
        <p:spPr>
          <a:xfrm>
            <a:off x="912571" y="1900123"/>
            <a:ext cx="588874" cy="588874"/>
          </a:xfrm>
          <a:prstGeom prst="rect">
            <a:avLst/>
          </a:prstGeom>
        </p:spPr>
      </p:pic>
      <p:sp>
        <p:nvSpPr>
          <p:cNvPr id="13" name="Text 9"/>
          <p:cNvSpPr/>
          <p:nvPr/>
        </p:nvSpPr>
        <p:spPr>
          <a:xfrm>
            <a:off x="2286000" y="1463040"/>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A Claude Project becomes a persistent research workspace.</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Un Projet Claude devient un espace de recherche durable.</a:t>
            </a:r>
            <a:endParaRPr lang="en-US" sz="1300" dirty="0"/>
          </a:p>
        </p:txBody>
      </p:sp>
      <p:sp>
        <p:nvSpPr>
          <p:cNvPr id="14" name="Shape 10"/>
          <p:cNvSpPr/>
          <p:nvPr/>
        </p:nvSpPr>
        <p:spPr>
          <a:xfrm>
            <a:off x="2029968" y="1517904"/>
            <a:ext cx="118872" cy="118872"/>
          </a:xfrm>
          <a:prstGeom prst="ellipse">
            <a:avLst/>
          </a:prstGeom>
          <a:solidFill>
            <a:srgbClr val="EEA901"/>
          </a:solidFill>
          <a:ln/>
        </p:spPr>
      </p:sp>
      <p:sp>
        <p:nvSpPr>
          <p:cNvPr id="15" name="Text 11"/>
          <p:cNvSpPr/>
          <p:nvPr/>
        </p:nvSpPr>
        <p:spPr>
          <a:xfrm>
            <a:off x="2286000" y="2121408"/>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It models good habits: sources, a research log, why you read.</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Il ancre de bonnes habitudes : sources, journal, traçabilité.</a:t>
            </a:r>
            <a:endParaRPr lang="en-US" sz="1300" dirty="0"/>
          </a:p>
        </p:txBody>
      </p:sp>
      <p:sp>
        <p:nvSpPr>
          <p:cNvPr id="16" name="Shape 12"/>
          <p:cNvSpPr/>
          <p:nvPr/>
        </p:nvSpPr>
        <p:spPr>
          <a:xfrm>
            <a:off x="2029968" y="2176272"/>
            <a:ext cx="118872" cy="118872"/>
          </a:xfrm>
          <a:prstGeom prst="ellipse">
            <a:avLst/>
          </a:prstGeom>
          <a:solidFill>
            <a:srgbClr val="EEA901"/>
          </a:solidFill>
          <a:ln/>
        </p:spPr>
      </p:sp>
      <p:sp>
        <p:nvSpPr>
          <p:cNvPr id="17" name="Text 13"/>
          <p:cNvSpPr/>
          <p:nvPr/>
        </p:nvSpPr>
        <p:spPr>
          <a:xfrm>
            <a:off x="2286000" y="2779776"/>
            <a:ext cx="6400800" cy="603504"/>
          </a:xfrm>
          <a:prstGeom prst="rect">
            <a:avLst/>
          </a:prstGeom>
          <a:noFill/>
          <a:ln/>
        </p:spPr>
        <p:txBody>
          <a:bodyPr wrap="square" lIns="0" tIns="0" rIns="0" bIns="0" rtlCol="0" anchor="t"/>
          <a:lstStyle/>
          <a:p>
            <a:pPr indent="0" marL="0">
              <a:lnSpc>
                <a:spcPct val="106000"/>
              </a:lnSpc>
              <a:buNone/>
            </a:pPr>
            <a:r>
              <a:rPr lang="en-US" sz="1300" b="1" dirty="0">
                <a:solidFill>
                  <a:srgbClr val="1F2733"/>
                </a:solidFill>
                <a:latin typeface="Arial" pitchFamily="34" charset="0"/>
                <a:ea typeface="Arial" pitchFamily="34" charset="-122"/>
                <a:cs typeface="Arial" pitchFamily="34" charset="-120"/>
              </a:rPr>
              <a:t>You leave with a configured environment, not just notes.</a:t>
            </a:r>
            <a:endParaRPr lang="en-US" sz="1300" dirty="0"/>
          </a:p>
          <a:p>
            <a:pPr indent="0" marL="0">
              <a:lnSpc>
                <a:spcPct val="106000"/>
              </a:lnSpc>
              <a:buNone/>
            </a:pPr>
            <a:r>
              <a:rPr lang="en-US" sz="1300" i="1" dirty="0">
                <a:solidFill>
                  <a:srgbClr val="5B6675"/>
                </a:solidFill>
                <a:latin typeface="Arial" pitchFamily="34" charset="0"/>
                <a:ea typeface="Arial" pitchFamily="34" charset="-122"/>
                <a:cs typeface="Arial" pitchFamily="34" charset="-120"/>
              </a:rPr>
              <a:t>Vous repartez avec un environnement configuré, pas des notes.</a:t>
            </a:r>
            <a:endParaRPr lang="en-US" sz="1300" dirty="0"/>
          </a:p>
        </p:txBody>
      </p:sp>
      <p:sp>
        <p:nvSpPr>
          <p:cNvPr id="18" name="Shape 14"/>
          <p:cNvSpPr/>
          <p:nvPr/>
        </p:nvSpPr>
        <p:spPr>
          <a:xfrm>
            <a:off x="2029968" y="2834640"/>
            <a:ext cx="118872" cy="118872"/>
          </a:xfrm>
          <a:prstGeom prst="ellipse">
            <a:avLst/>
          </a:prstGeom>
          <a:solidFill>
            <a:srgbClr val="EEA901"/>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assets/sunypoly_navy.png">    </p:cNvPr>
          <p:cNvPicPr>
            <a:picLocks noChangeAspect="1"/>
          </p:cNvPicPr>
          <p:nvPr/>
        </p:nvPicPr>
        <p:blipFill>
          <a:blip r:embed="rId2"/>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002C7C"/>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457200" y="365760"/>
            <a:ext cx="548640" cy="548640"/>
          </a:xfrm>
          <a:prstGeom prst="ellipse">
            <a:avLst/>
          </a:prstGeom>
          <a:solidFill>
            <a:srgbClr val="EEA901"/>
          </a:solidFill>
          <a:ln/>
          <a:effectLst>
            <a:outerShdw sx="100000" sy="100000" kx="0" ky="0" algn="bl" rotWithShape="0" blurRad="88900" dist="38100" dir="5400000">
              <a:srgbClr val="10213F">
                <a:alpha val="15000"/>
              </a:srgbClr>
            </a:outerShdw>
          </a:effectLst>
        </p:spPr>
      </p:sp>
      <p:sp>
        <p:nvSpPr>
          <p:cNvPr id="5" name="Text 2"/>
          <p:cNvSpPr/>
          <p:nvPr/>
        </p:nvSpPr>
        <p:spPr>
          <a:xfrm>
            <a:off x="457200" y="365760"/>
            <a:ext cx="548640" cy="548640"/>
          </a:xfrm>
          <a:prstGeom prst="rect">
            <a:avLst/>
          </a:prstGeom>
          <a:noFill/>
          <a:ln/>
        </p:spPr>
        <p:txBody>
          <a:bodyPr wrap="square" lIns="0" tIns="0" rIns="0" bIns="0" rtlCol="0" anchor="ctr"/>
          <a:lstStyle/>
          <a:p>
            <a:pPr algn="ctr" indent="0" marL="0">
              <a:buNone/>
            </a:pPr>
            <a:r>
              <a:rPr lang="en-US" sz="2400" b="1" dirty="0">
                <a:solidFill>
                  <a:srgbClr val="002C7C"/>
                </a:solidFill>
                <a:latin typeface="Arial" pitchFamily="34" charset="0"/>
                <a:ea typeface="Arial" pitchFamily="34" charset="-122"/>
                <a:cs typeface="Arial" pitchFamily="34" charset="-120"/>
              </a:rPr>
              <a:t>★</a:t>
            </a:r>
            <a:endParaRPr lang="en-US" sz="2400" dirty="0"/>
          </a:p>
        </p:txBody>
      </p:sp>
      <p:sp>
        <p:nvSpPr>
          <p:cNvPr id="6" name="Text 3"/>
          <p:cNvSpPr/>
          <p:nvPr/>
        </p:nvSpPr>
        <p:spPr>
          <a:xfrm>
            <a:off x="1188720" y="310896"/>
            <a:ext cx="7223760" cy="457200"/>
          </a:xfrm>
          <a:prstGeom prst="rect">
            <a:avLst/>
          </a:prstGeom>
          <a:noFill/>
          <a:ln/>
        </p:spPr>
        <p:txBody>
          <a:bodyPr wrap="square" lIns="0" tIns="0" rIns="0" bIns="0" rtlCol="0" anchor="ctr"/>
          <a:lstStyle/>
          <a:p>
            <a:pPr indent="0" marL="0">
              <a:buNone/>
            </a:pPr>
            <a:r>
              <a:rPr lang="en-US" sz="2400" b="1" dirty="0">
                <a:solidFill>
                  <a:srgbClr val="002C7C"/>
                </a:solidFill>
                <a:latin typeface="Arial" pitchFamily="34" charset="0"/>
                <a:ea typeface="Arial" pitchFamily="34" charset="-122"/>
                <a:cs typeface="Arial" pitchFamily="34" charset="-120"/>
              </a:rPr>
              <a:t>Our live use cases</a:t>
            </a:r>
            <a:endParaRPr lang="en-US" sz="2400" dirty="0"/>
          </a:p>
        </p:txBody>
      </p:sp>
      <p:sp>
        <p:nvSpPr>
          <p:cNvPr id="7" name="Shape 4"/>
          <p:cNvSpPr/>
          <p:nvPr/>
        </p:nvSpPr>
        <p:spPr>
          <a:xfrm>
            <a:off x="1216152" y="850392"/>
            <a:ext cx="1280160" cy="45720"/>
          </a:xfrm>
          <a:prstGeom prst="rect">
            <a:avLst/>
          </a:prstGeom>
          <a:solidFill>
            <a:srgbClr val="EEA901"/>
          </a:solidFill>
          <a:ln/>
        </p:spPr>
      </p:sp>
      <p:sp>
        <p:nvSpPr>
          <p:cNvPr id="8" name="Text 5"/>
          <p:cNvSpPr/>
          <p:nvPr/>
        </p:nvSpPr>
        <p:spPr>
          <a:xfrm>
            <a:off x="1188720" y="950976"/>
            <a:ext cx="7223760" cy="292608"/>
          </a:xfrm>
          <a:prstGeom prst="rect">
            <a:avLst/>
          </a:prstGeom>
          <a:noFill/>
          <a:ln/>
        </p:spPr>
        <p:txBody>
          <a:bodyPr wrap="square" lIns="0" tIns="0" rIns="0" bIns="0" rtlCol="0" anchor="ctr"/>
          <a:lstStyle/>
          <a:p>
            <a:pPr indent="0" marL="0">
              <a:buNone/>
            </a:pPr>
            <a:r>
              <a:rPr lang="en-US" sz="1250" i="1" dirty="0">
                <a:solidFill>
                  <a:srgbClr val="5B6675"/>
                </a:solidFill>
                <a:latin typeface="Arial" pitchFamily="34" charset="0"/>
                <a:ea typeface="Arial" pitchFamily="34" charset="-122"/>
                <a:cs typeface="Arial" pitchFamily="34" charset="-120"/>
              </a:rPr>
              <a:t>Nos cas pratiques en direct</a:t>
            </a:r>
            <a:endParaRPr lang="en-US" sz="1250" dirty="0"/>
          </a:p>
        </p:txBody>
      </p:sp>
      <p:sp>
        <p:nvSpPr>
          <p:cNvPr id="9" name="Shape 6"/>
          <p:cNvSpPr/>
          <p:nvPr/>
        </p:nvSpPr>
        <p:spPr>
          <a:xfrm>
            <a:off x="457200" y="1463040"/>
            <a:ext cx="3886200" cy="2194560"/>
          </a:xfrm>
          <a:prstGeom prst="roundRect">
            <a:avLst>
              <a:gd name="adj" fmla="val 3750"/>
            </a:avLst>
          </a:prstGeom>
          <a:solidFill>
            <a:srgbClr val="EAF0FA"/>
          </a:solidFill>
          <a:ln/>
          <a:effectLst>
            <a:outerShdw sx="100000" sy="100000" kx="0" ky="0" algn="bl" rotWithShape="0" blurRad="88900" dist="38100" dir="5400000">
              <a:srgbClr val="10213F">
                <a:alpha val="15000"/>
              </a:srgbClr>
            </a:outerShdw>
          </a:effectLst>
        </p:spPr>
      </p:sp>
      <p:sp>
        <p:nvSpPr>
          <p:cNvPr id="10" name="Shape 7"/>
          <p:cNvSpPr/>
          <p:nvPr/>
        </p:nvSpPr>
        <p:spPr>
          <a:xfrm>
            <a:off x="749808" y="1737360"/>
            <a:ext cx="603504" cy="603504"/>
          </a:xfrm>
          <a:prstGeom prst="ellipse">
            <a:avLst/>
          </a:prstGeom>
          <a:solidFill>
            <a:srgbClr val="002C7C"/>
          </a:solidFill>
          <a:ln/>
        </p:spPr>
      </p:sp>
      <p:pic>
        <p:nvPicPr>
          <p:cNvPr id="11" name="Image 1" descr="preencoded.png">    </p:cNvPr>
          <p:cNvPicPr>
            <a:picLocks noChangeAspect="1"/>
          </p:cNvPicPr>
          <p:nvPr/>
        </p:nvPicPr>
        <p:blipFill>
          <a:blip r:embed="rId3"/>
          <a:stretch>
            <a:fillRect/>
          </a:stretch>
        </p:blipFill>
        <p:spPr>
          <a:xfrm>
            <a:off x="912754" y="1900306"/>
            <a:ext cx="277612" cy="277612"/>
          </a:xfrm>
          <a:prstGeom prst="rect">
            <a:avLst/>
          </a:prstGeom>
        </p:spPr>
      </p:pic>
      <p:sp>
        <p:nvSpPr>
          <p:cNvPr id="12" name="Text 8"/>
          <p:cNvSpPr/>
          <p:nvPr/>
        </p:nvSpPr>
        <p:spPr>
          <a:xfrm>
            <a:off x="1508760" y="1737360"/>
            <a:ext cx="2697480" cy="603504"/>
          </a:xfrm>
          <a:prstGeom prst="rect">
            <a:avLst/>
          </a:prstGeom>
          <a:noFill/>
          <a:ln/>
        </p:spPr>
        <p:txBody>
          <a:bodyPr wrap="square" lIns="0" tIns="0" rIns="0" bIns="0" rtlCol="0" anchor="ctr"/>
          <a:lstStyle/>
          <a:p>
            <a:pPr indent="0" marL="0">
              <a:buNone/>
            </a:pPr>
            <a:r>
              <a:rPr lang="en-US" sz="1700" b="1" dirty="0">
                <a:solidFill>
                  <a:srgbClr val="002C7C"/>
                </a:solidFill>
                <a:latin typeface="Arial" pitchFamily="34" charset="0"/>
                <a:ea typeface="Arial" pitchFamily="34" charset="-122"/>
                <a:cs typeface="Arial" pitchFamily="34" charset="-120"/>
              </a:rPr>
              <a:t>Gisèle</a:t>
            </a:r>
            <a:endParaRPr lang="en-US" sz="1700" dirty="0"/>
          </a:p>
        </p:txBody>
      </p:sp>
      <p:sp>
        <p:nvSpPr>
          <p:cNvPr id="13" name="Text 9"/>
          <p:cNvSpPr/>
          <p:nvPr/>
        </p:nvSpPr>
        <p:spPr>
          <a:xfrm>
            <a:off x="749808" y="2450592"/>
            <a:ext cx="3337560" cy="640080"/>
          </a:xfrm>
          <a:prstGeom prst="rect">
            <a:avLst/>
          </a:prstGeom>
          <a:noFill/>
          <a:ln/>
        </p:spPr>
        <p:txBody>
          <a:bodyPr wrap="square" lIns="0" tIns="0" rIns="0" bIns="0" rtlCol="0" anchor="ctr"/>
          <a:lstStyle/>
          <a:p>
            <a:pPr indent="0" marL="0">
              <a:lnSpc>
                <a:spcPct val="108000"/>
              </a:lnSpc>
              <a:buNone/>
            </a:pPr>
            <a:r>
              <a:rPr lang="en-US" sz="1200" dirty="0">
                <a:solidFill>
                  <a:srgbClr val="1F2733"/>
                </a:solidFill>
                <a:latin typeface="Arial" pitchFamily="34" charset="0"/>
                <a:ea typeface="Arial" pitchFamily="34" charset="-122"/>
                <a:cs typeface="Arial" pitchFamily="34" charset="-120"/>
              </a:rPr>
              <a:t>Interconnecting the Northern grid (NIG) with Chad's national grid.</a:t>
            </a:r>
            <a:endParaRPr lang="en-US" sz="1200" dirty="0"/>
          </a:p>
        </p:txBody>
      </p:sp>
      <p:sp>
        <p:nvSpPr>
          <p:cNvPr id="14" name="Text 10"/>
          <p:cNvSpPr/>
          <p:nvPr/>
        </p:nvSpPr>
        <p:spPr>
          <a:xfrm>
            <a:off x="749808" y="3054096"/>
            <a:ext cx="3337560" cy="548640"/>
          </a:xfrm>
          <a:prstGeom prst="rect">
            <a:avLst/>
          </a:prstGeom>
          <a:noFill/>
          <a:ln/>
        </p:spPr>
        <p:txBody>
          <a:bodyPr wrap="square" lIns="0" tIns="0" rIns="0" bIns="0" rtlCol="0" anchor="ctr"/>
          <a:lstStyle/>
          <a:p>
            <a:pPr indent="0" marL="0">
              <a:lnSpc>
                <a:spcPct val="105000"/>
              </a:lnSpc>
              <a:buNone/>
            </a:pPr>
            <a:r>
              <a:rPr lang="en-US" sz="1050" i="1" dirty="0">
                <a:solidFill>
                  <a:srgbClr val="5B6675"/>
                </a:solidFill>
                <a:latin typeface="Arial" pitchFamily="34" charset="0"/>
                <a:ea typeface="Arial" pitchFamily="34" charset="-122"/>
                <a:cs typeface="Arial" pitchFamily="34" charset="-120"/>
              </a:rPr>
              <a:t>Interconnexion du réseau Nord (NIG) avec le réseau national tchadien.</a:t>
            </a:r>
            <a:endParaRPr lang="en-US" sz="1050" dirty="0"/>
          </a:p>
        </p:txBody>
      </p:sp>
      <p:sp>
        <p:nvSpPr>
          <p:cNvPr id="15" name="Shape 11"/>
          <p:cNvSpPr/>
          <p:nvPr/>
        </p:nvSpPr>
        <p:spPr>
          <a:xfrm>
            <a:off x="4800600" y="1463040"/>
            <a:ext cx="3886200" cy="2194560"/>
          </a:xfrm>
          <a:prstGeom prst="roundRect">
            <a:avLst>
              <a:gd name="adj" fmla="val 3750"/>
            </a:avLst>
          </a:prstGeom>
          <a:solidFill>
            <a:srgbClr val="EAF0FA"/>
          </a:solidFill>
          <a:ln/>
          <a:effectLst>
            <a:outerShdw sx="100000" sy="100000" kx="0" ky="0" algn="bl" rotWithShape="0" blurRad="88900" dist="38100" dir="5400000">
              <a:srgbClr val="10213F">
                <a:alpha val="15000"/>
              </a:srgbClr>
            </a:outerShdw>
          </a:effectLst>
        </p:spPr>
      </p:sp>
      <p:sp>
        <p:nvSpPr>
          <p:cNvPr id="16" name="Shape 12"/>
          <p:cNvSpPr/>
          <p:nvPr/>
        </p:nvSpPr>
        <p:spPr>
          <a:xfrm>
            <a:off x="5093208" y="1737360"/>
            <a:ext cx="603504" cy="603504"/>
          </a:xfrm>
          <a:prstGeom prst="ellipse">
            <a:avLst/>
          </a:prstGeom>
          <a:solidFill>
            <a:srgbClr val="EEA901"/>
          </a:solidFill>
          <a:ln/>
        </p:spPr>
      </p:sp>
      <p:pic>
        <p:nvPicPr>
          <p:cNvPr id="17" name="Image 2" descr="preencoded.png">    </p:cNvPr>
          <p:cNvPicPr>
            <a:picLocks noChangeAspect="1"/>
          </p:cNvPicPr>
          <p:nvPr/>
        </p:nvPicPr>
        <p:blipFill>
          <a:blip r:embed="rId4"/>
          <a:stretch>
            <a:fillRect/>
          </a:stretch>
        </p:blipFill>
        <p:spPr>
          <a:xfrm>
            <a:off x="5256154" y="1900306"/>
            <a:ext cx="277612" cy="277612"/>
          </a:xfrm>
          <a:prstGeom prst="rect">
            <a:avLst/>
          </a:prstGeom>
        </p:spPr>
      </p:pic>
      <p:sp>
        <p:nvSpPr>
          <p:cNvPr id="18" name="Text 13"/>
          <p:cNvSpPr/>
          <p:nvPr/>
        </p:nvSpPr>
        <p:spPr>
          <a:xfrm>
            <a:off x="5852160" y="1737360"/>
            <a:ext cx="2697480" cy="603504"/>
          </a:xfrm>
          <a:prstGeom prst="rect">
            <a:avLst/>
          </a:prstGeom>
          <a:noFill/>
          <a:ln/>
        </p:spPr>
        <p:txBody>
          <a:bodyPr wrap="square" lIns="0" tIns="0" rIns="0" bIns="0" rtlCol="0" anchor="ctr"/>
          <a:lstStyle/>
          <a:p>
            <a:pPr indent="0" marL="0">
              <a:buNone/>
            </a:pPr>
            <a:r>
              <a:rPr lang="en-US" sz="1700" b="1" dirty="0">
                <a:solidFill>
                  <a:srgbClr val="002C7C"/>
                </a:solidFill>
                <a:latin typeface="Arial" pitchFamily="34" charset="0"/>
                <a:ea typeface="Arial" pitchFamily="34" charset="-122"/>
                <a:cs typeface="Arial" pitchFamily="34" charset="-120"/>
              </a:rPr>
              <a:t>Brice</a:t>
            </a:r>
            <a:endParaRPr lang="en-US" sz="1700" dirty="0"/>
          </a:p>
        </p:txBody>
      </p:sp>
      <p:sp>
        <p:nvSpPr>
          <p:cNvPr id="19" name="Text 14"/>
          <p:cNvSpPr/>
          <p:nvPr/>
        </p:nvSpPr>
        <p:spPr>
          <a:xfrm>
            <a:off x="5093208" y="2450592"/>
            <a:ext cx="3337560" cy="640080"/>
          </a:xfrm>
          <a:prstGeom prst="rect">
            <a:avLst/>
          </a:prstGeom>
          <a:noFill/>
          <a:ln/>
        </p:spPr>
        <p:txBody>
          <a:bodyPr wrap="square" lIns="0" tIns="0" rIns="0" bIns="0" rtlCol="0" anchor="ctr"/>
          <a:lstStyle/>
          <a:p>
            <a:pPr indent="0" marL="0">
              <a:lnSpc>
                <a:spcPct val="108000"/>
              </a:lnSpc>
              <a:buNone/>
            </a:pPr>
            <a:r>
              <a:rPr lang="en-US" sz="1200" dirty="0">
                <a:solidFill>
                  <a:srgbClr val="1F2733"/>
                </a:solidFill>
                <a:latin typeface="Arial" pitchFamily="34" charset="0"/>
                <a:ea typeface="Arial" pitchFamily="34" charset="-122"/>
                <a:cs typeface="Arial" pitchFamily="34" charset="-120"/>
              </a:rPr>
              <a:t>AI for the RIS–RIN interconnection: stability and energy efficiency.</a:t>
            </a:r>
            <a:endParaRPr lang="en-US" sz="1200" dirty="0"/>
          </a:p>
        </p:txBody>
      </p:sp>
      <p:sp>
        <p:nvSpPr>
          <p:cNvPr id="20" name="Text 15"/>
          <p:cNvSpPr/>
          <p:nvPr/>
        </p:nvSpPr>
        <p:spPr>
          <a:xfrm>
            <a:off x="5093208" y="3054096"/>
            <a:ext cx="3337560" cy="548640"/>
          </a:xfrm>
          <a:prstGeom prst="rect">
            <a:avLst/>
          </a:prstGeom>
          <a:noFill/>
          <a:ln/>
        </p:spPr>
        <p:txBody>
          <a:bodyPr wrap="square" lIns="0" tIns="0" rIns="0" bIns="0" rtlCol="0" anchor="ctr"/>
          <a:lstStyle/>
          <a:p>
            <a:pPr indent="0" marL="0">
              <a:lnSpc>
                <a:spcPct val="105000"/>
              </a:lnSpc>
              <a:buNone/>
            </a:pPr>
            <a:r>
              <a:rPr lang="en-US" sz="1050" i="1" dirty="0">
                <a:solidFill>
                  <a:srgbClr val="5B6675"/>
                </a:solidFill>
                <a:latin typeface="Arial" pitchFamily="34" charset="0"/>
                <a:ea typeface="Arial" pitchFamily="34" charset="-122"/>
                <a:cs typeface="Arial" pitchFamily="34" charset="-120"/>
              </a:rPr>
              <a:t>L'IA pour l'interconnexion RIS–RIN : stabilité et efficacité énergétique.</a:t>
            </a:r>
            <a:endParaRPr lang="en-US" sz="1050" dirty="0"/>
          </a:p>
        </p:txBody>
      </p:sp>
      <p:sp>
        <p:nvSpPr>
          <p:cNvPr id="21" name="Text 16"/>
          <p:cNvSpPr/>
          <p:nvPr/>
        </p:nvSpPr>
        <p:spPr>
          <a:xfrm>
            <a:off x="457200" y="3931920"/>
            <a:ext cx="8229600" cy="457200"/>
          </a:xfrm>
          <a:prstGeom prst="rect">
            <a:avLst/>
          </a:prstGeom>
          <a:noFill/>
          <a:ln/>
        </p:spPr>
        <p:txBody>
          <a:bodyPr wrap="square" lIns="0" tIns="0" rIns="0" bIns="0" rtlCol="0" anchor="ctr"/>
          <a:lstStyle/>
          <a:p>
            <a:pPr algn="ctr" indent="0" marL="0">
              <a:lnSpc>
                <a:spcPct val="105000"/>
              </a:lnSpc>
              <a:buNone/>
            </a:pPr>
            <a:r>
              <a:rPr lang="en-US" sz="1150" b="1" dirty="0">
                <a:solidFill>
                  <a:srgbClr val="002C7C"/>
                </a:solidFill>
                <a:latin typeface="Arial" pitchFamily="34" charset="0"/>
                <a:ea typeface="Arial" pitchFamily="34" charset="-122"/>
                <a:cs typeface="Arial" pitchFamily="34" charset="-120"/>
              </a:rPr>
              <a:t>Their questions are already defined — so the five steps become visible, not hypothetical.  ·  Leurs sujets sont déjà définis.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2C7C"/>
        </a:solidFill>
      </p:bgPr>
    </p:bg>
    <p:spTree>
      <p:nvGrpSpPr>
        <p:cNvPr id="1" name=""/>
        <p:cNvGrpSpPr/>
        <p:nvPr/>
      </p:nvGrpSpPr>
      <p:grpSpPr>
        <a:xfrm>
          <a:off x="0" y="0"/>
          <a:ext cx="0" cy="0"/>
          <a:chOff x="0" y="0"/>
          <a:chExt cx="0" cy="0"/>
        </a:xfrm>
      </p:grpSpPr>
      <p:pic>
        <p:nvPicPr>
          <p:cNvPr id="2" name="Image 0" descr="/home/claude/assets/sunypoly_white_horiz.png">    </p:cNvPr>
          <p:cNvPicPr>
            <a:picLocks noChangeAspect="1"/>
          </p:cNvPicPr>
          <p:nvPr/>
        </p:nvPicPr>
        <p:blipFill>
          <a:blip r:embed="rId1"/>
          <a:stretch>
            <a:fillRect/>
          </a:stretch>
        </p:blipFill>
        <p:spPr>
          <a:xfrm>
            <a:off x="411480" y="4736592"/>
            <a:ext cx="1298448" cy="194767"/>
          </a:xfrm>
          <a:prstGeom prst="rect">
            <a:avLst/>
          </a:prstGeom>
        </p:spPr>
      </p:pic>
      <p:sp>
        <p:nvSpPr>
          <p:cNvPr id="3" name="Text 0"/>
          <p:cNvSpPr/>
          <p:nvPr/>
        </p:nvSpPr>
        <p:spPr>
          <a:xfrm>
            <a:off x="1764792" y="4681728"/>
            <a:ext cx="118872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 AIX</a:t>
            </a:r>
            <a:endParaRPr lang="en-US" sz="1350" dirty="0"/>
          </a:p>
        </p:txBody>
      </p:sp>
      <p:sp>
        <p:nvSpPr>
          <p:cNvPr id="4" name="Shape 1"/>
          <p:cNvSpPr/>
          <p:nvPr/>
        </p:nvSpPr>
        <p:spPr>
          <a:xfrm>
            <a:off x="502920" y="457200"/>
            <a:ext cx="603504" cy="603504"/>
          </a:xfrm>
          <a:prstGeom prst="ellipse">
            <a:avLst/>
          </a:prstGeom>
          <a:solidFill>
            <a:srgbClr val="EEA901"/>
          </a:solidFill>
          <a:ln/>
        </p:spPr>
      </p:sp>
      <p:pic>
        <p:nvPicPr>
          <p:cNvPr id="5" name="Image 1" descr="preencoded.png">    </p:cNvPr>
          <p:cNvPicPr>
            <a:picLocks noChangeAspect="1"/>
          </p:cNvPicPr>
          <p:nvPr/>
        </p:nvPicPr>
        <p:blipFill>
          <a:blip r:embed="rId2"/>
          <a:stretch>
            <a:fillRect/>
          </a:stretch>
        </p:blipFill>
        <p:spPr>
          <a:xfrm>
            <a:off x="665866" y="620146"/>
            <a:ext cx="277612" cy="277612"/>
          </a:xfrm>
          <a:prstGeom prst="rect">
            <a:avLst/>
          </a:prstGeom>
        </p:spPr>
      </p:pic>
      <p:sp>
        <p:nvSpPr>
          <p:cNvPr id="6" name="Text 2"/>
          <p:cNvSpPr/>
          <p:nvPr/>
        </p:nvSpPr>
        <p:spPr>
          <a:xfrm>
            <a:off x="1280160" y="420624"/>
            <a:ext cx="6400800" cy="4572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What you leave with</a:t>
            </a:r>
            <a:endParaRPr lang="en-US" sz="2600" dirty="0"/>
          </a:p>
        </p:txBody>
      </p:sp>
      <p:sp>
        <p:nvSpPr>
          <p:cNvPr id="7" name="Text 3"/>
          <p:cNvSpPr/>
          <p:nvPr/>
        </p:nvSpPr>
        <p:spPr>
          <a:xfrm>
            <a:off x="1280160" y="914400"/>
            <a:ext cx="6400800" cy="320040"/>
          </a:xfrm>
          <a:prstGeom prst="rect">
            <a:avLst/>
          </a:prstGeom>
          <a:noFill/>
          <a:ln/>
        </p:spPr>
        <p:txBody>
          <a:bodyPr wrap="square" lIns="0" tIns="0" rIns="0" bIns="0" rtlCol="0" anchor="ctr"/>
          <a:lstStyle/>
          <a:p>
            <a:pPr indent="0" marL="0">
              <a:buNone/>
            </a:pPr>
            <a:r>
              <a:rPr lang="en-US" sz="1300" i="1" dirty="0">
                <a:solidFill>
                  <a:srgbClr val="EEA901"/>
                </a:solidFill>
                <a:latin typeface="Arial" pitchFamily="34" charset="0"/>
                <a:ea typeface="Arial" pitchFamily="34" charset="-122"/>
                <a:cs typeface="Arial" pitchFamily="34" charset="-120"/>
              </a:rPr>
              <a:t>Ce que vous repartez avec</a:t>
            </a:r>
            <a:endParaRPr lang="en-US" sz="1300" dirty="0"/>
          </a:p>
        </p:txBody>
      </p:sp>
      <p:sp>
        <p:nvSpPr>
          <p:cNvPr id="8" name="Shape 4"/>
          <p:cNvSpPr/>
          <p:nvPr/>
        </p:nvSpPr>
        <p:spPr>
          <a:xfrm>
            <a:off x="566928" y="1600200"/>
            <a:ext cx="137160" cy="137160"/>
          </a:xfrm>
          <a:prstGeom prst="ellipse">
            <a:avLst/>
          </a:prstGeom>
          <a:solidFill>
            <a:srgbClr val="EEA901"/>
          </a:solidFill>
          <a:ln/>
        </p:spPr>
      </p:sp>
      <p:sp>
        <p:nvSpPr>
          <p:cNvPr id="9" name="Text 5"/>
          <p:cNvSpPr/>
          <p:nvPr/>
        </p:nvSpPr>
        <p:spPr>
          <a:xfrm>
            <a:off x="868680" y="1508760"/>
            <a:ext cx="768096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 sharpened research question    </a:t>
            </a:r>
            <a:pPr indent="0" marL="0">
              <a:buNone/>
            </a:pPr>
            <a:r>
              <a:rPr lang="en-US" sz="1500" i="1" dirty="0">
                <a:solidFill>
                  <a:srgbClr val="C7D3EA"/>
                </a:solidFill>
                <a:latin typeface="Arial" pitchFamily="34" charset="0"/>
                <a:ea typeface="Arial" pitchFamily="34" charset="-122"/>
                <a:cs typeface="Arial" pitchFamily="34" charset="-120"/>
              </a:rPr>
              <a:t>Une question de recherche affinée</a:t>
            </a:r>
            <a:endParaRPr lang="en-US" sz="1500" dirty="0"/>
          </a:p>
        </p:txBody>
      </p:sp>
      <p:sp>
        <p:nvSpPr>
          <p:cNvPr id="10" name="Shape 6"/>
          <p:cNvSpPr/>
          <p:nvPr/>
        </p:nvSpPr>
        <p:spPr>
          <a:xfrm>
            <a:off x="566928" y="2075688"/>
            <a:ext cx="137160" cy="137160"/>
          </a:xfrm>
          <a:prstGeom prst="ellipse">
            <a:avLst/>
          </a:prstGeom>
          <a:solidFill>
            <a:srgbClr val="EEA901"/>
          </a:solidFill>
          <a:ln/>
        </p:spPr>
      </p:sp>
      <p:sp>
        <p:nvSpPr>
          <p:cNvPr id="11" name="Text 7"/>
          <p:cNvSpPr/>
          <p:nvPr/>
        </p:nvSpPr>
        <p:spPr>
          <a:xfrm>
            <a:off x="868680" y="1984248"/>
            <a:ext cx="768096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An organized literature base    </a:t>
            </a:r>
            <a:pPr indent="0" marL="0">
              <a:buNone/>
            </a:pPr>
            <a:r>
              <a:rPr lang="en-US" sz="1500" i="1" dirty="0">
                <a:solidFill>
                  <a:srgbClr val="C7D3EA"/>
                </a:solidFill>
                <a:latin typeface="Arial" pitchFamily="34" charset="0"/>
                <a:ea typeface="Arial" pitchFamily="34" charset="-122"/>
                <a:cs typeface="Arial" pitchFamily="34" charset="-120"/>
              </a:rPr>
              <a:t>Une base documentaire organisée</a:t>
            </a:r>
            <a:endParaRPr lang="en-US" sz="1500" dirty="0"/>
          </a:p>
        </p:txBody>
      </p:sp>
      <p:sp>
        <p:nvSpPr>
          <p:cNvPr id="12" name="Shape 8"/>
          <p:cNvSpPr/>
          <p:nvPr/>
        </p:nvSpPr>
        <p:spPr>
          <a:xfrm>
            <a:off x="566928" y="2551176"/>
            <a:ext cx="137160" cy="137160"/>
          </a:xfrm>
          <a:prstGeom prst="ellipse">
            <a:avLst/>
          </a:prstGeom>
          <a:solidFill>
            <a:srgbClr val="EEA901"/>
          </a:solidFill>
          <a:ln/>
        </p:spPr>
      </p:sp>
      <p:sp>
        <p:nvSpPr>
          <p:cNvPr id="13" name="Text 9"/>
          <p:cNvSpPr/>
          <p:nvPr/>
        </p:nvSpPr>
        <p:spPr>
          <a:xfrm>
            <a:off x="868680" y="2459736"/>
            <a:ext cx="768096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 configured AI workspace    </a:t>
            </a:r>
            <a:pPr indent="0" marL="0">
              <a:buNone/>
            </a:pPr>
            <a:r>
              <a:rPr lang="en-US" sz="1500" i="1" dirty="0">
                <a:solidFill>
                  <a:srgbClr val="C7D3EA"/>
                </a:solidFill>
                <a:latin typeface="Arial" pitchFamily="34" charset="0"/>
                <a:ea typeface="Arial" pitchFamily="34" charset="-122"/>
                <a:cs typeface="Arial" pitchFamily="34" charset="-120"/>
              </a:rPr>
              <a:t>Un espace de travail IA configuré</a:t>
            </a:r>
            <a:endParaRPr lang="en-US" sz="1500" dirty="0"/>
          </a:p>
        </p:txBody>
      </p:sp>
      <p:sp>
        <p:nvSpPr>
          <p:cNvPr id="14" name="Shape 10"/>
          <p:cNvSpPr/>
          <p:nvPr/>
        </p:nvSpPr>
        <p:spPr>
          <a:xfrm>
            <a:off x="457200" y="3246120"/>
            <a:ext cx="8229600" cy="1234440"/>
          </a:xfrm>
          <a:prstGeom prst="roundRect">
            <a:avLst>
              <a:gd name="adj" fmla="val 6667"/>
            </a:avLst>
          </a:prstGeom>
          <a:solidFill>
            <a:srgbClr val="0A3C8C"/>
          </a:solidFill>
          <a:ln/>
          <a:effectLst>
            <a:outerShdw sx="100000" sy="100000" kx="0" ky="0" algn="bl" rotWithShape="0" blurRad="88900" dist="38100" dir="5400000">
              <a:srgbClr val="10213F">
                <a:alpha val="15000"/>
              </a:srgbClr>
            </a:outerShdw>
          </a:effectLst>
        </p:spPr>
      </p:sp>
      <p:sp>
        <p:nvSpPr>
          <p:cNvPr id="15" name="Shape 11"/>
          <p:cNvSpPr/>
          <p:nvPr/>
        </p:nvSpPr>
        <p:spPr>
          <a:xfrm>
            <a:off x="731520" y="3547872"/>
            <a:ext cx="640080" cy="640080"/>
          </a:xfrm>
          <a:prstGeom prst="ellipse">
            <a:avLst/>
          </a:prstGeom>
          <a:solidFill>
            <a:srgbClr val="EEA901"/>
          </a:solidFill>
          <a:ln/>
        </p:spPr>
      </p:sp>
      <p:pic>
        <p:nvPicPr>
          <p:cNvPr id="16" name="Image 2" descr="preencoded.png">    </p:cNvPr>
          <p:cNvPicPr>
            <a:picLocks noChangeAspect="1"/>
          </p:cNvPicPr>
          <p:nvPr/>
        </p:nvPicPr>
        <p:blipFill>
          <a:blip r:embed="rId3"/>
          <a:stretch>
            <a:fillRect/>
          </a:stretch>
        </p:blipFill>
        <p:spPr>
          <a:xfrm>
            <a:off x="904342" y="3720694"/>
            <a:ext cx="294437" cy="294437"/>
          </a:xfrm>
          <a:prstGeom prst="rect">
            <a:avLst/>
          </a:prstGeom>
        </p:spPr>
      </p:pic>
      <p:sp>
        <p:nvSpPr>
          <p:cNvPr id="17" name="Text 12"/>
          <p:cNvSpPr/>
          <p:nvPr/>
        </p:nvSpPr>
        <p:spPr>
          <a:xfrm>
            <a:off x="1572768" y="3310128"/>
            <a:ext cx="6858000" cy="1097280"/>
          </a:xfrm>
          <a:prstGeom prst="rect">
            <a:avLst/>
          </a:prstGeom>
          <a:noFill/>
          <a:ln/>
        </p:spPr>
        <p:txBody>
          <a:bodyPr wrap="square" lIns="0" tIns="0" rIns="0" bIns="0" rtlCol="0" anchor="ctr"/>
          <a:lstStyle/>
          <a:p>
            <a:pPr indent="0" marL="0">
              <a:lnSpc>
                <a:spcPct val="118000"/>
              </a:lnSpc>
              <a:buNone/>
            </a:pPr>
            <a:r>
              <a:rPr lang="en-US" sz="1300" b="1" dirty="0">
                <a:solidFill>
                  <a:srgbClr val="FFFFFF"/>
                </a:solidFill>
                <a:latin typeface="Arial" pitchFamily="34" charset="0"/>
                <a:ea typeface="Arial" pitchFamily="34" charset="-122"/>
                <a:cs typeface="Arial" pitchFamily="34" charset="-120"/>
              </a:rPr>
              <a:t>Always ask:  Can you explain and defend this as your own thinking?</a:t>
            </a:r>
            <a:endParaRPr lang="en-US" sz="1300" dirty="0"/>
          </a:p>
          <a:p>
            <a:pPr indent="0" marL="0">
              <a:lnSpc>
                <a:spcPct val="118000"/>
              </a:lnSpc>
              <a:buNone/>
            </a:pPr>
            <a:r>
              <a:rPr lang="en-US" sz="1300" i="1" dirty="0">
                <a:solidFill>
                  <a:srgbClr val="C7D3EA"/>
                </a:solidFill>
                <a:latin typeface="Arial" pitchFamily="34" charset="0"/>
                <a:ea typeface="Arial" pitchFamily="34" charset="-122"/>
                <a:cs typeface="Arial" pitchFamily="34" charset="-120"/>
              </a:rPr>
              <a:t>Toujours se demander : pouvez-vous l'expliquer et le défendre comme votre propre réflexion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Steps in a Research Project</dc:title>
  <dc:subject>PptxGenJS Presentation</dc:subject>
  <dc:creator>SUNY Polytechnic Institute · AI for Research Workshop</dc:creator>
  <cp:lastModifiedBy>SUNY Polytechnic Institute · AI for Research Workshop</cp:lastModifiedBy>
  <cp:revision>1</cp:revision>
  <dcterms:created xsi:type="dcterms:W3CDTF">2026-06-26T20:26:02Z</dcterms:created>
  <dcterms:modified xsi:type="dcterms:W3CDTF">2026-06-26T20:26:02Z</dcterms:modified>
</cp:coreProperties>
</file>