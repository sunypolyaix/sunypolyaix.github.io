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Three-way partnership title slide. SUNY Poly is represented by the Wildcat; Buea and Yaoundé show their official crests. Frame the dual purpose of research and the two anchor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workshop is a project of the AIX Center, co-directed by Steven Schneider and William Thistleton. The center runs three programs — a Lab (foundation models), an Accelerator (applications), and a Studio (user experience) — and this capacity-building work with Buea and Yaoundé sits within its 'AI for All' international thread. Co-director photos are placeholders pending headshots; the Lab/Accelerator/Studio panel can be swapped for the center's own graphic.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reasons we do research; the second — building the researcher's judgment — is what AI can quietly undermine.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rule for the whole segment, with the litmus test to repeat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Steps 1-3 are about thinking; 4-5 about setting up to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turning an area into a question. Demo live; show the project instructions that make Claude ask rather than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of the Step 1 prompt using a real Buea student's interest (Manga — web scalability &amp; real-time systems). Run it live: paste the prompt, then let Claude ask one question at a time. Payoff: Manga reaches a specific, answerable question herself — Claude only asked. Buea is English-only. Swap in any participant's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Bilingual worked example for the Yaoundé track (Brice, Université de Yaoundé I / NASEY — RIS–RIN interconnection). Same Socratic prompt; Claude only asks, Brice forms the question. Yaoundé materials are English + French — deliver in either language. Swap in any Yaoundé participant's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Orienting is done in Claude Projects, not NotebookLM: build a real source set inside one Project and interrogate it. Five moves applied to Manga's question. Stress that discovery happens in real databases — Claude is the workspace and reading partner, not a search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1: one Project per thesis; the instructions ground every chat and set Claude's behaviour (no fabricated citations). Move 2: Claude turns the question into a search vocabulary — concepts, synonyms, query strings, venues — which the student then uses in real databases.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3 is the student's job and the friction that teaches — real discovery and relevance judgments happen in real databases. Move 4: once the real PDFs are uploaded as Project knowledge, Claude's summaries are grounded in actual sources, so it can summarize and rank them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5: Claude builds a comparison and surfaces contradictions and gaps; the student keeps a living log in the Project. Guardrails are the heart of the segment: Claude can fabricate citations, so trust only verified/uploaded sources; relevance and gap judgments stay with the student; verify every claim. Tie back to the litmus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3: AI surfaces tensions; the student decides which gap matters. The reasoning is the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4: match ambition to reality — data, software, time, compute. Make it ask about constraints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5: research hygiene. The Project holds context across the whole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one step live on Gisèle's or Brice's real project. For the Buea cohort, swap in a CS/data-science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take-aways and the litmus test — the through-line of the whole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914400" cy="5660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RESEARCH  ·  L'IA AU SERVICE DE LA RECHERCHE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2984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Steps in a Research Project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1975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Premiers pas dans un projet de recherche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4323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supports the student researcher  ·  Comment l'IA accompagne l'étudiant-chercheur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3035808"/>
            <a:ext cx="25603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pic>
        <p:nvPicPr>
          <p:cNvPr id="8" name="Image 1" descr="/home/claude/assets/wildcat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010" y="3291840"/>
            <a:ext cx="908700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" y="4059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Polytechnic Institute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30352" y="433425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Utica, New York · USA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91840" y="3035808"/>
            <a:ext cx="25603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pic>
        <p:nvPicPr>
          <p:cNvPr id="12" name="Image 2" descr="/home/claude/assets/bue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350" y="3172968"/>
            <a:ext cx="835300" cy="8046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64992" y="4059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Buea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64992" y="433425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Buea · Cameroon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126480" y="3035808"/>
            <a:ext cx="25603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pic>
        <p:nvPicPr>
          <p:cNvPr id="16" name="Image 3" descr="/home/claude/assets/yaounde_c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743" y="3172968"/>
            <a:ext cx="745794" cy="8046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9632" y="4059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de Yaoundé I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199632" y="433425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Yaoundé · Cameroun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19379"/>
            <a:ext cx="241402" cy="2414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at the AIX Center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216152" y="841248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3"/>
          <p:cNvSpPr/>
          <p:nvPr/>
        </p:nvSpPr>
        <p:spPr>
          <a:xfrm>
            <a:off x="11887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Développé au Centre AIX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88720" y="118872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Exploration Center  ·  SUNY Polytechnic Institute  ·  “AI for All”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57200" y="1517904"/>
            <a:ext cx="388620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30936" y="1636776"/>
            <a:ext cx="822960" cy="822960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11" name="Image 2" descr="/home/claude/assets/steve_sq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664208"/>
            <a:ext cx="768096" cy="768096"/>
          </a:xfrm>
          <a:prstGeom prst="ellipse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27632" y="173736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Steven Schneider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627632" y="203911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7D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Co-Director · AIX Center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627632" y="224028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Arts &amp; Sciences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26280" y="1517904"/>
            <a:ext cx="388620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700016" y="1636776"/>
            <a:ext cx="822960" cy="822960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17" name="Image 3" descr="/home/claude/assets/bill_sq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1664208"/>
            <a:ext cx="768096" cy="768096"/>
          </a:xfrm>
          <a:prstGeom prst="ellipse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96712" y="173736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William Thistleton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696712" y="203911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7D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Co-Director · AIX Center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696712" y="224028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Mathematics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2743200"/>
            <a:ext cx="2560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435608" y="2962656"/>
            <a:ext cx="603504" cy="603504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8554" y="3125602"/>
            <a:ext cx="277612" cy="2776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3675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66928" y="400507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of foundation models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66928" y="42245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de fondation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291840" y="2743200"/>
            <a:ext cx="2560320" cy="1755648"/>
          </a:xfrm>
          <a:prstGeom prst="roundRect">
            <a:avLst>
              <a:gd name="adj" fmla="val 4688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270248" y="2962656"/>
            <a:ext cx="603504" cy="603504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3194" y="3125602"/>
            <a:ext cx="277612" cy="2776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383280" y="3675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3401568" y="400507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development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3401568" y="42245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d'applications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126480" y="2743200"/>
            <a:ext cx="2560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7104888" y="2962656"/>
            <a:ext cx="603504" cy="603504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7834" y="3125602"/>
            <a:ext cx="277612" cy="27761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217920" y="3675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600" dirty="0"/>
          </a:p>
        </p:txBody>
      </p:sp>
      <p:sp>
        <p:nvSpPr>
          <p:cNvPr id="37" name="Text 28"/>
          <p:cNvSpPr/>
          <p:nvPr/>
        </p:nvSpPr>
        <p:spPr>
          <a:xfrm>
            <a:off x="6236208" y="400507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User-experience research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6236208" y="42245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utilisateur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31089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do research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216152" y="850392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9509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faire de la recherche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3886200" cy="2697480"/>
          </a:xfrm>
          <a:prstGeom prst="roundRect">
            <a:avLst>
              <a:gd name="adj" fmla="val 305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1691640"/>
            <a:ext cx="676656" cy="676656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37" y="1874337"/>
            <a:ext cx="311262" cy="3112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4963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knowledge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28254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de nouvelles connaissances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77240" y="32004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visible product — the thesis, the paper, the result.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produit visible — la thèse, l'article, le résultat.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800600" y="1417320"/>
            <a:ext cx="3886200" cy="2697480"/>
          </a:xfrm>
          <a:prstGeom prst="roundRect">
            <a:avLst>
              <a:gd name="adj" fmla="val 305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120640" y="1691640"/>
            <a:ext cx="676656" cy="676656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337" y="1874337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4963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think as a researcher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120640" y="28254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Apprendre à penser en chercheur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120640" y="32004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the degree certifies — and what AI can quietly erode.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compétence que le diplôme atteste — et que l'IA peut éroder.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42611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second purpose is why HOW we use AI matters.  ·  C'est pourquoi la manière d'utiliser l'IA est essentielle.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31089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guiding principle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216152" y="850392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9509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principe directeur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38862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1673352"/>
            <a:ext cx="566928" cy="566928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03" y="1826423"/>
            <a:ext cx="260787" cy="2607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63677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AI absorb friction that doesn't teach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13232" y="2423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papers · formatting · translating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 for orientation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trouver des articles · mise en forme · traduction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00600" y="1417320"/>
            <a:ext cx="3886200" cy="1920240"/>
          </a:xfrm>
          <a:prstGeom prst="roundRect">
            <a:avLst>
              <a:gd name="adj" fmla="val 428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56632" y="1673352"/>
            <a:ext cx="566928" cy="566928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703" y="1826423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60720" y="163677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friction that does teach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056632" y="2423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· forming your own question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evaluation of sources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jugement · formuler sa question · évaluation critique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520440"/>
            <a:ext cx="8229600" cy="1078992"/>
          </a:xfrm>
          <a:prstGeom prst="roundRect">
            <a:avLst>
              <a:gd name="adj" fmla="val 7627"/>
            </a:avLst>
          </a:prstGeom>
          <a:solidFill>
            <a:srgbClr val="002C7C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3232" y="3739896"/>
            <a:ext cx="640080" cy="640080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4" y="3912718"/>
            <a:ext cx="294437" cy="29443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3593592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litmus test:  Can the student explain and defend the output as their own thinking?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C7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test décisif : l'étudiant peut-il expliquer et défendre le résultat comme sa propre réflexion ?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31089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first steps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216152" y="850392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9509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premiers pas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8229600" cy="585216"/>
          </a:xfrm>
          <a:prstGeom prst="roundRect">
            <a:avLst>
              <a:gd name="adj" fmla="val 14063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" y="1554480"/>
            <a:ext cx="402336" cy="402336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35" y="1663111"/>
            <a:ext cx="185075" cy="18507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52144" y="1554480"/>
            <a:ext cx="402336" cy="402336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2" name="Text 8"/>
          <p:cNvSpPr/>
          <p:nvPr/>
        </p:nvSpPr>
        <p:spPr>
          <a:xfrm>
            <a:off x="1152144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783080" y="146304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interest to a question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60720" y="146304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l'intérêt à la question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2116836"/>
            <a:ext cx="822960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" y="2208276"/>
            <a:ext cx="402336" cy="402336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35" y="2316907"/>
            <a:ext cx="185075" cy="18507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152144" y="2208276"/>
            <a:ext cx="402336" cy="402336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9" name="Text 14"/>
          <p:cNvSpPr/>
          <p:nvPr/>
        </p:nvSpPr>
        <p:spPr>
          <a:xfrm>
            <a:off x="1152144" y="22082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783080" y="211683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Orienting to the field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760720" y="211683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S'orienter dans le domaine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7200" y="2770632"/>
            <a:ext cx="8229600" cy="585216"/>
          </a:xfrm>
          <a:prstGeom prst="roundRect">
            <a:avLst>
              <a:gd name="adj" fmla="val 14063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3504" y="2862072"/>
            <a:ext cx="402336" cy="402336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135" y="2970703"/>
            <a:ext cx="185075" cy="18507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152144" y="2862072"/>
            <a:ext cx="402336" cy="402336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26" name="Text 20"/>
          <p:cNvSpPr/>
          <p:nvPr/>
        </p:nvSpPr>
        <p:spPr>
          <a:xfrm>
            <a:off x="1152144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783080" y="277063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the gap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760720" y="277063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la lacune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57200" y="3424428"/>
            <a:ext cx="822960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03504" y="3515868"/>
            <a:ext cx="402336" cy="402336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135" y="3624499"/>
            <a:ext cx="185075" cy="185075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152144" y="3515868"/>
            <a:ext cx="402336" cy="402336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33" name="Text 26"/>
          <p:cNvSpPr/>
          <p:nvPr/>
        </p:nvSpPr>
        <p:spPr>
          <a:xfrm>
            <a:off x="1152144" y="35158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1783080" y="342442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&amp; feasibility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5760720" y="342442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Cadrage et faisabilité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457200" y="4078224"/>
            <a:ext cx="8229600" cy="585216"/>
          </a:xfrm>
          <a:prstGeom prst="roundRect">
            <a:avLst>
              <a:gd name="adj" fmla="val 14063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03504" y="4169664"/>
            <a:ext cx="402336" cy="402336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135" y="4278295"/>
            <a:ext cx="185075" cy="185075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1152144" y="4169664"/>
            <a:ext cx="402336" cy="402336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40" name="Text 32"/>
          <p:cNvSpPr/>
          <p:nvPr/>
        </p:nvSpPr>
        <p:spPr>
          <a:xfrm>
            <a:off x="1152144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3"/>
          <p:cNvSpPr/>
          <p:nvPr/>
        </p:nvSpPr>
        <p:spPr>
          <a:xfrm>
            <a:off x="1783080" y="407822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&amp; habits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5760720" y="407822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de travail et habitudes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3108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interest to a question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216152" y="850392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9509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l'intérêt à la question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0" y="420624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002C7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4206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1554480"/>
            <a:ext cx="1280160" cy="1280160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1900123"/>
            <a:ext cx="588874" cy="5888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0" y="146304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broad interest is not yet a research question.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intérêt large n'est pas encore une question de recherche.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029968" y="1517904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4" name="Text 10"/>
          <p:cNvSpPr/>
          <p:nvPr/>
        </p:nvSpPr>
        <p:spPr>
          <a:xfrm>
            <a:off x="2286000" y="212140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Claude as a Socratic sparring partner — it asks, you sharpen.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comme partenaire socratique — il questionne, vous affinez.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029968" y="2176272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6" name="Text 12"/>
          <p:cNvSpPr/>
          <p:nvPr/>
        </p:nvSpPr>
        <p:spPr>
          <a:xfrm>
            <a:off x="2286000" y="277977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it to ask, not to hand over an answer.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configurer pour qu'il questionne, sans donner la réponse.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029968" y="2834640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8" name="Shape 14"/>
          <p:cNvSpPr/>
          <p:nvPr/>
        </p:nvSpPr>
        <p:spPr>
          <a:xfrm>
            <a:off x="457200" y="3584448"/>
            <a:ext cx="8229600" cy="1024128"/>
          </a:xfrm>
          <a:prstGeom prst="roundRect">
            <a:avLst>
              <a:gd name="adj" fmla="val 8036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76656" y="3767328"/>
            <a:ext cx="457200" cy="457200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90772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 ·  ESSAYEZ CETTE CONSIGNE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325880" y="396849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propose a topic. Ask me one question at a time to sharpen my interest into a specific, answerable research question."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30352" cy="530352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95" y="508955"/>
            <a:ext cx="243962" cy="2439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0432" y="292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interest to a question, live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1197864" y="822960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3"/>
          <p:cNvSpPr/>
          <p:nvPr/>
        </p:nvSpPr>
        <p:spPr>
          <a:xfrm>
            <a:off x="1170432" y="905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worked example — one question at a time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858000" y="38404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02C7C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0" y="8778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Manga · University of Buea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302752" y="1316736"/>
            <a:ext cx="384048" cy="384048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285" y="1424269"/>
            <a:ext cx="168981" cy="16898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907792" y="1307592"/>
            <a:ext cx="5303520" cy="402336"/>
          </a:xfrm>
          <a:prstGeom prst="roundRect">
            <a:avLst>
              <a:gd name="adj" fmla="val 18182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3054096" y="1307592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scalability, edge &amp; real-time systems — serverless + streams.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1810512"/>
            <a:ext cx="384048" cy="384048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93" y="1914205"/>
            <a:ext cx="176662" cy="17666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32688" y="1801368"/>
            <a:ext cx="5303520" cy="402336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1078992" y="1801368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Broad! Which pulls you most — scaling, or the real-time part?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302752" y="2304288"/>
            <a:ext cx="384048" cy="384048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285" y="2411821"/>
            <a:ext cx="168981" cy="168981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2907792" y="2295144"/>
            <a:ext cx="5303520" cy="402336"/>
          </a:xfrm>
          <a:prstGeom prst="roundRect">
            <a:avLst>
              <a:gd name="adj" fmla="val 18182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3054096" y="2295144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 — but it must scale under bursty load.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57200" y="2798064"/>
            <a:ext cx="384048" cy="384048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893" y="2901757"/>
            <a:ext cx="176662" cy="17666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32688" y="2788920"/>
            <a:ext cx="5303520" cy="402336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1078992" y="2788920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breaks, what fails first — latency, cost, or correctness?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8302752" y="3291840"/>
            <a:ext cx="384048" cy="384048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0285" y="3399373"/>
            <a:ext cx="168981" cy="168981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2907792" y="3282696"/>
            <a:ext cx="5303520" cy="402336"/>
          </a:xfrm>
          <a:prstGeom prst="roundRect">
            <a:avLst>
              <a:gd name="adj" fmla="val 18182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30" name="Text 21"/>
          <p:cNvSpPr/>
          <p:nvPr/>
        </p:nvSpPr>
        <p:spPr>
          <a:xfrm>
            <a:off x="3054096" y="3282696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— serverless cold-starts right when bursts hit.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002C7C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13232" y="3977640"/>
            <a:ext cx="457200" cy="457200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" y="4101084"/>
            <a:ext cx="210312" cy="21031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417320" y="3886200"/>
            <a:ext cx="7086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spc="100" kern="0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MANGA ARRIVED AT — CLAUDE ONLY ASKED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predictive pre-warming cut p95 latency for bursty stream-processing workloads, versus default serverless autoscaling?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30352" cy="530352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95" y="508955"/>
            <a:ext cx="243962" cy="2439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0432" y="292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interest to a question, live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1197864" y="822960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3"/>
          <p:cNvSpPr/>
          <p:nvPr/>
        </p:nvSpPr>
        <p:spPr>
          <a:xfrm>
            <a:off x="1170432" y="905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l'intérêt à la question, en direct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858000" y="38404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02C7C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206240" y="8778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Brice · Université de Yaoundé I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302752" y="1298448"/>
            <a:ext cx="384048" cy="384048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285" y="1405981"/>
            <a:ext cx="168981" cy="16898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770632" y="1243584"/>
            <a:ext cx="5440680" cy="493776"/>
          </a:xfrm>
          <a:prstGeom prst="roundRect">
            <a:avLst>
              <a:gd name="adj" fmla="val 14815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2916936" y="1243584"/>
            <a:ext cx="5148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make Cameroon's RIS–RIN interconnection more stable &amp; efficient.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pour une interconnexion RIS–RIN plus stable et efficace.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1856232"/>
            <a:ext cx="384048" cy="384048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93" y="1959925"/>
            <a:ext cx="176662" cy="17666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32688" y="1801368"/>
            <a:ext cx="5440680" cy="493776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1078992" y="1801368"/>
            <a:ext cx="5148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Broad! What pulls you most — stability, or efficiency?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Vaste ! Stabilité ou efficacité — qu'est-ce qui vous attire le plus ?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8302752" y="2414016"/>
            <a:ext cx="384048" cy="384048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285" y="2521549"/>
            <a:ext cx="168981" cy="168981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2770632" y="2359152"/>
            <a:ext cx="5440680" cy="493776"/>
          </a:xfrm>
          <a:prstGeom prst="roundRect">
            <a:avLst>
              <a:gd name="adj" fmla="val 14815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2916936" y="2359152"/>
            <a:ext cx="5148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— holding frequency in range when the grids connect.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stabilité — tenir la fréquence quand les réseaux se connectent.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893" y="3075493"/>
            <a:ext cx="176662" cy="17666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32688" y="2916936"/>
            <a:ext cx="5440680" cy="493776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1078992" y="2916936"/>
            <a:ext cx="5148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lever — forecasting or control? And what would you measure?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levier — prévision ou contrôle ? Et que mesureriez-vous ?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57200" y="3529584"/>
            <a:ext cx="8229600" cy="1060704"/>
          </a:xfrm>
          <a:prstGeom prst="roundRect">
            <a:avLst>
              <a:gd name="adj" fmla="val 7759"/>
            </a:avLst>
          </a:prstGeom>
          <a:solidFill>
            <a:srgbClr val="002C7C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713232" y="3831336"/>
            <a:ext cx="457200" cy="457200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" y="3954780"/>
            <a:ext cx="210312" cy="2103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17320" y="3593592"/>
            <a:ext cx="7086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b="1" spc="50" kern="0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BRICE ARRIVED AT — CLAUDE ONLY ASKED</a:t>
            </a:r>
            <a:endParaRPr lang="en-US" sz="9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LSTM load-forecasting reduce frequency deviation after RIS–RIN interconnection, vs. the baseline?</a:t>
            </a:r>
            <a:endParaRPr lang="en-US" sz="9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i="1" dirty="0">
                <a:solidFill>
                  <a:srgbClr val="C7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prévision LSTM peut-elle réduire l'écart de fréquence après l'interconnexion RIS–RIN 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3108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Orienting to the field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216152" y="850392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9509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S'orienter dans le domaine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0" y="420624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002C7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4206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real, organized source set inside one Claude Project — then interrogate it.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Constituer un vrai corpus de sources dans un seul Projet Claude, puis l'interroger.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956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7D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example — Manga (Buea):  “Can predictive pre-warming cut p95 latency for bursty stream workloads?”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280160" y="3063240"/>
            <a:ext cx="6949440" cy="0"/>
          </a:xfrm>
          <a:prstGeom prst="line">
            <a:avLst/>
          </a:prstGeom>
          <a:noFill/>
          <a:ln w="19050">
            <a:solidFill>
              <a:srgbClr val="002C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120" y="2743200"/>
            <a:ext cx="640080" cy="64008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601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411480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1480" y="36941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697480" y="2743200"/>
            <a:ext cx="640080" cy="64008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6974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2148840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terms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148840" y="36941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4348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3886200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886200" y="36941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Rassembler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72200" y="2743200"/>
            <a:ext cx="640080" cy="64008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722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00" dirty="0"/>
          </a:p>
        </p:txBody>
      </p:sp>
      <p:sp>
        <p:nvSpPr>
          <p:cNvPr id="27" name="Text 24"/>
          <p:cNvSpPr/>
          <p:nvPr/>
        </p:nvSpPr>
        <p:spPr>
          <a:xfrm>
            <a:off x="5623560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623560" y="36941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Constituer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909560" y="2743200"/>
            <a:ext cx="640080" cy="64008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9095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300" dirty="0"/>
          </a:p>
        </p:txBody>
      </p:sp>
      <p:sp>
        <p:nvSpPr>
          <p:cNvPr id="31" name="Text 28"/>
          <p:cNvSpPr/>
          <p:nvPr/>
        </p:nvSpPr>
        <p:spPr>
          <a:xfrm>
            <a:off x="7360920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360920" y="36941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moves, all in one Project — the next slides show the prompts.  ·  Cinq étapes, un seul Projet.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19379"/>
            <a:ext cx="241402" cy="2414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292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Orienting to the field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1216152" y="841248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3"/>
          <p:cNvSpPr/>
          <p:nvPr/>
        </p:nvSpPr>
        <p:spPr>
          <a:xfrm>
            <a:off x="11887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S'orienter dans le domaine — le parcours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858000" y="38404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02C7C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0" y="8778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1–2 of 5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002C7C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042416" y="139903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Project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42416" y="187452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le Projet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224942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one Project for the whole thesis. Put your question and a short context in the instructions, so every chat starts grounded — and tell Claude how to behave.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108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0080" y="3200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INSTRUCTIONS · CONSIGNES DU PROJET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40080" y="3456432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project supports my thesis: [question]. Be my critical reading partner. Use only sources I upload — never invent citations. Flag what you're unsure of.”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54880" y="1417320"/>
            <a:ext cx="457200" cy="457200"/>
          </a:xfrm>
          <a:prstGeom prst="ellipse">
            <a:avLst/>
          </a:prstGeom>
          <a:solidFill>
            <a:srgbClr val="002C7C"/>
          </a:solidFill>
          <a:ln/>
        </p:spPr>
      </p:sp>
      <p:sp>
        <p:nvSpPr>
          <p:cNvPr id="20" name="Text 16"/>
          <p:cNvSpPr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340096" y="139903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→ search terms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340096" y="187452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Cartographier les termes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54880" y="224942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to break the question into concepts and synonyms, draft ready-to-paste queries, and name the subfields and venues to look in.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754880" y="3108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937760" y="3200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07D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· ESSAYEZ CETTE CONSIGNE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937760" y="3456432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“Break my question into core concepts. Give me synonyms and 5 query strings for Google Scholar and arXiv, plus the subfields and venues where this work appears.”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19379"/>
            <a:ext cx="241402" cy="2414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292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Orienting to the field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1216152" y="841248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3"/>
          <p:cNvSpPr/>
          <p:nvPr/>
        </p:nvSpPr>
        <p:spPr>
          <a:xfrm>
            <a:off x="11887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S'orienter dans le domaine — le parcours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858000" y="38404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02C7C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0" y="8778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3–4 of 5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002C7C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042416" y="139903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sources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42416" y="187452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Rassembler les sources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224942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those queries in Google Scholar, arXiv, Semantic Scholar and your library. Keep the most relevant; use “cited by” and “related” to snowball outward.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108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0080" y="3200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YOURSELF · À FAIRE VOUS-MÊME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40080" y="3456432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doesn't fetch papers — and shouldn't pretend to. Finding sources, and judging which are relevant, stays with you.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54880" y="1417320"/>
            <a:ext cx="457200" cy="457200"/>
          </a:xfrm>
          <a:prstGeom prst="ellipse">
            <a:avLst/>
          </a:prstGeom>
          <a:solidFill>
            <a:srgbClr val="002C7C"/>
          </a:solidFill>
          <a:ln/>
        </p:spPr>
      </p:sp>
      <p:sp>
        <p:nvSpPr>
          <p:cNvPr id="20" name="Text 16"/>
          <p:cNvSpPr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340096" y="139903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set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340096" y="187452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Constituer le corpus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54880" y="224942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what you gathered into the Project as knowledge. Now Claude is grounded in your real sources — not its memory.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754880" y="3108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937760" y="3200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07D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· ESSAYEZ CETTE CONSIGNE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937760" y="3456432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“Here are the papers I gathered. For each: problem, method, key result, limitation in 3 lines. Then name the 5 most central to my question, and why.”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19379"/>
            <a:ext cx="241402" cy="2414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292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Orienting to the field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1216152" y="841248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3"/>
          <p:cNvSpPr/>
          <p:nvPr/>
        </p:nvSpPr>
        <p:spPr>
          <a:xfrm>
            <a:off x="11887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S'orienter dans le domaine — le parcours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858000" y="38404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02C7C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0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0" y="8778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5 + guardrails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02C7C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042416" y="135331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Interrogate &amp; keep a living log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42416" y="16642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le corpus et tenir un journal vivant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1975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Claude compare your sources and surface gaps; keep a running log in the Project and update it as new papers arrive.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340864"/>
            <a:ext cx="8229600" cy="877824"/>
          </a:xfrm>
          <a:prstGeom prst="roundRect">
            <a:avLst>
              <a:gd name="adj" fmla="val 9375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0080" y="241401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07D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· ESSAYEZ CETTE CONSIGNE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40080" y="265176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“Build a table comparing these papers by method, workload, latency metric and limitation. Where do they disagree? What hasn't been tested for bursty stream workloads?”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3346704"/>
            <a:ext cx="8229600" cy="1298448"/>
          </a:xfrm>
          <a:prstGeom prst="roundRect">
            <a:avLst>
              <a:gd name="adj" fmla="val 6338"/>
            </a:avLst>
          </a:prstGeom>
          <a:solidFill>
            <a:srgbClr val="002C7C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" y="3621024"/>
            <a:ext cx="548640" cy="548640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" y="3774643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81328" y="343814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THINKING YOURS · GARDEZ LA RÉFLEXION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481328" y="369417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can invent references — trust only sources you uploaded or verified.</a:t>
            </a:r>
            <a:endParaRPr lang="en-US" sz="105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 what is relevant and where the gap is.</a:t>
            </a:r>
            <a:endParaRPr lang="en-US" sz="105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every claim against the actual paper.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481328" y="433425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explain and defend this source map as your own understanding?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3108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the gap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216152" y="850392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9509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la lacune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0" y="420624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002C7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4206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1554480"/>
            <a:ext cx="1280160" cy="1280160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1900123"/>
            <a:ext cx="588874" cy="5888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0" y="146304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maps the landscape — competing methods, contradictions.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cartographie le domaine — méthodes rivales, contradictions.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029968" y="1517904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4" name="Text 10"/>
          <p:cNvSpPr/>
          <p:nvPr/>
        </p:nvSpPr>
        <p:spPr>
          <a:xfrm>
            <a:off x="2286000" y="212140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judge where the real, worthwhile gap sits.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vous qui jugez où se trouve la vraie lacune.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029968" y="2176272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6" name="Text 12"/>
          <p:cNvSpPr/>
          <p:nvPr/>
        </p:nvSpPr>
        <p:spPr>
          <a:xfrm>
            <a:off x="2286000" y="277977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reasoning is yours — that is the assessment.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raisonnement est le vôtre — c'est cela l'évaluation.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029968" y="2834640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8" name="Shape 14"/>
          <p:cNvSpPr/>
          <p:nvPr/>
        </p:nvSpPr>
        <p:spPr>
          <a:xfrm>
            <a:off x="457200" y="3584448"/>
            <a:ext cx="8229600" cy="1024128"/>
          </a:xfrm>
          <a:prstGeom prst="roundRect">
            <a:avLst>
              <a:gd name="adj" fmla="val 8036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76656" y="3767328"/>
            <a:ext cx="457200" cy="457200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90772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 ·  ESSAYEZ CETTE CONSIGNE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325880" y="396849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"Map the contending approaches and where they disagree. Do not tell me my gap — just lay out the landscape."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3108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&amp; feasibility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216152" y="850392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9509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Cadrage et faisabilité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0" y="420624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002C7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4206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1554480"/>
            <a:ext cx="1280160" cy="1280160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1900123"/>
            <a:ext cx="588874" cy="5888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0" y="146304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thinking partner for what is realistic.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partenaire de réflexion sur ce qui est réaliste.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029968" y="1517904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4" name="Text 10"/>
          <p:cNvSpPr/>
          <p:nvPr/>
        </p:nvSpPr>
        <p:spPr>
          <a:xfrm>
            <a:off x="2286000" y="212140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exists? What tools and time do you have?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données ? Quels outils et quel temps avez-vous 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029968" y="2176272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6" name="Text 12"/>
          <p:cNvSpPr/>
          <p:nvPr/>
        </p:nvSpPr>
        <p:spPr>
          <a:xfrm>
            <a:off x="2286000" y="277977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to probe your constraints before it suggests.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 demander de sonder vos contraintes avant de proposer.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029968" y="2834640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8" name="Shape 14"/>
          <p:cNvSpPr/>
          <p:nvPr/>
        </p:nvSpPr>
        <p:spPr>
          <a:xfrm>
            <a:off x="457200" y="3584448"/>
            <a:ext cx="8229600" cy="1024128"/>
          </a:xfrm>
          <a:prstGeom prst="roundRect">
            <a:avLst>
              <a:gd name="adj" fmla="val 8036"/>
            </a:avLst>
          </a:prstGeom>
          <a:solidFill>
            <a:srgbClr val="FCF3D8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76656" y="3767328"/>
            <a:ext cx="457200" cy="457200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90772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 ·  ESSAYEZ CETTE CONSIGNE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325880" y="396849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"Ask me about my data, tools and time before suggesting anything, then help me judge what is realistic."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3108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&amp; habits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216152" y="850392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9509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de travail et habitudes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0" y="420624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002C7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4206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1554480"/>
            <a:ext cx="1280160" cy="1280160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1900123"/>
            <a:ext cx="588874" cy="5888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0" y="146304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Claude Project becomes a persistent research workspace.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 Claude devient un espace de recherche durable.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029968" y="1517904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4" name="Text 10"/>
          <p:cNvSpPr/>
          <p:nvPr/>
        </p:nvSpPr>
        <p:spPr>
          <a:xfrm>
            <a:off x="2286000" y="212140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models good habits: sources, a research log, why you read.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ancre de bonnes habitudes : sources, journal, traçabilité.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029968" y="2176272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6" name="Text 12"/>
          <p:cNvSpPr/>
          <p:nvPr/>
        </p:nvSpPr>
        <p:spPr>
          <a:xfrm>
            <a:off x="2286000" y="277977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leave with a configured environment, not just notes.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repartez avec un environnement configuré, pas des notes.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029968" y="2834640"/>
            <a:ext cx="118872" cy="118872"/>
          </a:xfrm>
          <a:prstGeom prst="ellipse">
            <a:avLst/>
          </a:prstGeom>
          <a:solidFill>
            <a:srgbClr val="EEA901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EA901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31089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live use cases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216152" y="850392"/>
            <a:ext cx="1280160" cy="45720"/>
          </a:xfrm>
          <a:prstGeom prst="rect">
            <a:avLst/>
          </a:prstGeom>
          <a:solidFill>
            <a:srgbClr val="EEA901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9509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cas pratiques en direct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3886200" cy="2194560"/>
          </a:xfrm>
          <a:prstGeom prst="roundRect">
            <a:avLst>
              <a:gd name="adj" fmla="val 3750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1737360"/>
            <a:ext cx="603504" cy="603504"/>
          </a:xfrm>
          <a:prstGeom prst="ellipse">
            <a:avLst/>
          </a:prstGeom>
          <a:solidFill>
            <a:srgbClr val="002C7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" y="1900306"/>
            <a:ext cx="277612" cy="2776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73736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Gisèle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49808" y="245059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Interconnecting the Northern grid (NIG) with Chad's national grid.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9808" y="305409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Interconnexion du réseau Nord (NIG) avec le réseau national tchadien.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00600" y="1463040"/>
            <a:ext cx="3886200" cy="2194560"/>
          </a:xfrm>
          <a:prstGeom prst="roundRect">
            <a:avLst>
              <a:gd name="adj" fmla="val 3750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93208" y="1737360"/>
            <a:ext cx="603504" cy="603504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154" y="1900306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52160" y="173736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093208" y="245059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the RIS–RIN interconnection: stability and energy efficiency.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93208" y="305409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pour l'interconnexion RIS–RIN : stabilité et efficacité énergétique.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questions are already defined — so the five steps become visible, not hypothetical.  ·  Leurs sujets sont déjà définis.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unypoly_white_hor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36592"/>
            <a:ext cx="1298448" cy="194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" y="620146"/>
            <a:ext cx="277612" cy="2776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42062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leave with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128016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vous repartez avec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00200"/>
            <a:ext cx="137160" cy="137160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1508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sharpened research question    </a:t>
            </a:r>
            <a:pPr indent="0" marL="0">
              <a:buNone/>
            </a:pPr>
            <a:r>
              <a:rPr lang="en-US" sz="1500" i="1" dirty="0">
                <a:solidFill>
                  <a:srgbClr val="C7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 de recherche affinée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66928" y="2075688"/>
            <a:ext cx="137160" cy="137160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0" name="Text 6"/>
          <p:cNvSpPr/>
          <p:nvPr/>
        </p:nvSpPr>
        <p:spPr>
          <a:xfrm>
            <a:off x="868680" y="19842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organized literature base    </a:t>
            </a:r>
            <a:pPr indent="0" marL="0">
              <a:buNone/>
            </a:pPr>
            <a:r>
              <a:rPr lang="en-US" sz="1500" i="1" dirty="0">
                <a:solidFill>
                  <a:srgbClr val="C7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base documentaire organisée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66928" y="2551176"/>
            <a:ext cx="137160" cy="137160"/>
          </a:xfrm>
          <a:prstGeom prst="ellipse">
            <a:avLst/>
          </a:prstGeom>
          <a:solidFill>
            <a:srgbClr val="EEA901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2459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configured AI workspace    </a:t>
            </a:r>
            <a:pPr indent="0" marL="0">
              <a:buNone/>
            </a:pPr>
            <a:r>
              <a:rPr lang="en-US" sz="1500" i="1" dirty="0">
                <a:solidFill>
                  <a:srgbClr val="C7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espace de travail IA configuré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324612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0A3C8C"/>
          </a:solidFill>
          <a:ln/>
          <a:effectLst>
            <a:outerShdw sx="100000" sy="100000" kx="0" ky="0" algn="bl" rotWithShape="0" blurRad="88900" dist="38100" dir="5400000">
              <a:srgbClr val="10213F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547872"/>
            <a:ext cx="640080" cy="640080"/>
          </a:xfrm>
          <a:prstGeom prst="ellipse">
            <a:avLst/>
          </a:prstGeom>
          <a:solidFill>
            <a:srgbClr val="EEA90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42" y="3720694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72768" y="3310128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ask:  Can you explain and defend this as your own thinking?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C7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se demander : pouvez-vous l'expliquer et le défendre comme votre propre réflexion 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Steps in a Research Project</dc:title>
  <dc:subject>PptxGenJS Presentation</dc:subject>
  <dc:creator>SUNY Polytechnic Institute · AI for Research Workshop</dc:creator>
  <cp:lastModifiedBy>SUNY Polytechnic Institute · AI for Research Workshop</cp:lastModifiedBy>
  <cp:revision>1</cp:revision>
  <dcterms:created xsi:type="dcterms:W3CDTF">2026-06-26T16:55:23Z</dcterms:created>
  <dcterms:modified xsi:type="dcterms:W3CDTF">2026-06-26T16:55:23Z</dcterms:modified>
</cp:coreProperties>
</file>