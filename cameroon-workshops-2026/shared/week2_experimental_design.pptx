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2286000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RESEARCH  ·  L'IA AU SERVICE DE LA RECHERCHE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320040" y="9601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Your Research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320040" y="16916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Methods, Models &amp; AI Support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20040" y="235915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Concevoir votre recherche : méthodes, modèles et soutien IA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2788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Design &amp; Methodology  ·  Session 2 of 4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35661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3A7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566160"/>
            <a:ext cx="2331720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3639312"/>
            <a:ext cx="128016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" y="4279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Polytechnic Institute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45445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Utica, New York · USA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268980" y="35661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3A7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06140" y="3566160"/>
            <a:ext cx="2331720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20" y="3639312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60420" y="4279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Buea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360420" y="45445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Buea · Cameroon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126480" y="35661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1A3A7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63640" y="3566160"/>
            <a:ext cx="2331720" cy="0"/>
          </a:xfrm>
          <a:prstGeom prst="line">
            <a:avLst/>
          </a:prstGeom>
          <a:noFill/>
          <a:ln w="12700">
            <a:solidFill>
              <a:srgbClr val="EEA90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639312"/>
            <a:ext cx="594360" cy="5943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7920" y="42793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de Yaoundé I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217920" y="45445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Yaoundé · Cameroun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at the AIX Center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182880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Développé au Centre AIX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14400" y="9784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Exploration Center  ·  SUNY Polytechnic Institute  ·  “AI for All”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0040" y="1298448"/>
            <a:ext cx="3977640" cy="1115568"/>
          </a:xfrm>
          <a:prstGeom prst="roundRect">
            <a:avLst>
              <a:gd name="adj" fmla="val 9836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9888"/>
            <a:ext cx="914400" cy="914400"/>
          </a:xfrm>
          <a:prstGeom prst="ellipse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14081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Trusting Inekwe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463040" y="17282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· AIX Center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46304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Doc · Foundation Models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72000" y="1298448"/>
            <a:ext cx="3977640" cy="1115568"/>
          </a:xfrm>
          <a:prstGeom prst="roundRect">
            <a:avLst>
              <a:gd name="adj" fmla="val 9836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389888"/>
            <a:ext cx="914400" cy="914400"/>
          </a:xfrm>
          <a:prstGeom prst="ellipse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15000" y="14081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William Thistleton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715000" y="17282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Co-Director · AIX Center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71500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Mathematics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11480" y="260604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440180" y="2697480"/>
            <a:ext cx="548640" cy="54864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3332" y="277063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2920" y="3282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502920" y="3538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of foundation models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de fondation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3268980" y="260604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297680" y="2697480"/>
            <a:ext cx="548640" cy="54864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2770632"/>
            <a:ext cx="402336" cy="40233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360420" y="3282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Accelerator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3360420" y="3538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development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d'applications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126480" y="2606040"/>
            <a:ext cx="2606040" cy="1298448"/>
          </a:xfrm>
          <a:prstGeom prst="roundRect">
            <a:avLst>
              <a:gd name="adj" fmla="val 8451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155180" y="2697480"/>
            <a:ext cx="548640" cy="54864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8332" y="2770632"/>
            <a:ext cx="402336" cy="40233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217920" y="3282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1500" dirty="0"/>
          </a:p>
        </p:txBody>
      </p:sp>
      <p:sp>
        <p:nvSpPr>
          <p:cNvPr id="33" name="Text 24"/>
          <p:cNvSpPr/>
          <p:nvPr/>
        </p:nvSpPr>
        <p:spPr>
          <a:xfrm>
            <a:off x="6217920" y="3538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User-experience research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utilisateur</a:t>
            </a:r>
            <a:endParaRPr lang="en-US" sz="10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4828032"/>
            <a:ext cx="1645920" cy="24688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993392" y="4818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AIX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guiding principle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principe directeur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0040" y="1115568"/>
            <a:ext cx="3977640" cy="1737360"/>
          </a:xfrm>
          <a:prstGeom prst="roundRect">
            <a:avLst>
              <a:gd name="adj" fmla="val 6316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84632" y="126187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1225296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AI absorb friction that doesn't teach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84632" y="182880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sources · skimming abstracts · formatting citations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outlines · translating terminology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trouver des sources · mettre en forme · traduire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572000" y="1115568"/>
            <a:ext cx="3977640" cy="1737360"/>
          </a:xfrm>
          <a:prstGeom prst="roundRect">
            <a:avLst>
              <a:gd name="adj" fmla="val 6316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736592" y="126187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32588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49240" y="1225296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friction that does teach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736592" y="182880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your method · justifying your design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evaluation · defending your choices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5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sa méthode · justifier sa conception · évaluation critique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320040" y="2999232"/>
            <a:ext cx="8503920" cy="804672"/>
          </a:xfrm>
          <a:prstGeom prst="roundRect">
            <a:avLst>
              <a:gd name="adj" fmla="val 13636"/>
            </a:avLst>
          </a:prstGeom>
          <a:solidFill>
            <a:srgbClr val="002C7C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18104"/>
            <a:ext cx="475488" cy="4754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78992" y="30358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litmus test: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choose this method, or did Claude choose it for you?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078992" y="34107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test décisif : avez-vous choisi cette méthode, ou Claude l'a-t-il choisie pour vous ?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320040" y="39136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form: Can you justify every design decision in your methodology?  ·  Semaine 2 : pouvez-vous justifier chaque choix méthodologique ?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foundational skills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compétences fondamentales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14400" y="10058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addresses three of the nine foundational research skills  ·  La semaine 2 couvre trois des neuf compétences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30352" y="1298448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40080" y="1371600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Formulation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40080" y="17007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Formulation du problème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291840" y="1298448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401568" y="1371600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401568" y="17007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 de littérature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53328" y="1298448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EEA901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163056" y="1371600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Design ★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163056" y="170078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expérimentale ★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30352" y="219456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EEA901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40080" y="226771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Modelling &amp; Simulation ★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40080" y="25968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Modélisation &amp; simulation ★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291840" y="219456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3401568" y="226771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3401568" y="25968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de données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053328" y="2194560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6163056" y="226771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163056" y="259689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des données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530352" y="3090672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EEA901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640080" y="3163824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Writing ★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40080" y="34930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Rédaction académique ★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3291840" y="3090672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3401568" y="3163824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&amp; Patents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3401568" y="34930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&amp; Brevets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053328" y="3090672"/>
            <a:ext cx="2560320" cy="731520"/>
          </a:xfrm>
          <a:prstGeom prst="roundRect">
            <a:avLst>
              <a:gd name="adj" fmla="val 15000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6163056" y="3163824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6163056" y="34930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projet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320040" y="4773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Focus this session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experimental design?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que la conception expérimentale ?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20040" y="1115568"/>
            <a:ext cx="4160520" cy="3291840"/>
          </a:xfrm>
          <a:prstGeom prst="roundRect">
            <a:avLst>
              <a:gd name="adj" fmla="val 3333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02920" y="12344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for producing trustworthy answers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02920" y="16002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plan pour produire des réponses fiables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66928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variables will you control?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94944" y="217627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Quelles variables contrôlerez-vous ?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66928" y="2487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 measure — and how?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94944" y="2743200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mesurerez-vous — et comment ?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66928" y="30540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counts as a valid result?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94944" y="3310128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Qu'est-ce qui compte comme résultat valide ?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66928" y="3621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you handle uncertainty?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94944" y="387705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gérerez-vous l'incertitude ?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663440" y="1115568"/>
            <a:ext cx="4160520" cy="3291840"/>
          </a:xfrm>
          <a:prstGeom prst="roundRect">
            <a:avLst>
              <a:gd name="adj" fmla="val 3333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828032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comes before data collection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828032" y="1600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cela précède la collecte de données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828032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Collecting data without a design risks answering the wrong question.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956048" y="219456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Collecter sans conception, c'est risquer de répondre à la mauvaise question.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4828032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parameters must be grounded in your research rationale.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956048" y="2907792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paramètres de simulation doivent être fondés sur votre question.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828032" y="3346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will ask: why this design? You need to be able to answer.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956048" y="3621024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évaluateurs demanderont : pourquoi cette conception ?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researchers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chercheurs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14400" y="10058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researchers — two institutions — one shared challenge: designing rigorous AI-assisted methods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0040" y="1298448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29768" y="1389888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9768" y="13898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Buea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892808" y="138988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Manga Elvira Ayongwe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168249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&amp; real-time streaming systems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188366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Systèmes serverless &amp; streaming temps réel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57200" y="210312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predictive pre-warming cut p95 latency for bursty stream-processing workloads?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754880" y="1298448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64608" y="1389888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64608" y="13898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Buea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327648" y="1389888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Ngenge Etienne Ringnyui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92040" y="168249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fraud detection · Graph ML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892040" y="188366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de fraude · Apprentissage sur graphes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892040" y="210312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graph ML improve real-time fraud detection in financial transaction networks?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20040" y="2962656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29768" y="3054096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29768" y="30540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Yaoundé I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1892808" y="3054096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Gisèle Imgard Marten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57200" y="33467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NIG–Chad grid interconnection · Power systems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57200" y="354787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Interconnexion NIG–Tchad · Systèmes électriques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457200" y="37673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busbars minimise power losses and maintain voltage/frequency stability in NIG–Chad interconnection?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754880" y="2962656"/>
            <a:ext cx="4160520" cy="1481328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864608" y="3054096"/>
            <a:ext cx="1371600" cy="219456"/>
          </a:xfrm>
          <a:prstGeom prst="roundRect">
            <a:avLst>
              <a:gd name="adj" fmla="val 25000"/>
            </a:avLst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64608" y="30540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Yaoundé I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6327648" y="3054096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Brice Gaëtan Choake Ngombe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892040" y="33467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RIS–RIN interconnection · AI optimisation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4892040" y="354787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Interconnexion RIS–RIN · Optimisation IA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4892040" y="3767328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LSTM load-forecasting + RL reduce frequency deviation and improve efficiency in RIS–RIN interconnection?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question to method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question à la méthode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132320" y="10972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14400" y="9875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Buea  ·  Worked examples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" y="1261872"/>
            <a:ext cx="8503920" cy="1481328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02920" y="1325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Manga · Serverless &amp; streaming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1645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question: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542032" y="1645920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predictive pre-warming cut p95 latency for bursty workloads?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2920" y="18928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variable: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542032" y="189280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Pre-warming strategy (predictive vs. default autoscaling)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02920" y="21396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variable: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542032" y="2139696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tail latency under bursty streaming load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02920" y="23865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choice: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542032" y="2386584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experiment · AWS Lambda testbed · Benchmarking suite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20040" y="2852928"/>
            <a:ext cx="8503920" cy="1481328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02920" y="2916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Ngenge · Fraud detection · Graph ML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02920" y="3236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question: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2542032" y="3236976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graph ML improve real-time fraud detection in financial networks?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02920" y="34838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variable: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2542032" y="3483864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ML model architecture (GNN variants vs. baseline classifiers)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02920" y="37307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variable: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2542032" y="3730752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accuracy, precision/recall, inference latency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02920" y="39776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choice: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2542032" y="3977640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study · Benchmark datasets (IEEE-CIS, PaySim) · Cross-validation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question to method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question à la méthode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132320" y="10972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14400" y="9875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de Yaoundé I  ·  Exemples pratiques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" y="1261872"/>
            <a:ext cx="8503920" cy="1481328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02920" y="1325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Gisèle · NIG–Chad grid interconnection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1645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question: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542032" y="1645920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busbars minimise losses and maintain voltage/frequency stability in NIG–Chad interconnection?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2920" y="18928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variable: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542032" y="189280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Busbar configuration &amp; switching sequence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02920" y="21396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variable: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542032" y="2139696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losses, voltage levels, frequency deviation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02920" y="23865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choice: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542032" y="2386584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flow simulation · DigSILENT / ETAP · AI-assisted anomaly detection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20040" y="2852928"/>
            <a:ext cx="8503920" cy="1481328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02920" y="29169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Brice · RIS–RIN interconnection · AI optimisation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02920" y="3236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question: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2542032" y="3236976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LSTM forecasting + RL reduce frequency deviation and improve efficiency in RIS–RIN?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02920" y="34838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variable: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2542032" y="3483864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algorithm (LSTM, RL, hybrid optimisation)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02920" y="37307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variable: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2542032" y="3730752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deviation, energy efficiency metrics, stability index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02920" y="39776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choice: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2542032" y="3977640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Simulation-based experiment · DigSILENT / MATLAB / Python · Baseline comparison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 a methodology, live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914400" y="6766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Structurer une méthodologie, en direct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132320" y="10972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14400" y="9875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worked example — one question at a time  ·  Gisèle · Université de Yaoundé I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549640" y="1353312"/>
            <a:ext cx="402336" cy="402336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1408176"/>
            <a:ext cx="292608" cy="29260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011680" y="1298448"/>
            <a:ext cx="6400800" cy="621792"/>
          </a:xfrm>
          <a:prstGeom prst="roundRect">
            <a:avLst>
              <a:gd name="adj" fmla="val 17647"/>
            </a:avLst>
          </a:prstGeom>
          <a:solidFill>
            <a:srgbClr val="FFF3CC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2148840" y="137160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simulate the NIG–Chad interconnection and find the best busbar configuration.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47472" y="2103120"/>
            <a:ext cx="402336" cy="402336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2157984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8640" y="2048256"/>
            <a:ext cx="64008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85800" y="2121408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starting point. What counts as 'best' — lowest losses, stable voltage, or minimal frequency deviation? And do you mean best for normal operation, or also under fault conditions?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549640" y="2852928"/>
            <a:ext cx="402336" cy="402336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4" y="2907792"/>
            <a:ext cx="292608" cy="29260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011680" y="2798064"/>
            <a:ext cx="6400800" cy="621792"/>
          </a:xfrm>
          <a:prstGeom prst="roundRect">
            <a:avLst>
              <a:gd name="adj" fmla="val 17647"/>
            </a:avLst>
          </a:prstGeom>
          <a:solidFill>
            <a:srgbClr val="FFF3CC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2148840" y="2871216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matter — but especially frequency. And it has to hold under N-1 contingency.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347472" y="3602736"/>
            <a:ext cx="402336" cy="402336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3657600"/>
            <a:ext cx="292608" cy="29260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548640" y="3547872"/>
            <a:ext cx="64008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17"/>
          <p:cNvSpPr/>
          <p:nvPr/>
        </p:nvSpPr>
        <p:spPr>
          <a:xfrm>
            <a:off x="685800" y="3621024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gives us a measurable dependent variable and a test condition. Now: what will you vary systematically — busbar switching sequence, tap positions, line parameters? That's your independent variable.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320040" y="4315968"/>
            <a:ext cx="8503920" cy="685800"/>
          </a:xfrm>
          <a:prstGeom prst="roundRect">
            <a:avLst>
              <a:gd name="adj" fmla="val 16000"/>
            </a:avLst>
          </a:prstGeom>
          <a:solidFill>
            <a:srgbClr val="002C7C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38912" y="4407408"/>
            <a:ext cx="347472" cy="347472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4453128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14400" y="43342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METHODOLOGY GISÈLE ARRIVED AT — CLAUDE ONLY ASKED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914400" y="45445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Power-flow simulation in DigSILENT with N-1 contingency testing; dependent variable = frequency deviation; IV = busbar switching sequence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 a methodology, live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914400" y="6766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Structurer une méthodologie, en direct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7132320" y="10972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14400" y="9875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worked example — one question at a time  ·  Brice · Université de Yaoundé I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549640" y="1353312"/>
            <a:ext cx="402336" cy="402336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1408176"/>
            <a:ext cx="292608" cy="29260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011680" y="1298448"/>
            <a:ext cx="6400800" cy="621792"/>
          </a:xfrm>
          <a:prstGeom prst="roundRect">
            <a:avLst>
              <a:gd name="adj" fmla="val 17647"/>
            </a:avLst>
          </a:prstGeom>
          <a:solidFill>
            <a:srgbClr val="FFF3CC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2148840" y="137160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apply LSTM and reinforcement learning to optimise the RIS–RIN interconnection.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47472" y="2103120"/>
            <a:ext cx="402336" cy="402336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2157984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8640" y="2048256"/>
            <a:ext cx="64008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85800" y="2121408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 toward what exactly? Frequency stability, energy efficiency, or both? And will you be comparing your AI model against a baseline — if so, what is that baseline?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8549640" y="2852928"/>
            <a:ext cx="402336" cy="402336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4" y="2907792"/>
            <a:ext cx="292608" cy="29260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011680" y="2798064"/>
            <a:ext cx="6400800" cy="621792"/>
          </a:xfrm>
          <a:prstGeom prst="roundRect">
            <a:avLst>
              <a:gd name="adj" fmla="val 17647"/>
            </a:avLst>
          </a:prstGeom>
          <a:solidFill>
            <a:srgbClr val="FFF3CC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2148840" y="2871216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stability and efficiency. The baseline is the current manual dispatch schedule.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347472" y="3602736"/>
            <a:ext cx="402336" cy="402336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3657600"/>
            <a:ext cx="292608" cy="29260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548640" y="3547872"/>
            <a:ext cx="640080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17"/>
          <p:cNvSpPr/>
          <p:nvPr/>
        </p:nvSpPr>
        <p:spPr>
          <a:xfrm>
            <a:off x="685800" y="3621024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Good. So your experimental design has: IV = algorithm choice (LSTM, RL, hybrid); DV = frequency deviation + efficiency index; baseline = manual dispatch. What simulation environment — DigSILENT, MATLAB, Python?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320040" y="4315968"/>
            <a:ext cx="8503920" cy="685800"/>
          </a:xfrm>
          <a:prstGeom prst="roundRect">
            <a:avLst>
              <a:gd name="adj" fmla="val 16000"/>
            </a:avLst>
          </a:prstGeom>
          <a:solidFill>
            <a:srgbClr val="002C7C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38912" y="4407408"/>
            <a:ext cx="347472" cy="347472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4453128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14400" y="43342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METHODOLOGY BRICE ARRIVED AT — CLAUDE ONLY ASKED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914400" y="45445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Simulation-based comparison: LSTM + RL vs. manual dispatch baseline; DigSILENT / MATLAB / Python; IV = algorithm; DV = frequency deviation + energy efficiency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09728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4592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54864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Methodology Partner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 comme partenaire méthodologique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132320" y="10972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14400" y="9875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it without letting it design your research  ·  Comment l'utiliser sans lui laisser concevoir votre recherche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" y="1298448"/>
            <a:ext cx="8503920" cy="1024128"/>
          </a:xfrm>
          <a:prstGeom prst="roundRect">
            <a:avLst>
              <a:gd name="adj" fmla="val 10714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8912" y="1408176"/>
            <a:ext cx="475488" cy="475488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38912" y="1408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024128" y="1389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it to ask, not to answer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024128" y="16459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Configurez-le pour qu'il questionne, sans répondre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251960" y="1371600"/>
            <a:ext cx="4434840" cy="859536"/>
          </a:xfrm>
          <a:prstGeom prst="roundRect">
            <a:avLst>
              <a:gd name="adj" fmla="val 12766"/>
            </a:avLst>
          </a:prstGeom>
          <a:solidFill>
            <a:srgbClr val="F5F8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370832" y="13898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370832" y="15727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"Don't propose a methodology. Ask me one question at a time to help me identify my independent variable, dependent variable, and measurement approach."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20040" y="2441448"/>
            <a:ext cx="8503920" cy="1024128"/>
          </a:xfrm>
          <a:prstGeom prst="roundRect">
            <a:avLst>
              <a:gd name="adj" fmla="val 10714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38912" y="2551176"/>
            <a:ext cx="475488" cy="475488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38912" y="2551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024128" y="2532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to stress-test your design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024128" y="27889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Utilisez-le pour tester votre conception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251960" y="2514600"/>
            <a:ext cx="4434840" cy="859536"/>
          </a:xfrm>
          <a:prstGeom prst="roundRect">
            <a:avLst>
              <a:gd name="adj" fmla="val 12766"/>
            </a:avLst>
          </a:prstGeom>
          <a:solidFill>
            <a:srgbClr val="F5F8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370832" y="25328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4370832" y="27157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"Here is my proposed methodology. Challenge it — what threats to validity have I missed? What would a reviewer question first?"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320040" y="3584448"/>
            <a:ext cx="8503920" cy="1024128"/>
          </a:xfrm>
          <a:prstGeom prst="roundRect">
            <a:avLst>
              <a:gd name="adj" fmla="val 10714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38912" y="3694176"/>
            <a:ext cx="475488" cy="475488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38912" y="3694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1024128" y="36758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the methodology section together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1024128" y="39319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Rédigez la section méthodologie ensemble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251960" y="3657600"/>
            <a:ext cx="4434840" cy="859536"/>
          </a:xfrm>
          <a:prstGeom prst="roundRect">
            <a:avLst>
              <a:gd name="adj" fmla="val 12766"/>
            </a:avLst>
          </a:prstGeom>
          <a:solidFill>
            <a:srgbClr val="F5F8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4370832" y="36758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PROMPT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4370832" y="38587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"Help me draft the methodology section for my thesis based on these design decisions: [your decisions]. Use only what I tell you — don't invent details."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Modelling &amp; simulation as method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modélisation et la simulation comme méthode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14400" y="9875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power-systems researchers, simulation IS the experiment — design standards still apply  ·  Pour nos chercheurs, la simulation EST l'expérience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11480" y="1298448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48640" y="14081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Validity — does the model reflect reality?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18653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Validité — le modèle reflète-t-il la réalité ?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48640" y="21671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against known grid data or published benchmarks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" y="25511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every assumption explicitly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8640" y="29352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 contingency testing is a standard validity check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68980" y="1298448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406140" y="14081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 — can others repeat it?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06140" y="18653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Reproductibilité — d'autres peuvent-ils le reproduire ?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406140" y="21671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random seeds; document software versions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406140" y="25511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parameter files (DigSILENT, MATLAB scripts)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406140" y="29352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all initial conditions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26480" y="1298448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263640" y="14081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role in simulation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263640" y="18653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de l'IA dans la simulation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263640" y="21671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/ RL: an algorithm under test, not a design tool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263640" y="25511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Projects: help structure, not parameterise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263640" y="29352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decide what the model tests — the AI does not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20040" y="35478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691 connection: concepts of causal inference — controlled comparison, what varies, what is held constant — apply equally to simulation experiments  ·  Même logique que l'inférence causale : qu'est-ce qui varie, qu'est-ce qui est contrôlé ?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lide-2-image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0040" y="164592"/>
            <a:ext cx="502920" cy="502920"/>
          </a:xfrm>
          <a:prstGeom prst="ellipse">
            <a:avLst/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19456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37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methodology section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914400" y="658368"/>
            <a:ext cx="2011680" cy="45720"/>
          </a:xfrm>
          <a:prstGeom prst="rect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Rédiger la section méthodologie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132320" y="10972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02C7C"/>
          </a:solidFill>
          <a:ln w="12700">
            <a:solidFill>
              <a:srgbClr val="002C7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0" y="109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Projects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14400" y="9875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help draft — the reasoning must remain yours  ·  L'IA peut aider à rédiger — le raisonnement doit rester le vôtre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" y="1261872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0292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Claude Projects can do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1627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Claude Projects peut faire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19019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your bullet-point notes into flowing prose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2920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structure: rationale → variables → tools → validation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" y="3035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vague language ('appropriate method', 'good results')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" y="3602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 paragraph from your design decisions — if you supply them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0" y="1261872"/>
            <a:ext cx="4251960" cy="3200400"/>
          </a:xfrm>
          <a:prstGeom prst="roundRect">
            <a:avLst>
              <a:gd name="adj" fmla="val 3429"/>
            </a:avLst>
          </a:prstGeom>
          <a:solidFill>
            <a:srgbClr val="E8EEF7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736592" y="1353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stay with you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736592" y="16276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94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doit rester de vous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736592" y="1901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 chose this method over alternatives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736592" y="2468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your variables map to your research question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36592" y="30358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limitations of your design are — and why you accept them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736592" y="36027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number, tool name, and validation criterion in the text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20040" y="4462272"/>
            <a:ext cx="8503920" cy="384048"/>
          </a:xfrm>
          <a:prstGeom prst="roundRect">
            <a:avLst>
              <a:gd name="adj" fmla="val 28571"/>
            </a:avLst>
          </a:prstGeom>
          <a:solidFill>
            <a:srgbClr val="002C7C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502920" y="449884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THINKING YOURS  ·  GARDEZ LA RÉFLEXION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502920" y="466344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can write prose; it cannot know why your choices are right for your research. That knowledge is your thesis.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002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2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01168"/>
            <a:ext cx="2286000" cy="3474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49040" y="777240"/>
            <a:ext cx="1645920" cy="1645920"/>
          </a:xfrm>
          <a:prstGeom prst="ellipse">
            <a:avLst/>
          </a:prstGeom>
          <a:solidFill>
            <a:srgbClr val="EEA901"/>
          </a:solidFill>
          <a:ln w="12700">
            <a:solidFill>
              <a:srgbClr val="EEA901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941832"/>
            <a:ext cx="1316736" cy="13167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2670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leave with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457200" y="3081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vous repartez avec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097280" y="3401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mapped methodology: question → variables → method → validation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méthodologie cartographiée : question → variables → méthode → validation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097280" y="380390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Claude Projects workspace configured to question, not to decide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espace Claude Projects configuré pour questionner, non pour décider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097280" y="4206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draft methodology section you can explain and defend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EEA9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section méthodologie que vous pouvez expliquer et défendre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40080" y="4617720"/>
            <a:ext cx="7863840" cy="365760"/>
          </a:xfrm>
          <a:prstGeom prst="roundRect">
            <a:avLst>
              <a:gd name="adj" fmla="val 30000"/>
            </a:avLst>
          </a:prstGeom>
          <a:solidFill>
            <a:srgbClr val="0A2060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22960" y="463600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ask: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explain and defend this methodology as your own thinking?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20040" y="4828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POLY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AIX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Tools for Research – Week 2: Experimental Design &amp; Methodology</dc:title>
  <dc:subject>PptxGenJS Presentation</dc:subject>
  <dc:creator>AIX Center – SUNY Polytechnic Institute</dc:creator>
  <cp:lastModifiedBy>AIX Center – SUNY Polytechnic Institute</cp:lastModifiedBy>
  <cp:revision>1</cp:revision>
  <dcterms:created xsi:type="dcterms:W3CDTF">2026-07-05T23:12:07Z</dcterms:created>
  <dcterms:modified xsi:type="dcterms:W3CDTF">2026-07-05T23:12:07Z</dcterms:modified>
</cp:coreProperties>
</file>