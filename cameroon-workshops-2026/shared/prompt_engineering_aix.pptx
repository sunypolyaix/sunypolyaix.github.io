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228600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5943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 ·  L'INGÉNIERIE DE PROMPT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320040" y="9601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AI Better Questions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320040" y="162763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Mieux formuler vos requêtes IA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20040" y="21214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words you choose shape the answers you get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les mots choisis façonnent les réponses obtenues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26974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Trusting Inekwe  ·  Universities of Yaoundé I &amp; Buea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35661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3A7A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566160"/>
            <a:ext cx="2331720" cy="0"/>
          </a:xfrm>
          <a:prstGeom prst="line">
            <a:avLst/>
          </a:prstGeom>
          <a:noFill/>
          <a:ln w="12700">
            <a:solidFill>
              <a:srgbClr val="EEA90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3639312"/>
            <a:ext cx="128016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4279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Polytechnic Institute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45445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Utica, New York · USA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268980" y="35661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3A7A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06140" y="3566160"/>
            <a:ext cx="2331720" cy="0"/>
          </a:xfrm>
          <a:prstGeom prst="line">
            <a:avLst/>
          </a:prstGeom>
          <a:noFill/>
          <a:ln w="12700">
            <a:solidFill>
              <a:srgbClr val="EEA90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20" y="3639312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60420" y="4279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Buea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360420" y="45445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Buea · Cameroon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126480" y="35661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3A7A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63640" y="3566160"/>
            <a:ext cx="2331720" cy="0"/>
          </a:xfrm>
          <a:prstGeom prst="line">
            <a:avLst/>
          </a:prstGeom>
          <a:noFill/>
          <a:ln w="12700">
            <a:solidFill>
              <a:srgbClr val="EEA90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639312"/>
            <a:ext cx="594360" cy="5943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17920" y="4279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de Yaoundé I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217920" y="45445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Yaoundé · Cameroun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at the AIX Center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182880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Développé au Centre AIX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14400" y="96926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Exploration Center  ·  SUNY Polytechnic Institute  ·  “AI for All”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0040" y="1298448"/>
            <a:ext cx="3977640" cy="1115568"/>
          </a:xfrm>
          <a:prstGeom prst="roundRect">
            <a:avLst>
              <a:gd name="adj" fmla="val 9836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9888"/>
            <a:ext cx="914400" cy="914400"/>
          </a:xfrm>
          <a:prstGeom prst="ellipse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14081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Trusting Inekwe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463040" y="17282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· AIX Center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463040" y="1956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Doc · Foundation Models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572000" y="1298448"/>
            <a:ext cx="3977640" cy="1115568"/>
          </a:xfrm>
          <a:prstGeom prst="roundRect">
            <a:avLst>
              <a:gd name="adj" fmla="val 9836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389888"/>
            <a:ext cx="914400" cy="914400"/>
          </a:xfrm>
          <a:prstGeom prst="ellipse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715000" y="14081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William Thistleton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715000" y="17282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Co-Director · AIX Center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715000" y="1956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Mathematics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11480" y="260604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440180" y="2697480"/>
            <a:ext cx="548640" cy="54864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332" y="277063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2920" y="3282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502920" y="35570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of foundation models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de fondation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3268980" y="260604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297680" y="2697480"/>
            <a:ext cx="548640" cy="54864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2770632"/>
            <a:ext cx="402336" cy="40233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360420" y="3282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3360420" y="35570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development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d'applications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126480" y="260604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155180" y="2697480"/>
            <a:ext cx="548640" cy="54864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8332" y="2770632"/>
            <a:ext cx="402336" cy="40233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217920" y="3282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1500" dirty="0"/>
          </a:p>
        </p:txBody>
      </p:sp>
      <p:sp>
        <p:nvSpPr>
          <p:cNvPr id="33" name="Text 24"/>
          <p:cNvSpPr/>
          <p:nvPr/>
        </p:nvSpPr>
        <p:spPr>
          <a:xfrm>
            <a:off x="6217920" y="35570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User-experience research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utilisateur</a:t>
            </a:r>
            <a:endParaRPr lang="en-US" sz="10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4828032"/>
            <a:ext cx="1645920" cy="24688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993392" y="4818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AIX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prompt engineering matters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l'ingénierie de prompt compte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0040" y="1115568"/>
            <a:ext cx="3977640" cy="2148840"/>
          </a:xfrm>
          <a:prstGeom prst="roundRect">
            <a:avLst>
              <a:gd name="adj" fmla="val 5106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84632" y="1243584"/>
            <a:ext cx="530352" cy="530352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07592"/>
            <a:ext cx="402336" cy="4023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24712" y="122529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tool, different depth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124712" y="15361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outil, profondeur différente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84632" y="1847088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vague prompt returns a generic answer — a precise one returns a research-grade answer.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consigne vague donne une réponse générique — une consigne précise, une réponse digne de la recherche.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572000" y="1115568"/>
            <a:ext cx="3977640" cy="2148840"/>
          </a:xfrm>
          <a:prstGeom prst="roundRect">
            <a:avLst>
              <a:gd name="adj" fmla="val 5106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736592" y="1243584"/>
            <a:ext cx="530352" cy="530352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07592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76672" y="122529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transferable skill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376672" y="15361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compétence transférable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736592" y="1847088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well serves your whole career, not just this thesis.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 formuler ses consignes sert toute une carrière, pas seulement cette thèse.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20040" y="3401568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002C7C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02920" y="34564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quality of your question shapes the quality of your research.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02920" y="373075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qualité de votre question détermine celle de votre recherche.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anatomy of a good prompt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L'anatomie d'une bonne consigne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0040" y="1115568"/>
            <a:ext cx="3977640" cy="2212848"/>
          </a:xfrm>
          <a:prstGeom prst="roundRect">
            <a:avLst>
              <a:gd name="adj" fmla="val 4959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84632" y="1261872"/>
            <a:ext cx="512064" cy="512064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06424" y="1225296"/>
            <a:ext cx="3081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prompts invite vague answers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84632" y="170992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consignes vagues génèrent des réponses vagues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84632" y="198424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role · no context · no format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generic, one-size-fits-all output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rôle · pas de contexte · pas de format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 générique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572000" y="1115568"/>
            <a:ext cx="3977640" cy="2212848"/>
          </a:xfrm>
          <a:prstGeom prst="roundRect">
            <a:avLst>
              <a:gd name="adj" fmla="val 4959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736592" y="1261872"/>
            <a:ext cx="512064" cy="512064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2588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58384" y="1225296"/>
            <a:ext cx="3081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prompts invite specific answers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736592" y="170992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consignes précises génèrent des réponses précises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736592" y="198424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· context · constraints · examples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you can actually use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· contexte · contraintes · exemples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 exploitable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20040" y="3456432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002C7C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621024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24128" y="349300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litmus test: would a stranger get the same quality of answer from your prompt alone?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024128" y="38039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test décisif : un inconnu obtiendrait-il la même qualité de réponse avec votre seule consigne ?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moves for better prompts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 réflexes pour mieux formuler vos consignes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0040" y="1261872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57200" y="1353312"/>
            <a:ext cx="475488" cy="475488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1353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042416" y="1353312"/>
            <a:ext cx="475488" cy="475488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0817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13533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a role &amp; context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645920" y="16276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Donner un rôle et du contexte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20040" y="1975104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7200" y="2066544"/>
            <a:ext cx="475488" cy="475488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2066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1042416" y="2066544"/>
            <a:ext cx="475488" cy="475488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121408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20665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format &amp; constraints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645920" y="23408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Préciser le format et les contraintes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2688336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57200" y="2779776"/>
            <a:ext cx="475488" cy="475488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57200" y="2779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1042416" y="2779776"/>
            <a:ext cx="475488" cy="475488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83464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27797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it to question you first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645920" y="30540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 demander de vous questionner d'abord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20040" y="3401568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57200" y="3493008"/>
            <a:ext cx="475488" cy="475488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57200" y="3493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Shape 25"/>
          <p:cNvSpPr/>
          <p:nvPr/>
        </p:nvSpPr>
        <p:spPr>
          <a:xfrm>
            <a:off x="1042416" y="3493008"/>
            <a:ext cx="475488" cy="475488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547872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645920" y="3493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it in your sources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1645920" y="37673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L'ancrer dans vos sources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320040" y="4114800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57200" y="4206240"/>
            <a:ext cx="475488" cy="475488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457200" y="4206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Shape 31"/>
          <p:cNvSpPr/>
          <p:nvPr/>
        </p:nvSpPr>
        <p:spPr>
          <a:xfrm>
            <a:off x="1042416" y="4206240"/>
            <a:ext cx="475488" cy="475488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4261104"/>
            <a:ext cx="365760" cy="36576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645920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Iterate: critique, then refine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1645920" y="44805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Itérer : critiquer, puis affiner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Give it a role &amp; context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Donner un rôle et du contexte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132320" y="10972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" y="1042416"/>
            <a:ext cx="4160520" cy="3127248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47472" y="10789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200" dirty="0"/>
          </a:p>
        </p:txBody>
      </p:sp>
      <p:sp>
        <p:nvSpPr>
          <p:cNvPr id="12" name="Text 8"/>
          <p:cNvSpPr/>
          <p:nvPr/>
        </p:nvSpPr>
        <p:spPr>
          <a:xfrm>
            <a:off x="1207008" y="111556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one-line question gets a one-line-deep answer.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316736" y="140817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question d'une ligne obtient une réponse tout aussi superficielle.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207008" y="208483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AI who you are, your field, and your goal before you ask.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316736" y="23774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Dites à l'IA qui vous êtes, votre domaine et votre objectif avant de poser la question.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207008" y="3054096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not small talk — it is instruction.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316736" y="334670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contexte n'est pas une formalité — c'est une instruction.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63440" y="1042416"/>
            <a:ext cx="4160520" cy="3127248"/>
          </a:xfrm>
          <a:prstGeom prst="roundRect">
            <a:avLst>
              <a:gd name="adj" fmla="val 3509"/>
            </a:avLst>
          </a:prstGeom>
          <a:solidFill>
            <a:srgbClr val="F5F8FF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828032" y="1115568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  ·  ESSAYEZ CETTE CONSIGNE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828032" y="1353312"/>
            <a:ext cx="3675888" cy="0"/>
          </a:xfrm>
          <a:prstGeom prst="line">
            <a:avLst/>
          </a:prstGeom>
          <a:noFill/>
          <a:ln w="12700">
            <a:solidFill>
              <a:srgbClr val="EEA90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28032" y="1426464"/>
            <a:ext cx="38221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am an MSc student building a TinyML model for crop yield prediction on low-power devices. Act as a research advisor in embedded ML. Given a microcontroller with 256KB RAM, what evaluation metrics should I prioritize, and why?"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828032" y="3657600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+ contexte + contrainte technique → réponse de niveau recherche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Specify format &amp; constraints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Préciser le format et les contraintes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132320" y="10972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" y="1042416"/>
            <a:ext cx="4160520" cy="3127248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47472" y="10789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200" dirty="0"/>
          </a:p>
        </p:txBody>
      </p:sp>
      <p:sp>
        <p:nvSpPr>
          <p:cNvPr id="12" name="Text 8"/>
          <p:cNvSpPr/>
          <p:nvPr/>
        </p:nvSpPr>
        <p:spPr>
          <a:xfrm>
            <a:off x="1207008" y="111556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question, asked two ways, can return a paragraph or a table.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316736" y="140817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même question, posée différemment, peut donner un paragraphe ou un tableau.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207008" y="208483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length, structure, and audience you need.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316736" y="23774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Précisez la longueur, la structure et le public visé.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207008" y="3054096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force useful, not just correct, answers.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316736" y="334670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contraintes produisent des réponses utiles, pas seulement correctes.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63440" y="1042416"/>
            <a:ext cx="4160520" cy="3127248"/>
          </a:xfrm>
          <a:prstGeom prst="roundRect">
            <a:avLst>
              <a:gd name="adj" fmla="val 3509"/>
            </a:avLst>
          </a:prstGeom>
          <a:solidFill>
            <a:srgbClr val="F5F8FF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828032" y="1115568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  ·  ESSAYEZ CETTE CONSIGNE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828032" y="1353312"/>
            <a:ext cx="3675888" cy="0"/>
          </a:xfrm>
          <a:prstGeom prst="line">
            <a:avLst/>
          </a:prstGeom>
          <a:noFill/>
          <a:ln w="12700">
            <a:solidFill>
              <a:srgbClr val="EEA90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28032" y="1426464"/>
            <a:ext cx="38221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"Explain text-to-SQL translation in low-resource settings in exactly 5 bullet points, each under 20 words, written for a reader with no NLP background."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828032" y="3657600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explicite → réponse utilisable directement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Ask it to question you first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 demander de vous questionner d'abord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132320" y="10972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" y="1042416"/>
            <a:ext cx="4160520" cy="3127248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47472" y="10789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200" dirty="0"/>
          </a:p>
        </p:txBody>
      </p:sp>
      <p:sp>
        <p:nvSpPr>
          <p:cNvPr id="12" name="Text 8"/>
          <p:cNvSpPr/>
          <p:nvPr/>
        </p:nvSpPr>
        <p:spPr>
          <a:xfrm>
            <a:off x="1207008" y="111556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let AI hand you your research question.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316736" y="140817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laissez pas l'IA vous donner votre question de recherche.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207008" y="208483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it to interrogate your idea instead of completing it.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316736" y="23774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Demandez-lui d'interroger votre idée plutôt que de la compléter.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207008" y="3054096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the thinking; AI does the asking.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316736" y="334670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réfléchissez ; l'IA questionne.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63440" y="1042416"/>
            <a:ext cx="4160520" cy="3127248"/>
          </a:xfrm>
          <a:prstGeom prst="roundRect">
            <a:avLst>
              <a:gd name="adj" fmla="val 3509"/>
            </a:avLst>
          </a:prstGeom>
          <a:solidFill>
            <a:srgbClr val="F5F8FF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828032" y="1115568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  ·  ESSAYEZ CETTE CONSIGNE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828032" y="1353312"/>
            <a:ext cx="3675888" cy="0"/>
          </a:xfrm>
          <a:prstGeom prst="line">
            <a:avLst/>
          </a:prstGeom>
          <a:noFill/>
          <a:ln w="12700">
            <a:solidFill>
              <a:srgbClr val="EEA90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28032" y="1426464"/>
            <a:ext cx="38221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"Don't propose a research question. Ask me one question at a time to narrow my interest in fraud detection on embedded systems into a specific, testable research question."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828032" y="3657600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questionne — vous définissez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·  Ground it in your sources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L'ancrer dans vos sources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132320" y="10972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" y="1042416"/>
            <a:ext cx="4160520" cy="3127248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47472" y="10789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200" dirty="0"/>
          </a:p>
        </p:txBody>
      </p:sp>
      <p:sp>
        <p:nvSpPr>
          <p:cNvPr id="12" name="Text 8"/>
          <p:cNvSpPr/>
          <p:nvPr/>
        </p:nvSpPr>
        <p:spPr>
          <a:xfrm>
            <a:off x="1207008" y="111556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knowledge can drift or hallucinate; your sources can't.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316736" y="140817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connaissances générales peuvent dériver ou halluciner ; vos sources non.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207008" y="208483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your papers, then restrict answers to only those documents.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316736" y="23774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Importez vos articles, puis limitez les réponses à ces seuls documents.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207008" y="3054096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should trace back to a page you can check.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316736" y="334670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affirmation doit renvoyer à une page vérifiable.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63440" y="1042416"/>
            <a:ext cx="4160520" cy="3127248"/>
          </a:xfrm>
          <a:prstGeom prst="roundRect">
            <a:avLst>
              <a:gd name="adj" fmla="val 3509"/>
            </a:avLst>
          </a:prstGeom>
          <a:solidFill>
            <a:srgbClr val="F5F8FF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828032" y="1115568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  ·  ESSAYEZ CETTE CONSIGNE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828032" y="1353312"/>
            <a:ext cx="3675888" cy="0"/>
          </a:xfrm>
          <a:prstGeom prst="line">
            <a:avLst/>
          </a:prstGeom>
          <a:noFill/>
          <a:ln w="12700">
            <a:solidFill>
              <a:srgbClr val="EEA90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28032" y="1426464"/>
            <a:ext cx="38221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"Using only these uploaded papers, what machine learning methods have been used for spectrum sensing in cognitive radio networks? Cite where each one appears."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828032" y="3657600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explicites → réponses vérifiables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·  Iterate: critique, then refine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Itérer : critiquer, puis affiner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132320" y="10972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" y="1042416"/>
            <a:ext cx="4160520" cy="3127248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47472" y="10789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200" dirty="0"/>
          </a:p>
        </p:txBody>
      </p:sp>
      <p:sp>
        <p:nvSpPr>
          <p:cNvPr id="12" name="Text 8"/>
          <p:cNvSpPr/>
          <p:nvPr/>
        </p:nvSpPr>
        <p:spPr>
          <a:xfrm>
            <a:off x="1207008" y="111556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prompt is a draft, not a final answer.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316736" y="140817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première consigne est un brouillon, pas une réponse définitive.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207008" y="208483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to critique its own output before you accept it.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316736" y="23774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Demandez à l'IA de critiquer sa propre réponse avant de l'accepter.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207008" y="3054096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prompts that work — build your own library.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316736" y="334670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Conservez les consignes efficaces — constituez votre propre bibliothèque.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63440" y="1042416"/>
            <a:ext cx="4160520" cy="3127248"/>
          </a:xfrm>
          <a:prstGeom prst="roundRect">
            <a:avLst>
              <a:gd name="adj" fmla="val 3509"/>
            </a:avLst>
          </a:prstGeom>
          <a:solidFill>
            <a:srgbClr val="F5F8FF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828032" y="1115568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  ·  ESSAYEZ CETTE CONSIGNE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828032" y="1353312"/>
            <a:ext cx="3675888" cy="0"/>
          </a:xfrm>
          <a:prstGeom prst="line">
            <a:avLst/>
          </a:prstGeom>
          <a:noFill/>
          <a:ln w="12700">
            <a:solidFill>
              <a:srgbClr val="EEA90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28032" y="1426464"/>
            <a:ext cx="38221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"Critique the methodology section you just wrote. What claims are unsupported? What logic is circular? What would a reviewer object to first?"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828032" y="3657600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Révision guidée par l'IA → qualité renforcée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research topics, prompted live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sujets de recherche, en direct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0040" y="1115568"/>
            <a:ext cx="3977640" cy="2606040"/>
          </a:xfrm>
          <a:prstGeom prst="roundRect">
            <a:avLst>
              <a:gd name="adj" fmla="val 4211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84632" y="1261872"/>
            <a:ext cx="530352" cy="530352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402336" cy="4023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24712" y="12618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124712" y="155448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de fraude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84632" y="193852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fraud detection using graph machine learning and stream processing.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84632" y="245059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de fraude en temps réel par apprentissage automatique sur graphes et traitement de flux.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0" y="1115568"/>
            <a:ext cx="3977640" cy="2606040"/>
          </a:xfrm>
          <a:prstGeom prst="roundRect">
            <a:avLst>
              <a:gd name="adj" fmla="val 4211"/>
            </a:avLst>
          </a:prstGeom>
          <a:solidFill>
            <a:srgbClr val="E8EEF7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736592" y="1261872"/>
            <a:ext cx="530352" cy="530352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25880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76672" y="12618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376672" y="155448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 sentiment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736592" y="193852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sentiment analysis using transformer-based NLP models.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736592" y="245059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 sentiment vocal à l'aide de modèles transformeurs en TAL.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3858768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002C7C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502920" y="39136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five moves, two different fields — the prompts adapt, the principles don't.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02920" y="41696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 mêmes réflexes, deux domaines différents — les consignes s'adaptent, les principes restent.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228600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49040" y="749808"/>
            <a:ext cx="1645920" cy="164592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914400"/>
            <a:ext cx="1316736" cy="13167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26334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leave with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457200" y="3035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vous repartez avec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1097280" y="341985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prompt library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bibliothèque de consignes réutilisables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7280" y="38221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habit of demanding context &amp; sources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réflexe d'exiger contexte et sources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7280" y="422452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Sharper questions, not faster answers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questions plus fines, pas plus rapides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4617720"/>
            <a:ext cx="7863840" cy="365760"/>
          </a:xfrm>
          <a:prstGeom prst="roundRect">
            <a:avLst>
              <a:gd name="adj" fmla="val 30000"/>
            </a:avLst>
          </a:prstGeom>
          <a:solidFill>
            <a:srgbClr val="0A2060"/>
          </a:solidFill>
          <a:ln w="12700">
            <a:solidFill>
              <a:srgbClr val="C8D4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22960" y="463600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ask: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this prompt still work if you handed it to someone else?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Tools for Research – Prompt Engineering for Research</dc:title>
  <dc:subject>PptxGenJS Presentation</dc:subject>
  <dc:creator>PptxGenJS</dc:creator>
  <cp:lastModifiedBy>PptxGenJS</cp:lastModifiedBy>
  <cp:revision>1</cp:revision>
  <dcterms:created xsi:type="dcterms:W3CDTF">2026-07-06T14:07:31Z</dcterms:created>
  <dcterms:modified xsi:type="dcterms:W3CDTF">2026-07-06T14:07:31Z</dcterms:modified>
</cp:coreProperties>
</file>