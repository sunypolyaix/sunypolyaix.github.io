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228600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943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RESEARCH  ·  L'IA AU SERVICE DE LA RECHERCHE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Study: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20040" y="157276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LLM Hyperparameters Matter?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20040" y="21762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Quelle(s) hyperparamètre(s) influencent la qualité des réponses d'un LLM 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" y="25786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2³ Factorial Experiment  ·  Session 2 of 4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639312"/>
            <a:ext cx="128016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Polytechnic Institute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Utica, New York · USA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689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061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3639312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604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Buea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3604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Buea · Cameroon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264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636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639312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de Yaoundé I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2179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Yaoundé · Cameroun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at the AIX Center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182880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Développé au Centre AIX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14400" y="96926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Exploration Center  ·  SUNY Polytechnic Institute  ·  “AI for All”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914400" cy="91440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1408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Trusting Inekwe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463040" y="1728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· AIX Center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463040" y="1956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Doc · Foundation Models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0" y="1298448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89888"/>
            <a:ext cx="914400" cy="914400"/>
          </a:xfrm>
          <a:prstGeom prst="ellipse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15000" y="1408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William Thistleton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715000" y="1728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Co-Director · AIX Center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715000" y="1956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Mathematics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114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4401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332" y="277063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29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02920" y="3557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of foundation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de fondation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2689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976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2770632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3604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3360420" y="3557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development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d'applications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1264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1551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8332" y="2770632"/>
            <a:ext cx="402336" cy="40233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179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6217920" y="3557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User-experience 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utilisateur</a:t>
            </a:r>
            <a:endParaRPr lang="en-US" sz="1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828032"/>
            <a:ext cx="1645920" cy="2468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993392" y="4818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AIX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guiding principle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principe directeur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" y="126187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1225296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AI absorb friction that doesn't teach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4632" y="18288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Laisser l'IA absorber la friction non formatrice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84632" y="20848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8 API calls · computing cosine scores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the design matrix · plotting the half-normal plot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0" y="1115568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736592" y="126187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258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49240" y="1225296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friction that does teach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736592" y="18288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Préserver la friction formatrice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736592" y="20848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factors &amp; levels · defending the response variable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the significant effects · writing the abstract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090672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002C7C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200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42416" y="31089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litmus test:  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42416" y="336499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explain why you chose these factors, these levels, and this response variable — as your own thinking?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question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question de recherche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8503920" cy="1417320"/>
          </a:xfrm>
          <a:prstGeom prst="roundRect">
            <a:avLst>
              <a:gd name="adj" fmla="val 7742"/>
            </a:avLst>
          </a:prstGeom>
          <a:solidFill>
            <a:srgbClr val="002C7C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1188720"/>
            <a:ext cx="7635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2³ factorial experiment varying temperature, top-p, and presence penalty at two levels each, which main effects and interactions significantly affect the cosine similarity between an LLM-generated summary of a fixed passage and its published reference abstract?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11480" y="2670048"/>
            <a:ext cx="2606040" cy="1810512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1463040" y="2779776"/>
            <a:ext cx="502920" cy="502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" y="2843784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" y="332841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21208" y="359359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plan d'expérience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21208" y="3803904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2³ full factorial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treatment combinations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factors × 2 levels each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268980" y="2670048"/>
            <a:ext cx="2606040" cy="1810512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320540" y="2779776"/>
            <a:ext cx="502920" cy="502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548" y="2843784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78708" y="332841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factors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3378708" y="359359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facteurs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378708" y="3803904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Temperature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Top-p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Presence penalty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126480" y="2670048"/>
            <a:ext cx="2606040" cy="1810512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178040" y="2779776"/>
            <a:ext cx="502920" cy="502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2048" y="2843784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36208" y="332841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236208" y="359359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236208" y="3803904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LLM summary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reference abstract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meta-connection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connexion méta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8503920" cy="1417320"/>
          </a:xfrm>
          <a:prstGeom prst="roundRect">
            <a:avLst>
              <a:gd name="adj" fmla="val 7742"/>
            </a:avLst>
          </a:prstGeom>
          <a:solidFill>
            <a:srgbClr val="002C7C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98448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2416" y="1188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using a transformer — built on the attention mechanism — to summarize the paper that invented the attention mechanism.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42416" y="19202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et al. (2017) — arXiv:1706.03762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0040" y="2670048"/>
            <a:ext cx="4114800" cy="2212848"/>
          </a:xfrm>
          <a:prstGeom prst="roundRect">
            <a:avLst>
              <a:gd name="adj" fmla="val 495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0292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02920" y="3054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"Attention Is All You Need"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2920" y="3346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the Transformer architecture (2017)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2920" y="36941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RNNs with self-attention entirely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02920" y="4041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 the foundation of every modern LLM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02920" y="4389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been cited over 100,000 times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2670048"/>
            <a:ext cx="4114800" cy="2212848"/>
          </a:xfrm>
          <a:prstGeom prst="roundRect">
            <a:avLst>
              <a:gd name="adj" fmla="val 495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89204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choice matters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892040" y="3054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choix est important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92040" y="3346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capstone student in ML should know this paper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892040" y="36941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abstract is peer-reviewed — not constructed by us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892040" y="4041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 gives a reason to read the original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892040" y="4389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and the object of study are the same thing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2³ factorial design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plan factoriel 2³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9875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factors · two levels each · eight treatment combinations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8503920" cy="987552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38912" y="1499616"/>
            <a:ext cx="384048" cy="502920"/>
          </a:xfrm>
          <a:prstGeom prst="roundRect">
            <a:avLst>
              <a:gd name="adj" fmla="val 14286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912" y="1499616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2688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2688" y="1664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Température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32688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in token sampling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46120" y="1408176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F0F4FB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364992" y="142646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 (−1)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364992" y="16459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  (deterministic)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806440" y="1408176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FFF8E8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925312" y="142646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(+1)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925312" y="16459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 (creative)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20040" y="2450592"/>
            <a:ext cx="8503920" cy="987552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8912" y="2651760"/>
            <a:ext cx="384048" cy="502920"/>
          </a:xfrm>
          <a:prstGeom prst="roundRect">
            <a:avLst>
              <a:gd name="adj" fmla="val 14286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8912" y="265176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932688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932688" y="2816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932688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 sampling — probability mass threshold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246120" y="256032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F0F4FB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3364992" y="25786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 (−1)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364992" y="279806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 (focused)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806440" y="256032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FFF8E8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5925312" y="25786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(+1)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5925312" y="279806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 (open)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320040" y="3602736"/>
            <a:ext cx="8503920" cy="987552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38912" y="3803904"/>
            <a:ext cx="384048" cy="502920"/>
          </a:xfrm>
          <a:prstGeom prst="roundRect">
            <a:avLst>
              <a:gd name="adj" fmla="val 14286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8912" y="380390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932688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penalty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932688" y="3968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Pénalité de présence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932688" y="4197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Discourages repeating any token already used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246120" y="3712464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F0F4FB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3364992" y="37307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 (−1)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3364992" y="39502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  (none)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5806440" y="3712464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FFF8E8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5925312" y="37307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(+1)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5925312" y="39502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 (strong)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320040" y="455371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parameters held constant across all 8 runs: model = claude-sonnet-4-6, max_tokens = 300, seed fixed.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 treatment combinations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8 combinaisons de traitements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9875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Yates standard order · each row is one API call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128016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280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32688" y="128016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176272" y="128016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176272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19856" y="128016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19856" y="1280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09160" y="128016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0916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value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52744" y="128016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52744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value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196328" y="1280160"/>
            <a:ext cx="1353312" cy="411480"/>
          </a:xfrm>
          <a:prstGeom prst="roundRect">
            <a:avLst>
              <a:gd name="adj" fmla="val 1333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196328" y="12801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0040" y="1719072"/>
            <a:ext cx="54864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1719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932688" y="171907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32688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2176272" y="171907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176272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3419856" y="1719072"/>
            <a:ext cx="123444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419856" y="17190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709160" y="171907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09160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952744" y="171907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952744" y="1719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7196328" y="1719072"/>
            <a:ext cx="1353312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196328" y="171907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320040" y="2084832"/>
            <a:ext cx="54864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932688" y="208483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32688" y="2084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2176272" y="208483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176272" y="2084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3419856" y="2084832"/>
            <a:ext cx="123444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419856" y="2084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4709160" y="208483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709160" y="2084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5952744" y="208483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952744" y="2084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7196328" y="2084832"/>
            <a:ext cx="1353312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196328" y="20848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320040" y="2450592"/>
            <a:ext cx="54864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2004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932688" y="245059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932688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55" name="Shape 51"/>
          <p:cNvSpPr/>
          <p:nvPr/>
        </p:nvSpPr>
        <p:spPr>
          <a:xfrm>
            <a:off x="2176272" y="245059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2176272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7" name="Shape 53"/>
          <p:cNvSpPr/>
          <p:nvPr/>
        </p:nvSpPr>
        <p:spPr>
          <a:xfrm>
            <a:off x="3419856" y="2450592"/>
            <a:ext cx="123444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419856" y="24505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4709160" y="245059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709160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5952744" y="245059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952744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63" name="Shape 59"/>
          <p:cNvSpPr/>
          <p:nvPr/>
        </p:nvSpPr>
        <p:spPr>
          <a:xfrm>
            <a:off x="7196328" y="2450592"/>
            <a:ext cx="1353312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196328" y="245059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200" dirty="0"/>
          </a:p>
        </p:txBody>
      </p:sp>
      <p:sp>
        <p:nvSpPr>
          <p:cNvPr id="65" name="Shape 61"/>
          <p:cNvSpPr/>
          <p:nvPr/>
        </p:nvSpPr>
        <p:spPr>
          <a:xfrm>
            <a:off x="320040" y="2816352"/>
            <a:ext cx="54864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320040" y="28163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932688" y="281635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932688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9" name="Shape 65"/>
          <p:cNvSpPr/>
          <p:nvPr/>
        </p:nvSpPr>
        <p:spPr>
          <a:xfrm>
            <a:off x="2176272" y="281635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2176272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1" name="Shape 67"/>
          <p:cNvSpPr/>
          <p:nvPr/>
        </p:nvSpPr>
        <p:spPr>
          <a:xfrm>
            <a:off x="3419856" y="2816352"/>
            <a:ext cx="123444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3419856" y="2816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73" name="Shape 69"/>
          <p:cNvSpPr/>
          <p:nvPr/>
        </p:nvSpPr>
        <p:spPr>
          <a:xfrm>
            <a:off x="4709160" y="281635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4709160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200" dirty="0"/>
          </a:p>
        </p:txBody>
      </p:sp>
      <p:sp>
        <p:nvSpPr>
          <p:cNvPr id="75" name="Shape 71"/>
          <p:cNvSpPr/>
          <p:nvPr/>
        </p:nvSpPr>
        <p:spPr>
          <a:xfrm>
            <a:off x="5952744" y="281635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952744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77" name="Shape 73"/>
          <p:cNvSpPr/>
          <p:nvPr/>
        </p:nvSpPr>
        <p:spPr>
          <a:xfrm>
            <a:off x="7196328" y="2816352"/>
            <a:ext cx="1353312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7196328" y="28163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200" dirty="0"/>
          </a:p>
        </p:txBody>
      </p:sp>
      <p:sp>
        <p:nvSpPr>
          <p:cNvPr id="79" name="Shape 75"/>
          <p:cNvSpPr/>
          <p:nvPr/>
        </p:nvSpPr>
        <p:spPr>
          <a:xfrm>
            <a:off x="320040" y="3182112"/>
            <a:ext cx="54864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320040" y="3182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81" name="Shape 77"/>
          <p:cNvSpPr/>
          <p:nvPr/>
        </p:nvSpPr>
        <p:spPr>
          <a:xfrm>
            <a:off x="932688" y="318211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932688" y="3182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83" name="Shape 79"/>
          <p:cNvSpPr/>
          <p:nvPr/>
        </p:nvSpPr>
        <p:spPr>
          <a:xfrm>
            <a:off x="2176272" y="318211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2176272" y="3182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85" name="Shape 81"/>
          <p:cNvSpPr/>
          <p:nvPr/>
        </p:nvSpPr>
        <p:spPr>
          <a:xfrm>
            <a:off x="3419856" y="3182112"/>
            <a:ext cx="123444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3419856" y="31821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7" name="Shape 83"/>
          <p:cNvSpPr/>
          <p:nvPr/>
        </p:nvSpPr>
        <p:spPr>
          <a:xfrm>
            <a:off x="4709160" y="318211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4709160" y="3182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200" dirty="0"/>
          </a:p>
        </p:txBody>
      </p:sp>
      <p:sp>
        <p:nvSpPr>
          <p:cNvPr id="89" name="Shape 85"/>
          <p:cNvSpPr/>
          <p:nvPr/>
        </p:nvSpPr>
        <p:spPr>
          <a:xfrm>
            <a:off x="5952744" y="318211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5952744" y="3182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1200" dirty="0"/>
          </a:p>
        </p:txBody>
      </p:sp>
      <p:sp>
        <p:nvSpPr>
          <p:cNvPr id="91" name="Shape 87"/>
          <p:cNvSpPr/>
          <p:nvPr/>
        </p:nvSpPr>
        <p:spPr>
          <a:xfrm>
            <a:off x="7196328" y="3182112"/>
            <a:ext cx="1353312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7196328" y="31821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200" dirty="0"/>
          </a:p>
        </p:txBody>
      </p:sp>
      <p:sp>
        <p:nvSpPr>
          <p:cNvPr id="93" name="Shape 89"/>
          <p:cNvSpPr/>
          <p:nvPr/>
        </p:nvSpPr>
        <p:spPr>
          <a:xfrm>
            <a:off x="320040" y="3547872"/>
            <a:ext cx="54864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320040" y="3547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95" name="Shape 91"/>
          <p:cNvSpPr/>
          <p:nvPr/>
        </p:nvSpPr>
        <p:spPr>
          <a:xfrm>
            <a:off x="932688" y="354787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932688" y="35478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97" name="Shape 93"/>
          <p:cNvSpPr/>
          <p:nvPr/>
        </p:nvSpPr>
        <p:spPr>
          <a:xfrm>
            <a:off x="2176272" y="354787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2176272" y="35478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99" name="Shape 95"/>
          <p:cNvSpPr/>
          <p:nvPr/>
        </p:nvSpPr>
        <p:spPr>
          <a:xfrm>
            <a:off x="3419856" y="3547872"/>
            <a:ext cx="123444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3419856" y="35478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01" name="Shape 97"/>
          <p:cNvSpPr/>
          <p:nvPr/>
        </p:nvSpPr>
        <p:spPr>
          <a:xfrm>
            <a:off x="4709160" y="354787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4709160" y="35478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200" dirty="0"/>
          </a:p>
        </p:txBody>
      </p:sp>
      <p:sp>
        <p:nvSpPr>
          <p:cNvPr id="103" name="Shape 99"/>
          <p:cNvSpPr/>
          <p:nvPr/>
        </p:nvSpPr>
        <p:spPr>
          <a:xfrm>
            <a:off x="5952744" y="354787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5952744" y="35478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1200" dirty="0"/>
          </a:p>
        </p:txBody>
      </p:sp>
      <p:sp>
        <p:nvSpPr>
          <p:cNvPr id="105" name="Shape 101"/>
          <p:cNvSpPr/>
          <p:nvPr/>
        </p:nvSpPr>
        <p:spPr>
          <a:xfrm>
            <a:off x="7196328" y="3547872"/>
            <a:ext cx="1353312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7196328" y="354787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200" dirty="0"/>
          </a:p>
        </p:txBody>
      </p:sp>
      <p:sp>
        <p:nvSpPr>
          <p:cNvPr id="107" name="Shape 103"/>
          <p:cNvSpPr/>
          <p:nvPr/>
        </p:nvSpPr>
        <p:spPr>
          <a:xfrm>
            <a:off x="320040" y="3913632"/>
            <a:ext cx="54864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320040" y="3913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09" name="Shape 105"/>
          <p:cNvSpPr/>
          <p:nvPr/>
        </p:nvSpPr>
        <p:spPr>
          <a:xfrm>
            <a:off x="932688" y="391363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932688" y="3913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400" dirty="0"/>
          </a:p>
        </p:txBody>
      </p:sp>
      <p:sp>
        <p:nvSpPr>
          <p:cNvPr id="111" name="Shape 107"/>
          <p:cNvSpPr/>
          <p:nvPr/>
        </p:nvSpPr>
        <p:spPr>
          <a:xfrm>
            <a:off x="2176272" y="391363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2176272" y="3913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3" name="Shape 109"/>
          <p:cNvSpPr/>
          <p:nvPr/>
        </p:nvSpPr>
        <p:spPr>
          <a:xfrm>
            <a:off x="3419856" y="3913632"/>
            <a:ext cx="123444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3419856" y="39136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5" name="Shape 111"/>
          <p:cNvSpPr/>
          <p:nvPr/>
        </p:nvSpPr>
        <p:spPr>
          <a:xfrm>
            <a:off x="4709160" y="391363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4709160" y="3913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200" dirty="0"/>
          </a:p>
        </p:txBody>
      </p:sp>
      <p:sp>
        <p:nvSpPr>
          <p:cNvPr id="117" name="Shape 113"/>
          <p:cNvSpPr/>
          <p:nvPr/>
        </p:nvSpPr>
        <p:spPr>
          <a:xfrm>
            <a:off x="5952744" y="3913632"/>
            <a:ext cx="118872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5952744" y="3913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19" name="Shape 115"/>
          <p:cNvSpPr/>
          <p:nvPr/>
        </p:nvSpPr>
        <p:spPr>
          <a:xfrm>
            <a:off x="7196328" y="3913632"/>
            <a:ext cx="1353312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7196328" y="391363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200" dirty="0"/>
          </a:p>
        </p:txBody>
      </p:sp>
      <p:sp>
        <p:nvSpPr>
          <p:cNvPr id="121" name="Shape 117"/>
          <p:cNvSpPr/>
          <p:nvPr/>
        </p:nvSpPr>
        <p:spPr>
          <a:xfrm>
            <a:off x="320040" y="4279392"/>
            <a:ext cx="54864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320040" y="4279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23" name="Shape 119"/>
          <p:cNvSpPr/>
          <p:nvPr/>
        </p:nvSpPr>
        <p:spPr>
          <a:xfrm>
            <a:off x="932688" y="427939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932688" y="4279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5" name="Shape 121"/>
          <p:cNvSpPr/>
          <p:nvPr/>
        </p:nvSpPr>
        <p:spPr>
          <a:xfrm>
            <a:off x="2176272" y="427939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26" name="Text 122"/>
          <p:cNvSpPr/>
          <p:nvPr/>
        </p:nvSpPr>
        <p:spPr>
          <a:xfrm>
            <a:off x="2176272" y="4279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7" name="Shape 123"/>
          <p:cNvSpPr/>
          <p:nvPr/>
        </p:nvSpPr>
        <p:spPr>
          <a:xfrm>
            <a:off x="3419856" y="4279392"/>
            <a:ext cx="123444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28" name="Text 124"/>
          <p:cNvSpPr/>
          <p:nvPr/>
        </p:nvSpPr>
        <p:spPr>
          <a:xfrm>
            <a:off x="3419856" y="4279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9" name="Shape 125"/>
          <p:cNvSpPr/>
          <p:nvPr/>
        </p:nvSpPr>
        <p:spPr>
          <a:xfrm>
            <a:off x="4709160" y="427939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4709160" y="4279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200" dirty="0"/>
          </a:p>
        </p:txBody>
      </p:sp>
      <p:sp>
        <p:nvSpPr>
          <p:cNvPr id="131" name="Shape 127"/>
          <p:cNvSpPr/>
          <p:nvPr/>
        </p:nvSpPr>
        <p:spPr>
          <a:xfrm>
            <a:off x="5952744" y="4279392"/>
            <a:ext cx="11887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5952744" y="4279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33" name="Shape 129"/>
          <p:cNvSpPr/>
          <p:nvPr/>
        </p:nvSpPr>
        <p:spPr>
          <a:xfrm>
            <a:off x="7196328" y="4279392"/>
            <a:ext cx="1353312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EA"/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7196328" y="427939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200" dirty="0"/>
          </a:p>
        </p:txBody>
      </p:sp>
      <p:sp>
        <p:nvSpPr>
          <p:cNvPr id="135" name="Text 131"/>
          <p:cNvSpPr/>
          <p:nvPr/>
        </p:nvSpPr>
        <p:spPr>
          <a:xfrm>
            <a:off x="320040" y="466344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Yᵢ = cosine similarity(LLM summaryᵢ, reference abstract)   — computed after each run</a:t>
            </a:r>
            <a:endParaRPr lang="en-US" sz="1050" dirty="0"/>
          </a:p>
        </p:txBody>
      </p:sp>
      <p:sp>
        <p:nvSpPr>
          <p:cNvPr id="136" name="Text 132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passage &amp; reference answer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texte source et la réponse de référence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1207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 —  The passage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1463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1: Introduction  ·  Vaswani et al. (2017)  ·  ~350 words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17556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RNNs and LSTMs dominate sequence modeling but are inherently sequential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22128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computation limits parallelisation — a key bottleneck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26700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mechanisms have been used alongside RNNs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31272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Proposal: a Transformer relying entirely on attention — no recurrence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" y="35844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more parallelizable, faster to train, state-of-the-art quality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160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prompt sent to LLM with this text: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8912" y="4370832"/>
            <a:ext cx="3703320" cy="201168"/>
          </a:xfrm>
          <a:prstGeom prst="roundRect">
            <a:avLst>
              <a:gd name="adj" fmla="val 54545"/>
            </a:avLst>
          </a:prstGeom>
          <a:solidFill>
            <a:srgbClr val="EEF3F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02920" y="4370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“Summarize in ~150 words: main problem, solution, key results.”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709160" y="111556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892040" y="1207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 —  The published abstract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92040" y="1463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· not constructed by us · 150 words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92040" y="1755648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dominant sequence transduction models are based on complex recurrent or convolutional neural networks... We propose a new simple network architecture, the Transformer, based solely on attention mechanisms, dispensing with recurrence and convolutions entirely... Our model achieves 28.4 BLEU on WMT 2014 English-to-German... 41.8 BLEU on English-to-French after 3.5 days on eight GPUs..."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9204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peer-review matters: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892040" y="4242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is defensible — it represents expert consensus on what matters most in the paper.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variable Y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variable réponse Y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002C7C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12070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A9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=  cosine_similarity( embed(LLM summary),  embed(reference abstract) 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170992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using sentence-transformers  ·  model: all-MiniLM-L6-v2  ·  range: 0 to 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84632" y="2267712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207008" y="2377440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43230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6072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76072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76072" y="3364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1–5 rating.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number suitable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regression analysis.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569464" y="2267712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91840" y="2377440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2432304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660904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660904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2660904" y="3364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inputs always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the same score.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judgment.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54296" y="2267712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376672" y="2377440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432304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45736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745736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Interprétable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745736" y="3364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= unrelated text.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identical meaning.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0.85+ = very close.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739128" y="2267712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461504" y="2377440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2432304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30568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30568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6830568" y="3364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when hyperparameters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the topic focus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introduce repetition.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coding pipeline — overview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L'aperçu du pipeline de code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full build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9875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won't write this today — Week 3 walks through every line. Here is the shape of the problem.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1280160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8912" y="1426464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8912" y="1426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1024128" y="1426464"/>
            <a:ext cx="475488" cy="475488"/>
          </a:xfrm>
          <a:prstGeom prst="ellipse">
            <a:avLst/>
          </a:prstGeom>
          <a:solidFill>
            <a:srgbClr val="E8EEF7"/>
          </a:solidFill>
          <a:ln w="12700">
            <a:solidFill>
              <a:srgbClr val="C0D0E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4813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9344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design matrix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609344" y="1645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la matrice du plan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663440" y="1371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rows × 3 columns (A, B, C) in Yates order. Each row is one API call.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2212848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8912" y="2359152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3891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1024128" y="2359152"/>
            <a:ext cx="475488" cy="475488"/>
          </a:xfrm>
          <a:prstGeom prst="ellipse">
            <a:avLst/>
          </a:prstGeom>
          <a:solidFill>
            <a:srgbClr val="E8EEF7"/>
          </a:solidFill>
          <a:ln w="12700">
            <a:solidFill>
              <a:srgbClr val="C0D0E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41401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9344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LLM API (×8)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609344" y="2578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Appeler l'API LLM (×8)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663440" y="23042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over rows. Pass temperature, top-p, presence_penalty. Collect 8 text responses.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" y="3145536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38912" y="3291840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38912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024128" y="3291840"/>
            <a:ext cx="475488" cy="475488"/>
          </a:xfrm>
          <a:prstGeom prst="ellipse">
            <a:avLst/>
          </a:prstGeom>
          <a:solidFill>
            <a:srgbClr val="E8EEF7"/>
          </a:solidFill>
          <a:ln w="12700">
            <a:solidFill>
              <a:srgbClr val="C0D0E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346704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09344" y="3236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&amp; score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609344" y="35112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&amp; évaluer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663440" y="32369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sentence-transformers to embed each response and the reference. Compute cosine_similarity → 8 Y values.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320040" y="4078224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38912" y="4224528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38912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1024128" y="4224528"/>
            <a:ext cx="475488" cy="475488"/>
          </a:xfrm>
          <a:prstGeom prst="ellipse">
            <a:avLst/>
          </a:prstGeom>
          <a:solidFill>
            <a:srgbClr val="E8EEF7"/>
          </a:solidFill>
          <a:ln w="12700">
            <a:solidFill>
              <a:srgbClr val="C0D0E8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4279392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609344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effects &amp; plot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1609344" y="4443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Estimer les effets &amp; visualiser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663440" y="41696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the 2³ model. Compute main effects and interactions. Plot the half-normal plot to identify significant terms.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looks like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quoi ressemble l'analyse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 estimable effects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1481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7 effets estimables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80136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5488" y="1801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70432" y="1801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(main effect)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5488" y="2203704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" y="22037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70432" y="2203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(main effect)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75488" y="2606040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" y="2606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70432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penalty (main effect)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75488" y="3008376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" y="3008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70432" y="3008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× Top-p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75488" y="3410712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" y="34107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70432" y="3410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× Presence penalty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75488" y="381304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" y="38130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70432" y="3813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× Presence penalty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75488" y="4215384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" y="42153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70432" y="4215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interaction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709160" y="111556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89204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half-normal plot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892040" y="1481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graphique demi-normal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983480" y="1737360"/>
            <a:ext cx="3749040" cy="1920240"/>
          </a:xfrm>
          <a:prstGeom prst="rect">
            <a:avLst/>
          </a:prstGeom>
          <a:solidFill>
            <a:srgbClr val="F5F8FF"/>
          </a:solidFill>
          <a:ln w="12700">
            <a:solidFill>
              <a:srgbClr val="C0D0E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57800" y="1874520"/>
            <a:ext cx="0" cy="1645920"/>
          </a:xfrm>
          <a:prstGeom prst="line">
            <a:avLst/>
          </a:prstGeom>
          <a:noFill/>
          <a:ln w="12700">
            <a:solidFill>
              <a:srgbClr val="002C7C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257800" y="3520440"/>
            <a:ext cx="3337560" cy="0"/>
          </a:xfrm>
          <a:prstGeom prst="line">
            <a:avLst/>
          </a:prstGeom>
          <a:noFill/>
          <a:ln w="12700">
            <a:solidFill>
              <a:srgbClr val="002C7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276088" y="3401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|Effect|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98348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Half-normal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5303520" y="3456432"/>
            <a:ext cx="3200400" cy="-1554480"/>
          </a:xfrm>
          <a:prstGeom prst="line">
            <a:avLst/>
          </a:prstGeom>
          <a:noFill/>
          <a:ln w="12700">
            <a:solidFill>
              <a:srgbClr val="8094B4"/>
            </a:solidFill>
            <a:prstDash val="dash"/>
          </a:ln>
        </p:spPr>
      </p:sp>
      <p:sp>
        <p:nvSpPr>
          <p:cNvPr id="41" name="Shape 37"/>
          <p:cNvSpPr/>
          <p:nvPr/>
        </p:nvSpPr>
        <p:spPr>
          <a:xfrm>
            <a:off x="5715000" y="3257093"/>
            <a:ext cx="109728" cy="109728"/>
          </a:xfrm>
          <a:prstGeom prst="ellipse">
            <a:avLst/>
          </a:prstGeom>
          <a:solidFill>
            <a:srgbClr val="8094B4"/>
          </a:solidFill>
          <a:ln w="12700">
            <a:solidFill>
              <a:srgbClr val="8094B4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080760" y="2969057"/>
            <a:ext cx="109728" cy="109728"/>
          </a:xfrm>
          <a:prstGeom prst="ellipse">
            <a:avLst/>
          </a:prstGeom>
          <a:solidFill>
            <a:srgbClr val="8094B4"/>
          </a:solidFill>
          <a:ln w="12700">
            <a:solidFill>
              <a:srgbClr val="8094B4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446520" y="2642616"/>
            <a:ext cx="109728" cy="109728"/>
          </a:xfrm>
          <a:prstGeom prst="ellipse">
            <a:avLst/>
          </a:prstGeom>
          <a:solidFill>
            <a:srgbClr val="8094B4"/>
          </a:solidFill>
          <a:ln w="12700">
            <a:solidFill>
              <a:srgbClr val="8094B4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812280" y="2316175"/>
            <a:ext cx="109728" cy="109728"/>
          </a:xfrm>
          <a:prstGeom prst="ellipse">
            <a:avLst/>
          </a:prstGeom>
          <a:solidFill>
            <a:srgbClr val="8094B4"/>
          </a:solidFill>
          <a:ln w="12700">
            <a:solidFill>
              <a:srgbClr val="8094B4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726680" y="2029968"/>
            <a:ext cx="146304" cy="146304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891272" y="19659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7269480" y="2304288"/>
            <a:ext cx="146304" cy="146304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434072" y="224028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4892040" y="3712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that fall off the diagonal are significant.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= likely significant · Grey = noise.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4892040" y="41148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8 runs there is no pure error — the half-normal plot lets us identify active effects without a replicate.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results teach about writing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les résultats enseignent sur l'écriture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9875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 is a mirror — high-scoring summaries show what a good abstract looks like.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38912" y="15361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222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91056"/>
            <a:ext cx="365760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24128" y="1389888"/>
            <a:ext cx="2011680" cy="786384"/>
          </a:xfrm>
          <a:prstGeom prst="roundRect">
            <a:avLst>
              <a:gd name="adj" fmla="val 13953"/>
            </a:avLst>
          </a:prstGeom>
          <a:solidFill>
            <a:srgbClr val="EEF3F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1097280" y="140817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temp, high presence penalty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097280" y="17556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145536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wanders off-topic, introduces ideas not in the passage, avoids repeating key terms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833872" y="1801368"/>
            <a:ext cx="2743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89320" y="1371600"/>
            <a:ext cx="2743200" cy="822960"/>
          </a:xfrm>
          <a:prstGeom prst="rect">
            <a:avLst/>
          </a:prstGeom>
          <a:solidFill>
            <a:srgbClr val="FFF8E8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080760" y="1389888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abstract that avoids its own core terms is hiding its contribution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2450592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8912" y="268833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7A1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743200"/>
            <a:ext cx="365760" cy="3657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24128" y="2542032"/>
            <a:ext cx="2011680" cy="786384"/>
          </a:xfrm>
          <a:prstGeom prst="roundRect">
            <a:avLst>
              <a:gd name="adj" fmla="val 13953"/>
            </a:avLst>
          </a:prstGeom>
          <a:solidFill>
            <a:srgbClr val="EEF3F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1097280" y="25603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temp, low presence penalty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097280" y="29077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145536" y="25237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stays focused, preserves key terminology, covers the main claim compactly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833872" y="2953512"/>
            <a:ext cx="2743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89320" y="2523744"/>
            <a:ext cx="2743200" cy="822960"/>
          </a:xfrm>
          <a:prstGeom prst="rect">
            <a:avLst/>
          </a:prstGeom>
          <a:solidFill>
            <a:srgbClr val="FFF8E8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080760" y="2542032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abstract repeats the paper’s core terms deliberately — that’s not redundancy, it’s precision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0040" y="3602736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8912" y="38404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8660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895344"/>
            <a:ext cx="365760" cy="36576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24128" y="3694176"/>
            <a:ext cx="2011680" cy="786384"/>
          </a:xfrm>
          <a:prstGeom prst="roundRect">
            <a:avLst>
              <a:gd name="adj" fmla="val 13953"/>
            </a:avLst>
          </a:prstGeom>
          <a:solidFill>
            <a:srgbClr val="EEF3F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1097280" y="37124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interaction term AB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097280" y="40599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Y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145536" y="367588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and top-p interact — high temp with high top-p amplifies drift more than either alone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833872" y="4105656"/>
            <a:ext cx="2743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989320" y="3675888"/>
            <a:ext cx="2743200" cy="822960"/>
          </a:xfrm>
          <a:prstGeom prst="rect">
            <a:avLst/>
          </a:prstGeom>
          <a:solidFill>
            <a:srgbClr val="FFF8E8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080760" y="3694176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writing: vagueness compounds. One loose sentence invites the next.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320040" y="44988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 answers: “What does it feel like to read a summary that drifted?”  That feeling is the feedback loop for abstract writing.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228600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49040" y="749808"/>
            <a:ext cx="1645920" cy="1645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914400"/>
            <a:ext cx="1316736" cy="13167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6334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leave with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457200" y="3035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vous repartez avec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097280" y="34198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specified 2³ experimental design — ready to run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expérimental 2³ entièrement spécifié — prêt à exécuter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7280" y="38221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defensible, peer-reviewed response variable and reference answer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variable réponse défendable et une réponse de référence revue par les pairs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7280" y="42245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map from results to abstract-writing principles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lien clair entre les résultats et les principes de rédaction d'un résumé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4617720"/>
            <a:ext cx="7863840" cy="365760"/>
          </a:xfrm>
          <a:prstGeom prst="roundRect">
            <a:avLst>
              <a:gd name="adj" fmla="val 30000"/>
            </a:avLst>
          </a:prstGeom>
          <a:solidFill>
            <a:srgbClr val="0A2060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46360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explain and defend this design as your own thinking?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for Research – Week 2b: Designing a Hyperparameter Study</dc:title>
  <dc:subject>PptxGenJS Presentation</dc:subject>
  <dc:creator>PptxGenJS</dc:creator>
  <cp:lastModifiedBy>PptxGenJS</cp:lastModifiedBy>
  <cp:revision>1</cp:revision>
  <dcterms:created xsi:type="dcterms:W3CDTF">2026-07-05T23:11:50Z</dcterms:created>
  <dcterms:modified xsi:type="dcterms:W3CDTF">2026-07-05T23:11:50Z</dcterms:modified>
</cp:coreProperties>
</file>